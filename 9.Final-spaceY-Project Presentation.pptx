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0B47C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1A7CD9"/>
                </a:solidFill>
                <a:latin typeface="Calibri"/>
                <a:cs typeface="Calibri"/>
              </a:defRPr>
            </a:lvl1pPr>
          </a:lstStyle>
          <a:p>
            <a:pPr marL="14097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0B47C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1A7CD9"/>
                </a:solidFill>
                <a:latin typeface="Calibri"/>
                <a:cs typeface="Calibri"/>
              </a:defRPr>
            </a:lvl1pPr>
          </a:lstStyle>
          <a:p>
            <a:pPr marL="14097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0B47C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1A7CD9"/>
                </a:solidFill>
                <a:latin typeface="Calibri"/>
                <a:cs typeface="Calibri"/>
              </a:defRPr>
            </a:lvl1pPr>
          </a:lstStyle>
          <a:p>
            <a:pPr marL="14097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0B47C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1A7CD9"/>
                </a:solidFill>
                <a:latin typeface="Calibri"/>
                <a:cs typeface="Calibri"/>
              </a:defRPr>
            </a:lvl1pPr>
          </a:lstStyle>
          <a:p>
            <a:pPr marL="14097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1A7CD9"/>
                </a:solidFill>
                <a:latin typeface="Calibri"/>
                <a:cs typeface="Calibri"/>
              </a:defRPr>
            </a:lvl1pPr>
          </a:lstStyle>
          <a:p>
            <a:pPr marL="14097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48678" y="413511"/>
            <a:ext cx="10211435" cy="5908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0B47C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62637" y="1781968"/>
            <a:ext cx="5556250" cy="42056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121390" y="6087943"/>
            <a:ext cx="295592" cy="2736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1A7CD9"/>
                </a:solidFill>
                <a:latin typeface="Calibri"/>
                <a:cs typeface="Calibri"/>
              </a:defRPr>
            </a:lvl1pPr>
          </a:lstStyle>
          <a:p>
            <a:pPr marL="14097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localhost:8888/lab/tree/Desktop/IBM/Week%202%20-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67739" y="4589779"/>
            <a:ext cx="2573020" cy="593111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225"/>
              </a:spcBef>
            </a:pPr>
            <a:r>
              <a:rPr lang="en-GB" sz="1800" dirty="0">
                <a:solidFill>
                  <a:srgbClr val="E6E6E6"/>
                </a:solidFill>
                <a:latin typeface="Calibri"/>
                <a:cs typeface="Calibri"/>
              </a:rPr>
              <a:t>Hamza Khader</a:t>
            </a:r>
          </a:p>
          <a:p>
            <a:pPr marL="12700" marR="5080">
              <a:lnSpc>
                <a:spcPts val="2090"/>
              </a:lnSpc>
              <a:spcBef>
                <a:spcPts val="225"/>
              </a:spcBef>
            </a:pPr>
            <a:r>
              <a:rPr lang="en-GB" dirty="0">
                <a:solidFill>
                  <a:srgbClr val="E6E6E6"/>
                </a:solidFill>
                <a:latin typeface="Calibri"/>
                <a:cs typeface="Calibri"/>
              </a:rPr>
              <a:t>1 May 2025</a:t>
            </a:r>
            <a:endParaRPr lang="en-GB" sz="1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0016" y="673608"/>
            <a:ext cx="2106168" cy="6339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7589" y="1963420"/>
            <a:ext cx="2470785" cy="3094990"/>
          </a:xfrm>
          <a:prstGeom prst="rect">
            <a:avLst/>
          </a:prstGeom>
        </p:spPr>
        <p:txBody>
          <a:bodyPr vert="horz" wrap="square" lIns="0" tIns="18288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solidFill>
                  <a:srgbClr val="272727"/>
                </a:solidFill>
                <a:latin typeface="Calibri"/>
                <a:cs typeface="Calibri"/>
              </a:rPr>
              <a:t>Executive</a:t>
            </a:r>
            <a:r>
              <a:rPr sz="2200" spc="-4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72727"/>
                </a:solidFill>
                <a:latin typeface="Calibri"/>
                <a:cs typeface="Calibri"/>
              </a:rPr>
              <a:t>Summary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34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solidFill>
                  <a:srgbClr val="272727"/>
                </a:solidFill>
                <a:latin typeface="Calibri"/>
                <a:cs typeface="Calibri"/>
              </a:rPr>
              <a:t>Introduction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37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solidFill>
                  <a:srgbClr val="272727"/>
                </a:solidFill>
                <a:latin typeface="Calibri"/>
                <a:cs typeface="Calibri"/>
              </a:rPr>
              <a:t>Methodology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6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solidFill>
                  <a:srgbClr val="272727"/>
                </a:solidFill>
                <a:latin typeface="Calibri"/>
                <a:cs typeface="Calibri"/>
              </a:rPr>
              <a:t>Results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36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solidFill>
                  <a:srgbClr val="272727"/>
                </a:solidFill>
                <a:latin typeface="Calibri"/>
                <a:cs typeface="Calibri"/>
              </a:rPr>
              <a:t>Conclusion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solidFill>
                  <a:srgbClr val="272727"/>
                </a:solidFill>
                <a:latin typeface="Calibri"/>
                <a:cs typeface="Calibri"/>
              </a:rPr>
              <a:t>Appendix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4097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678" y="1265427"/>
            <a:ext cx="4721860" cy="459486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240665" algn="l"/>
              </a:tabLst>
            </a:pPr>
            <a:r>
              <a:rPr sz="1600" b="1" dirty="0">
                <a:solidFill>
                  <a:srgbClr val="272727"/>
                </a:solidFill>
                <a:latin typeface="Calibri"/>
                <a:cs typeface="Calibri"/>
              </a:rPr>
              <a:t>Summary</a:t>
            </a:r>
            <a:r>
              <a:rPr sz="1600" b="1" spc="-2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272727"/>
                </a:solidFill>
                <a:latin typeface="Calibri"/>
                <a:cs typeface="Calibri"/>
              </a:rPr>
              <a:t>of</a:t>
            </a:r>
            <a:r>
              <a:rPr sz="1600" b="1" spc="-2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272727"/>
                </a:solidFill>
                <a:latin typeface="Calibri"/>
                <a:cs typeface="Calibri"/>
              </a:rPr>
              <a:t>methodologies</a:t>
            </a:r>
            <a:endParaRPr sz="1600">
              <a:latin typeface="Calibri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697865" algn="l"/>
              </a:tabLst>
            </a:pPr>
            <a:r>
              <a:rPr sz="1600" dirty="0">
                <a:solidFill>
                  <a:srgbClr val="272727"/>
                </a:solidFill>
                <a:latin typeface="Calibri"/>
                <a:cs typeface="Calibri"/>
              </a:rPr>
              <a:t>Data</a:t>
            </a:r>
            <a:r>
              <a:rPr sz="16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72727"/>
                </a:solidFill>
                <a:latin typeface="Calibri"/>
                <a:cs typeface="Calibri"/>
              </a:rPr>
              <a:t>collection</a:t>
            </a:r>
            <a:endParaRPr sz="1600">
              <a:latin typeface="Calibri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885"/>
              </a:spcBef>
              <a:buFont typeface="Arial MT"/>
              <a:buChar char="•"/>
              <a:tabLst>
                <a:tab pos="697865" algn="l"/>
              </a:tabLst>
            </a:pPr>
            <a:r>
              <a:rPr sz="1600" dirty="0">
                <a:solidFill>
                  <a:srgbClr val="272727"/>
                </a:solidFill>
                <a:latin typeface="Calibri"/>
                <a:cs typeface="Calibri"/>
              </a:rPr>
              <a:t>Data</a:t>
            </a:r>
            <a:r>
              <a:rPr sz="16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72727"/>
                </a:solidFill>
                <a:latin typeface="Calibri"/>
                <a:cs typeface="Calibri"/>
              </a:rPr>
              <a:t>wrangling</a:t>
            </a:r>
            <a:endParaRPr sz="1600">
              <a:latin typeface="Calibri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697865" algn="l"/>
              </a:tabLst>
            </a:pPr>
            <a:r>
              <a:rPr sz="1600" spc="-10" dirty="0">
                <a:solidFill>
                  <a:srgbClr val="272727"/>
                </a:solidFill>
                <a:latin typeface="Calibri"/>
                <a:cs typeface="Calibri"/>
              </a:rPr>
              <a:t>Exploratory</a:t>
            </a:r>
            <a:r>
              <a:rPr sz="1600" spc="-4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72727"/>
                </a:solidFill>
                <a:latin typeface="Calibri"/>
                <a:cs typeface="Calibri"/>
              </a:rPr>
              <a:t>Data</a:t>
            </a:r>
            <a:r>
              <a:rPr sz="1600" spc="-4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72727"/>
                </a:solidFill>
                <a:latin typeface="Calibri"/>
                <a:cs typeface="Calibri"/>
              </a:rPr>
              <a:t>Analysis</a:t>
            </a:r>
            <a:r>
              <a:rPr sz="1600" spc="-4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72727"/>
                </a:solidFill>
                <a:latin typeface="Calibri"/>
                <a:cs typeface="Calibri"/>
              </a:rPr>
              <a:t>with</a:t>
            </a:r>
            <a:r>
              <a:rPr sz="1600" spc="-4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72727"/>
                </a:solidFill>
                <a:latin typeface="Calibri"/>
                <a:cs typeface="Calibri"/>
              </a:rPr>
              <a:t>Data</a:t>
            </a:r>
            <a:r>
              <a:rPr sz="1600" spc="-4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72727"/>
                </a:solidFill>
                <a:latin typeface="Calibri"/>
                <a:cs typeface="Calibri"/>
              </a:rPr>
              <a:t>Visualization</a:t>
            </a:r>
            <a:endParaRPr sz="1600">
              <a:latin typeface="Calibri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890"/>
              </a:spcBef>
              <a:buFont typeface="Arial MT"/>
              <a:buChar char="•"/>
              <a:tabLst>
                <a:tab pos="697865" algn="l"/>
              </a:tabLst>
            </a:pPr>
            <a:r>
              <a:rPr sz="1600" spc="-10" dirty="0">
                <a:solidFill>
                  <a:srgbClr val="272727"/>
                </a:solidFill>
                <a:latin typeface="Calibri"/>
                <a:cs typeface="Calibri"/>
              </a:rPr>
              <a:t>Exploratory</a:t>
            </a:r>
            <a:r>
              <a:rPr sz="1600" spc="-4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72727"/>
                </a:solidFill>
                <a:latin typeface="Calibri"/>
                <a:cs typeface="Calibri"/>
              </a:rPr>
              <a:t>Data</a:t>
            </a:r>
            <a:r>
              <a:rPr sz="1600" spc="-4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72727"/>
                </a:solidFill>
                <a:latin typeface="Calibri"/>
                <a:cs typeface="Calibri"/>
              </a:rPr>
              <a:t>Analysis</a:t>
            </a:r>
            <a:r>
              <a:rPr sz="1600" spc="-4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72727"/>
                </a:solidFill>
                <a:latin typeface="Calibri"/>
                <a:cs typeface="Calibri"/>
              </a:rPr>
              <a:t>with</a:t>
            </a:r>
            <a:r>
              <a:rPr sz="1600" spc="-4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272727"/>
                </a:solidFill>
                <a:latin typeface="Calibri"/>
                <a:cs typeface="Calibri"/>
              </a:rPr>
              <a:t>SQL</a:t>
            </a:r>
            <a:endParaRPr sz="1600">
              <a:latin typeface="Calibri"/>
              <a:cs typeface="Calibri"/>
            </a:endParaRPr>
          </a:p>
          <a:p>
            <a:pPr marL="744220" lvl="1" indent="-274955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744220" algn="l"/>
              </a:tabLst>
            </a:pPr>
            <a:r>
              <a:rPr sz="1600" dirty="0">
                <a:solidFill>
                  <a:srgbClr val="272727"/>
                </a:solidFill>
                <a:latin typeface="Calibri"/>
                <a:cs typeface="Calibri"/>
              </a:rPr>
              <a:t>Building</a:t>
            </a:r>
            <a:r>
              <a:rPr sz="1600" spc="-2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72727"/>
                </a:solidFill>
                <a:latin typeface="Calibri"/>
                <a:cs typeface="Calibri"/>
              </a:rPr>
              <a:t>an</a:t>
            </a:r>
            <a:r>
              <a:rPr sz="1600" spc="-2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72727"/>
                </a:solidFill>
                <a:latin typeface="Calibri"/>
                <a:cs typeface="Calibri"/>
              </a:rPr>
              <a:t>interactive</a:t>
            </a:r>
            <a:r>
              <a:rPr sz="1600" spc="-1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72727"/>
                </a:solidFill>
                <a:latin typeface="Calibri"/>
                <a:cs typeface="Calibri"/>
              </a:rPr>
              <a:t>map</a:t>
            </a:r>
            <a:r>
              <a:rPr sz="1600" spc="-2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72727"/>
                </a:solidFill>
                <a:latin typeface="Calibri"/>
                <a:cs typeface="Calibri"/>
              </a:rPr>
              <a:t>with</a:t>
            </a:r>
            <a:r>
              <a:rPr sz="1600" spc="-2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72727"/>
                </a:solidFill>
                <a:latin typeface="Calibri"/>
                <a:cs typeface="Calibri"/>
              </a:rPr>
              <a:t>Folium</a:t>
            </a:r>
            <a:endParaRPr sz="1600">
              <a:latin typeface="Calibri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890"/>
              </a:spcBef>
              <a:buFont typeface="Arial MT"/>
              <a:buChar char="•"/>
              <a:tabLst>
                <a:tab pos="697865" algn="l"/>
              </a:tabLst>
            </a:pPr>
            <a:r>
              <a:rPr sz="1600" dirty="0">
                <a:solidFill>
                  <a:srgbClr val="272727"/>
                </a:solidFill>
                <a:latin typeface="Calibri"/>
                <a:cs typeface="Calibri"/>
              </a:rPr>
              <a:t>Building</a:t>
            </a:r>
            <a:r>
              <a:rPr sz="1600" spc="-3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72727"/>
                </a:solidFill>
                <a:latin typeface="Calibri"/>
                <a:cs typeface="Calibri"/>
              </a:rPr>
              <a:t>a</a:t>
            </a:r>
            <a:r>
              <a:rPr sz="1600" spc="-3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72727"/>
                </a:solidFill>
                <a:latin typeface="Calibri"/>
                <a:cs typeface="Calibri"/>
              </a:rPr>
              <a:t>Dashboard</a:t>
            </a:r>
            <a:r>
              <a:rPr sz="1600" spc="-3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72727"/>
                </a:solidFill>
                <a:latin typeface="Calibri"/>
                <a:cs typeface="Calibri"/>
              </a:rPr>
              <a:t>with</a:t>
            </a:r>
            <a:r>
              <a:rPr sz="1600" spc="-3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72727"/>
                </a:solidFill>
                <a:latin typeface="Calibri"/>
                <a:cs typeface="Calibri"/>
              </a:rPr>
              <a:t>Plotly</a:t>
            </a:r>
            <a:r>
              <a:rPr sz="1600" spc="-3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272727"/>
                </a:solidFill>
                <a:latin typeface="Calibri"/>
                <a:cs typeface="Calibri"/>
              </a:rPr>
              <a:t>Dash</a:t>
            </a:r>
            <a:endParaRPr sz="1600">
              <a:latin typeface="Calibri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790"/>
              </a:spcBef>
              <a:buFont typeface="Arial MT"/>
              <a:buChar char="•"/>
              <a:tabLst>
                <a:tab pos="697865" algn="l"/>
              </a:tabLst>
            </a:pPr>
            <a:r>
              <a:rPr sz="1600" spc="-10" dirty="0">
                <a:solidFill>
                  <a:srgbClr val="272727"/>
                </a:solidFill>
                <a:latin typeface="Calibri"/>
                <a:cs typeface="Calibri"/>
              </a:rPr>
              <a:t>Predictive</a:t>
            </a:r>
            <a:r>
              <a:rPr sz="1600" spc="-2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72727"/>
                </a:solidFill>
                <a:latin typeface="Calibri"/>
                <a:cs typeface="Calibri"/>
              </a:rPr>
              <a:t>analysis</a:t>
            </a:r>
            <a:r>
              <a:rPr sz="1600" spc="-2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72727"/>
                </a:solidFill>
                <a:latin typeface="Calibri"/>
                <a:cs typeface="Calibri"/>
              </a:rPr>
              <a:t>(Classification)</a:t>
            </a:r>
            <a:endParaRPr sz="16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910"/>
              </a:spcBef>
              <a:buClr>
                <a:srgbClr val="272727"/>
              </a:buClr>
              <a:buFont typeface="Arial MT"/>
              <a:buChar char="•"/>
            </a:pPr>
            <a:endParaRPr sz="16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Font typeface="Arial MT"/>
              <a:buChar char="•"/>
              <a:tabLst>
                <a:tab pos="240665" algn="l"/>
              </a:tabLst>
            </a:pPr>
            <a:r>
              <a:rPr sz="1600" b="1" dirty="0">
                <a:solidFill>
                  <a:srgbClr val="272727"/>
                </a:solidFill>
                <a:latin typeface="Calibri"/>
                <a:cs typeface="Calibri"/>
              </a:rPr>
              <a:t>Summary</a:t>
            </a:r>
            <a:r>
              <a:rPr sz="1600" b="1" spc="-1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272727"/>
                </a:solidFill>
                <a:latin typeface="Calibri"/>
                <a:cs typeface="Calibri"/>
              </a:rPr>
              <a:t>of</a:t>
            </a:r>
            <a:r>
              <a:rPr sz="1600" b="1" spc="-1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272727"/>
                </a:solidFill>
                <a:latin typeface="Calibri"/>
                <a:cs typeface="Calibri"/>
              </a:rPr>
              <a:t>all</a:t>
            </a:r>
            <a:r>
              <a:rPr sz="1600" b="1" spc="-2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272727"/>
                </a:solidFill>
                <a:latin typeface="Calibri"/>
                <a:cs typeface="Calibri"/>
              </a:rPr>
              <a:t>results</a:t>
            </a:r>
            <a:endParaRPr sz="1600">
              <a:latin typeface="Calibri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890"/>
              </a:spcBef>
              <a:buFont typeface="Arial MT"/>
              <a:buChar char="•"/>
              <a:tabLst>
                <a:tab pos="697865" algn="l"/>
              </a:tabLst>
            </a:pPr>
            <a:r>
              <a:rPr sz="1600" spc="-10" dirty="0">
                <a:solidFill>
                  <a:srgbClr val="272727"/>
                </a:solidFill>
                <a:latin typeface="Calibri"/>
                <a:cs typeface="Calibri"/>
              </a:rPr>
              <a:t>Exploratory</a:t>
            </a:r>
            <a:r>
              <a:rPr sz="1600" spc="-3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72727"/>
                </a:solidFill>
                <a:latin typeface="Calibri"/>
                <a:cs typeface="Calibri"/>
              </a:rPr>
              <a:t>Data</a:t>
            </a:r>
            <a:r>
              <a:rPr sz="1600" spc="-3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72727"/>
                </a:solidFill>
                <a:latin typeface="Calibri"/>
                <a:cs typeface="Calibri"/>
              </a:rPr>
              <a:t>Analysis</a:t>
            </a:r>
            <a:r>
              <a:rPr sz="1600" spc="29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72727"/>
                </a:solidFill>
                <a:latin typeface="Calibri"/>
                <a:cs typeface="Calibri"/>
              </a:rPr>
              <a:t>Results</a:t>
            </a:r>
            <a:endParaRPr sz="1600">
              <a:latin typeface="Calibri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890"/>
              </a:spcBef>
              <a:buFont typeface="Arial MT"/>
              <a:buChar char="•"/>
              <a:tabLst>
                <a:tab pos="697865" algn="l"/>
              </a:tabLst>
            </a:pPr>
            <a:r>
              <a:rPr sz="1600" spc="-10" dirty="0">
                <a:solidFill>
                  <a:srgbClr val="272727"/>
                </a:solidFill>
                <a:latin typeface="Calibri"/>
                <a:cs typeface="Calibri"/>
              </a:rPr>
              <a:t>Interactive</a:t>
            </a:r>
            <a:r>
              <a:rPr sz="1600" spc="-2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72727"/>
                </a:solidFill>
                <a:latin typeface="Calibri"/>
                <a:cs typeface="Calibri"/>
              </a:rPr>
              <a:t>Analysis</a:t>
            </a:r>
            <a:r>
              <a:rPr sz="1600" spc="-2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72727"/>
                </a:solidFill>
                <a:latin typeface="Calibri"/>
                <a:cs typeface="Calibri"/>
              </a:rPr>
              <a:t>demo</a:t>
            </a:r>
            <a:r>
              <a:rPr sz="1600" spc="-2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72727"/>
                </a:solidFill>
                <a:latin typeface="Calibri"/>
                <a:cs typeface="Calibri"/>
              </a:rPr>
              <a:t>in</a:t>
            </a:r>
            <a:r>
              <a:rPr sz="1600" spc="-3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72727"/>
                </a:solidFill>
                <a:latin typeface="Calibri"/>
                <a:cs typeface="Calibri"/>
              </a:rPr>
              <a:t>screenshots</a:t>
            </a:r>
            <a:endParaRPr sz="1600">
              <a:latin typeface="Calibri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697865" algn="l"/>
              </a:tabLst>
            </a:pPr>
            <a:r>
              <a:rPr sz="1600" spc="-10" dirty="0">
                <a:solidFill>
                  <a:srgbClr val="272727"/>
                </a:solidFill>
                <a:latin typeface="Calibri"/>
                <a:cs typeface="Calibri"/>
              </a:rPr>
              <a:t>Predictive</a:t>
            </a:r>
            <a:r>
              <a:rPr sz="1600" spc="-2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72727"/>
                </a:solidFill>
                <a:latin typeface="Calibri"/>
                <a:cs typeface="Calibri"/>
              </a:rPr>
              <a:t>analysis</a:t>
            </a:r>
            <a:r>
              <a:rPr sz="1600" spc="-2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72727"/>
                </a:solidFill>
                <a:latin typeface="Calibri"/>
                <a:cs typeface="Calibri"/>
              </a:rPr>
              <a:t>results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4097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Executive</a:t>
            </a:r>
            <a:r>
              <a:rPr spc="-140" dirty="0"/>
              <a:t> </a:t>
            </a:r>
            <a:r>
              <a:rPr spc="-10" dirty="0"/>
              <a:t>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112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4097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907414" y="1164843"/>
            <a:ext cx="10368915" cy="4224655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6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dirty="0">
                <a:solidFill>
                  <a:srgbClr val="272727"/>
                </a:solidFill>
                <a:latin typeface="Calibri"/>
                <a:cs typeface="Calibri"/>
              </a:rPr>
              <a:t>Project</a:t>
            </a:r>
            <a:r>
              <a:rPr sz="2200" b="1" spc="-6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272727"/>
                </a:solidFill>
                <a:latin typeface="Calibri"/>
                <a:cs typeface="Calibri"/>
              </a:rPr>
              <a:t>background</a:t>
            </a:r>
            <a:r>
              <a:rPr sz="2200" b="1" spc="-7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272727"/>
                </a:solidFill>
                <a:latin typeface="Calibri"/>
                <a:cs typeface="Calibri"/>
              </a:rPr>
              <a:t>and</a:t>
            </a:r>
            <a:r>
              <a:rPr sz="2200" b="1" spc="-6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272727"/>
                </a:solidFill>
                <a:latin typeface="Calibri"/>
                <a:cs typeface="Calibri"/>
              </a:rPr>
              <a:t>context</a:t>
            </a:r>
            <a:endParaRPr sz="2200">
              <a:latin typeface="Calibri"/>
              <a:cs typeface="Calibri"/>
            </a:endParaRPr>
          </a:p>
          <a:p>
            <a:pPr marL="241300" marR="5080" indent="-228600">
              <a:lnSpc>
                <a:spcPct val="80400"/>
              </a:lnSpc>
              <a:spcBef>
                <a:spcPts val="138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SpaceX</a:t>
            </a:r>
            <a:r>
              <a:rPr sz="22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is</a:t>
            </a:r>
            <a:r>
              <a:rPr sz="2200" spc="-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the</a:t>
            </a:r>
            <a:r>
              <a:rPr sz="2200" spc="-4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most</a:t>
            </a:r>
            <a:r>
              <a:rPr sz="2200" spc="-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successful</a:t>
            </a:r>
            <a:r>
              <a:rPr sz="22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company</a:t>
            </a:r>
            <a:r>
              <a:rPr sz="2200" spc="-4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of</a:t>
            </a:r>
            <a:r>
              <a:rPr sz="2200" spc="-4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the</a:t>
            </a:r>
            <a:r>
              <a:rPr sz="2200" spc="-4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72727"/>
                </a:solidFill>
                <a:latin typeface="Calibri"/>
                <a:cs typeface="Calibri"/>
              </a:rPr>
              <a:t>commercial</a:t>
            </a:r>
            <a:r>
              <a:rPr sz="22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space</a:t>
            </a:r>
            <a:r>
              <a:rPr sz="2200" spc="-4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age,</a:t>
            </a:r>
            <a:r>
              <a:rPr sz="2200" spc="-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making</a:t>
            </a:r>
            <a:r>
              <a:rPr sz="2200" spc="-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space</a:t>
            </a:r>
            <a:r>
              <a:rPr sz="2200" spc="-4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72727"/>
                </a:solidFill>
                <a:latin typeface="Calibri"/>
                <a:cs typeface="Calibri"/>
              </a:rPr>
              <a:t>travel affordable.</a:t>
            </a:r>
            <a:r>
              <a:rPr sz="2200" spc="-6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The</a:t>
            </a:r>
            <a:r>
              <a:rPr sz="2200" spc="-6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company</a:t>
            </a:r>
            <a:r>
              <a:rPr sz="22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advertises</a:t>
            </a:r>
            <a:r>
              <a:rPr sz="2200" spc="-6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Falcon</a:t>
            </a:r>
            <a:r>
              <a:rPr sz="2200" spc="-6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9</a:t>
            </a:r>
            <a:r>
              <a:rPr sz="2200" spc="-6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72727"/>
                </a:solidFill>
                <a:latin typeface="Calibri"/>
                <a:cs typeface="Calibri"/>
              </a:rPr>
              <a:t>rocket</a:t>
            </a:r>
            <a:r>
              <a:rPr sz="2200" spc="-6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launches</a:t>
            </a:r>
            <a:r>
              <a:rPr sz="2200" spc="-6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on</a:t>
            </a:r>
            <a:r>
              <a:rPr sz="2200" spc="-6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its</a:t>
            </a:r>
            <a:r>
              <a:rPr sz="2200" spc="-6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website,</a:t>
            </a:r>
            <a:r>
              <a:rPr sz="2200" spc="-6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with</a:t>
            </a:r>
            <a:r>
              <a:rPr sz="2200" spc="-6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a</a:t>
            </a:r>
            <a:r>
              <a:rPr sz="2200" spc="-6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272727"/>
                </a:solidFill>
                <a:latin typeface="Calibri"/>
                <a:cs typeface="Calibri"/>
              </a:rPr>
              <a:t>cost</a:t>
            </a:r>
            <a:r>
              <a:rPr sz="2200" spc="5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of</a:t>
            </a:r>
            <a:r>
              <a:rPr sz="2200" spc="-4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62</a:t>
            </a:r>
            <a:r>
              <a:rPr sz="2200" spc="-4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million</a:t>
            </a:r>
            <a:r>
              <a:rPr sz="2200" spc="-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dollars;</a:t>
            </a:r>
            <a:r>
              <a:rPr sz="2200" spc="-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other</a:t>
            </a:r>
            <a:r>
              <a:rPr sz="2200" spc="-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72727"/>
                </a:solidFill>
                <a:latin typeface="Calibri"/>
                <a:cs typeface="Calibri"/>
              </a:rPr>
              <a:t>providers</a:t>
            </a:r>
            <a:r>
              <a:rPr sz="2200" spc="-4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cost</a:t>
            </a:r>
            <a:r>
              <a:rPr sz="2200" spc="-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upward</a:t>
            </a:r>
            <a:r>
              <a:rPr sz="2200" spc="-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of</a:t>
            </a:r>
            <a:r>
              <a:rPr sz="2200" spc="-4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165</a:t>
            </a:r>
            <a:r>
              <a:rPr sz="2200" spc="-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million</a:t>
            </a:r>
            <a:r>
              <a:rPr sz="2200" spc="-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dollars</a:t>
            </a:r>
            <a:r>
              <a:rPr sz="2200" spc="-4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each,</a:t>
            </a:r>
            <a:r>
              <a:rPr sz="2200" spc="-4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much</a:t>
            </a:r>
            <a:r>
              <a:rPr sz="22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of</a:t>
            </a:r>
            <a:r>
              <a:rPr sz="2200" spc="-4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272727"/>
                </a:solidFill>
                <a:latin typeface="Calibri"/>
                <a:cs typeface="Calibri"/>
              </a:rPr>
              <a:t>the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savings</a:t>
            </a:r>
            <a:r>
              <a:rPr sz="2200" spc="-6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is</a:t>
            </a:r>
            <a:r>
              <a:rPr sz="2200" spc="-6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because</a:t>
            </a:r>
            <a:r>
              <a:rPr sz="22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SpaceX</a:t>
            </a:r>
            <a:r>
              <a:rPr sz="2200" spc="-6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can</a:t>
            </a:r>
            <a:r>
              <a:rPr sz="2200" spc="-6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reuse</a:t>
            </a:r>
            <a:r>
              <a:rPr sz="22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the</a:t>
            </a:r>
            <a:r>
              <a:rPr sz="2200" spc="-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first</a:t>
            </a:r>
            <a:r>
              <a:rPr sz="2200" spc="-6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stage.</a:t>
            </a:r>
            <a:r>
              <a:rPr sz="2200" spc="-6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72727"/>
                </a:solidFill>
                <a:latin typeface="Calibri"/>
                <a:cs typeface="Calibri"/>
              </a:rPr>
              <a:t>Therefore,</a:t>
            </a:r>
            <a:r>
              <a:rPr sz="22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if</a:t>
            </a:r>
            <a:r>
              <a:rPr sz="22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we</a:t>
            </a:r>
            <a:r>
              <a:rPr sz="22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can</a:t>
            </a:r>
            <a:r>
              <a:rPr sz="2200" spc="-6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determine</a:t>
            </a:r>
            <a:r>
              <a:rPr sz="22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if</a:t>
            </a:r>
            <a:r>
              <a:rPr sz="22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272727"/>
                </a:solidFill>
                <a:latin typeface="Calibri"/>
                <a:cs typeface="Calibri"/>
              </a:rPr>
              <a:t>the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first</a:t>
            </a:r>
            <a:r>
              <a:rPr sz="2200" spc="-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stage</a:t>
            </a:r>
            <a:r>
              <a:rPr sz="2200" spc="-4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will</a:t>
            </a:r>
            <a:r>
              <a:rPr sz="2200" spc="-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land,</a:t>
            </a:r>
            <a:r>
              <a:rPr sz="2200" spc="-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we</a:t>
            </a:r>
            <a:r>
              <a:rPr sz="2200" spc="-4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can</a:t>
            </a:r>
            <a:r>
              <a:rPr sz="2200" spc="-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determine</a:t>
            </a:r>
            <a:r>
              <a:rPr sz="2200" spc="-4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the</a:t>
            </a:r>
            <a:r>
              <a:rPr sz="2200" spc="-4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cost</a:t>
            </a:r>
            <a:r>
              <a:rPr sz="2200" spc="-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of</a:t>
            </a:r>
            <a:r>
              <a:rPr sz="2200" spc="-4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a</a:t>
            </a:r>
            <a:r>
              <a:rPr sz="22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launch.</a:t>
            </a:r>
            <a:r>
              <a:rPr sz="22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Based</a:t>
            </a:r>
            <a:r>
              <a:rPr sz="2200" spc="-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on</a:t>
            </a:r>
            <a:r>
              <a:rPr sz="22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public</a:t>
            </a:r>
            <a:r>
              <a:rPr sz="2200" spc="-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72727"/>
                </a:solidFill>
                <a:latin typeface="Calibri"/>
                <a:cs typeface="Calibri"/>
              </a:rPr>
              <a:t>information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and</a:t>
            </a:r>
            <a:r>
              <a:rPr sz="22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machine</a:t>
            </a:r>
            <a:r>
              <a:rPr sz="2200" spc="-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learning</a:t>
            </a:r>
            <a:r>
              <a:rPr sz="2200" spc="-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models,</a:t>
            </a:r>
            <a:r>
              <a:rPr sz="2200" spc="-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we</a:t>
            </a:r>
            <a:r>
              <a:rPr sz="2200" spc="-4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are</a:t>
            </a:r>
            <a:r>
              <a:rPr sz="2200" spc="-4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going</a:t>
            </a:r>
            <a:r>
              <a:rPr sz="2200" spc="-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to</a:t>
            </a:r>
            <a:r>
              <a:rPr sz="2200" spc="-4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predict</a:t>
            </a:r>
            <a:r>
              <a:rPr sz="2200" spc="-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if</a:t>
            </a:r>
            <a:r>
              <a:rPr sz="2200" spc="-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SpaceX</a:t>
            </a:r>
            <a:r>
              <a:rPr sz="22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will</a:t>
            </a:r>
            <a:r>
              <a:rPr sz="22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reuse</a:t>
            </a:r>
            <a:r>
              <a:rPr sz="2200" spc="-4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the</a:t>
            </a:r>
            <a:r>
              <a:rPr sz="2200" spc="-4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first</a:t>
            </a:r>
            <a:r>
              <a:rPr sz="2200" spc="-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72727"/>
                </a:solidFill>
                <a:latin typeface="Calibri"/>
                <a:cs typeface="Calibri"/>
              </a:rPr>
              <a:t>stage.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dirty="0">
                <a:solidFill>
                  <a:srgbClr val="272727"/>
                </a:solidFill>
                <a:latin typeface="Calibri"/>
                <a:cs typeface="Calibri"/>
              </a:rPr>
              <a:t>Problems</a:t>
            </a:r>
            <a:r>
              <a:rPr sz="2200" b="1" spc="-4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272727"/>
                </a:solidFill>
                <a:latin typeface="Calibri"/>
                <a:cs typeface="Calibri"/>
              </a:rPr>
              <a:t>you</a:t>
            </a:r>
            <a:r>
              <a:rPr sz="2200" b="1" spc="-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272727"/>
                </a:solidFill>
                <a:latin typeface="Calibri"/>
                <a:cs typeface="Calibri"/>
              </a:rPr>
              <a:t>want</a:t>
            </a:r>
            <a:r>
              <a:rPr sz="2200" b="1" spc="-4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272727"/>
                </a:solidFill>
                <a:latin typeface="Calibri"/>
                <a:cs typeface="Calibri"/>
              </a:rPr>
              <a:t>to</a:t>
            </a:r>
            <a:r>
              <a:rPr sz="2200" b="1" spc="-4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272727"/>
                </a:solidFill>
                <a:latin typeface="Calibri"/>
                <a:cs typeface="Calibri"/>
              </a:rPr>
              <a:t>find</a:t>
            </a:r>
            <a:r>
              <a:rPr sz="2200" b="1" spc="-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272727"/>
                </a:solidFill>
                <a:latin typeface="Calibri"/>
                <a:cs typeface="Calibri"/>
              </a:rPr>
              <a:t>answers</a:t>
            </a:r>
            <a:endParaRPr sz="2200">
              <a:latin typeface="Calibri"/>
              <a:cs typeface="Calibri"/>
            </a:endParaRPr>
          </a:p>
          <a:p>
            <a:pPr marL="697230" marR="464820" lvl="1" indent="-227329">
              <a:lnSpc>
                <a:spcPct val="80000"/>
              </a:lnSpc>
              <a:spcBef>
                <a:spcPts val="1335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How</a:t>
            </a:r>
            <a:r>
              <a:rPr sz="2400" spc="-6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do</a:t>
            </a:r>
            <a:r>
              <a:rPr sz="2400" spc="-6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variables</a:t>
            </a:r>
            <a:r>
              <a:rPr sz="2400" spc="-6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such</a:t>
            </a:r>
            <a:r>
              <a:rPr sz="24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as</a:t>
            </a:r>
            <a:r>
              <a:rPr sz="2400" spc="-6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payload</a:t>
            </a:r>
            <a:r>
              <a:rPr sz="24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mass,</a:t>
            </a:r>
            <a:r>
              <a:rPr sz="24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launch</a:t>
            </a:r>
            <a:r>
              <a:rPr sz="2400" spc="-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site,</a:t>
            </a:r>
            <a:r>
              <a:rPr sz="24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number</a:t>
            </a:r>
            <a:r>
              <a:rPr sz="24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of</a:t>
            </a:r>
            <a:r>
              <a:rPr sz="2400" spc="-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flights,</a:t>
            </a:r>
            <a:r>
              <a:rPr sz="24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272727"/>
                </a:solidFill>
                <a:latin typeface="Calibri"/>
                <a:cs typeface="Calibri"/>
              </a:rPr>
              <a:t>and 	</a:t>
            </a: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orbits</a:t>
            </a:r>
            <a:r>
              <a:rPr sz="2400" spc="-6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72727"/>
                </a:solidFill>
                <a:latin typeface="Calibri"/>
                <a:cs typeface="Calibri"/>
              </a:rPr>
              <a:t>affect</a:t>
            </a:r>
            <a:r>
              <a:rPr sz="2400" spc="-6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the</a:t>
            </a:r>
            <a:r>
              <a:rPr sz="2400" spc="-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success</a:t>
            </a:r>
            <a:r>
              <a:rPr sz="2400" spc="-6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of</a:t>
            </a:r>
            <a:r>
              <a:rPr sz="2400" spc="-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the</a:t>
            </a:r>
            <a:r>
              <a:rPr sz="24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first</a:t>
            </a:r>
            <a:r>
              <a:rPr sz="2400" spc="-6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stage</a:t>
            </a:r>
            <a:r>
              <a:rPr sz="2400" spc="-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72727"/>
                </a:solidFill>
                <a:latin typeface="Calibri"/>
                <a:cs typeface="Calibri"/>
              </a:rPr>
              <a:t>landing?</a:t>
            </a:r>
            <a:endParaRPr sz="2400">
              <a:latin typeface="Calibri"/>
              <a:cs typeface="Calibri"/>
            </a:endParaRPr>
          </a:p>
          <a:p>
            <a:pPr marL="697230" marR="550545" lvl="1" indent="-227329">
              <a:lnSpc>
                <a:spcPct val="80000"/>
              </a:lnSpc>
              <a:spcBef>
                <a:spcPts val="1390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Does</a:t>
            </a:r>
            <a:r>
              <a:rPr sz="2400" spc="-6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the</a:t>
            </a:r>
            <a:r>
              <a:rPr sz="24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72727"/>
                </a:solidFill>
                <a:latin typeface="Calibri"/>
                <a:cs typeface="Calibri"/>
              </a:rPr>
              <a:t>rate</a:t>
            </a:r>
            <a:r>
              <a:rPr sz="24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of</a:t>
            </a:r>
            <a:r>
              <a:rPr sz="24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successful</a:t>
            </a:r>
            <a:r>
              <a:rPr sz="2400" spc="-6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landings</a:t>
            </a:r>
            <a:r>
              <a:rPr sz="2400" spc="-6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increase</a:t>
            </a:r>
            <a:r>
              <a:rPr sz="24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over</a:t>
            </a:r>
            <a:r>
              <a:rPr sz="2400" spc="-6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the</a:t>
            </a:r>
            <a:r>
              <a:rPr sz="24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years?</a:t>
            </a:r>
            <a:r>
              <a:rPr sz="2400" spc="-6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-</a:t>
            </a:r>
            <a:r>
              <a:rPr sz="2400" spc="-6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What</a:t>
            </a:r>
            <a:r>
              <a:rPr sz="2400" spc="-6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is</a:t>
            </a:r>
            <a:r>
              <a:rPr sz="2400" spc="-6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272727"/>
                </a:solidFill>
                <a:latin typeface="Calibri"/>
                <a:cs typeface="Calibri"/>
              </a:rPr>
              <a:t>the 	</a:t>
            </a: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best</a:t>
            </a:r>
            <a:r>
              <a:rPr sz="24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algorithm</a:t>
            </a:r>
            <a:r>
              <a:rPr sz="2400" spc="-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that</a:t>
            </a:r>
            <a:r>
              <a:rPr sz="2400" spc="-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can</a:t>
            </a:r>
            <a:r>
              <a:rPr sz="2400" spc="-4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be</a:t>
            </a:r>
            <a:r>
              <a:rPr sz="2400" spc="-4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used</a:t>
            </a:r>
            <a:r>
              <a:rPr sz="2400" spc="-4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for</a:t>
            </a:r>
            <a:r>
              <a:rPr sz="2400" spc="-4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binary</a:t>
            </a:r>
            <a:r>
              <a:rPr sz="2400" spc="-4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72727"/>
                </a:solidFill>
                <a:latin typeface="Calibri"/>
                <a:cs typeface="Calibri"/>
              </a:rPr>
              <a:t>classification</a:t>
            </a:r>
            <a:r>
              <a:rPr sz="2400" spc="-4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in</a:t>
            </a:r>
            <a:r>
              <a:rPr sz="2400" spc="-4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this</a:t>
            </a:r>
            <a:r>
              <a:rPr sz="2400" spc="-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72727"/>
                </a:solidFill>
                <a:latin typeface="Calibri"/>
                <a:cs typeface="Calibri"/>
              </a:rPr>
              <a:t>case?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112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Introduction..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4097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907414" y="1157732"/>
            <a:ext cx="9952990" cy="3295015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22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solidFill>
                  <a:srgbClr val="272727"/>
                </a:solidFill>
                <a:latin typeface="Calibri"/>
                <a:cs typeface="Calibri"/>
              </a:rPr>
              <a:t>Project</a:t>
            </a:r>
            <a:r>
              <a:rPr sz="2400" b="1" spc="-8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272727"/>
                </a:solidFill>
                <a:latin typeface="Calibri"/>
                <a:cs typeface="Calibri"/>
              </a:rPr>
              <a:t>Objective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ts val="2500"/>
              </a:lnSpc>
              <a:spcBef>
                <a:spcPts val="153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The</a:t>
            </a:r>
            <a:r>
              <a:rPr sz="2400" spc="-6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project</a:t>
            </a:r>
            <a:r>
              <a:rPr sz="2400" spc="-6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objective</a:t>
            </a:r>
            <a:r>
              <a:rPr sz="24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is</a:t>
            </a:r>
            <a:r>
              <a:rPr sz="2400" spc="-6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to</a:t>
            </a:r>
            <a:r>
              <a:rPr sz="2400" spc="-6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72727"/>
                </a:solidFill>
                <a:latin typeface="Calibri"/>
                <a:cs typeface="Calibri"/>
              </a:rPr>
              <a:t>evaluate</a:t>
            </a:r>
            <a:r>
              <a:rPr sz="24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the</a:t>
            </a:r>
            <a:r>
              <a:rPr sz="24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viability</a:t>
            </a:r>
            <a:r>
              <a:rPr sz="2400" spc="-6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of</a:t>
            </a:r>
            <a:r>
              <a:rPr sz="24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the</a:t>
            </a:r>
            <a:r>
              <a:rPr sz="2400" spc="-6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new</a:t>
            </a:r>
            <a:r>
              <a:rPr sz="2400" spc="-6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company</a:t>
            </a:r>
            <a:r>
              <a:rPr sz="2400" spc="-3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SpaceY</a:t>
            </a:r>
            <a:r>
              <a:rPr sz="24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272727"/>
                </a:solidFill>
                <a:latin typeface="Calibri"/>
                <a:cs typeface="Calibri"/>
              </a:rPr>
              <a:t>to 	</a:t>
            </a: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make</a:t>
            </a:r>
            <a:r>
              <a:rPr sz="2400" spc="-7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prediction</a:t>
            </a:r>
            <a:r>
              <a:rPr sz="2400" spc="-7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on</a:t>
            </a:r>
            <a:r>
              <a:rPr sz="2400" spc="-7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Space</a:t>
            </a:r>
            <a:r>
              <a:rPr sz="2400" spc="-7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X</a:t>
            </a:r>
            <a:r>
              <a:rPr sz="2400" spc="-7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by</a:t>
            </a:r>
            <a:r>
              <a:rPr sz="2400" spc="-7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training</a:t>
            </a:r>
            <a:r>
              <a:rPr sz="2400" spc="-8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and</a:t>
            </a:r>
            <a:r>
              <a:rPr sz="2400" spc="-7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72727"/>
                </a:solidFill>
                <a:latin typeface="Calibri"/>
                <a:cs typeface="Calibri"/>
              </a:rPr>
              <a:t>developing</a:t>
            </a:r>
            <a:r>
              <a:rPr sz="2400" spc="-8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72727"/>
                </a:solidFill>
                <a:latin typeface="Calibri"/>
                <a:cs typeface="Calibri"/>
              </a:rPr>
              <a:t>models.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10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spc="-10" dirty="0">
                <a:solidFill>
                  <a:srgbClr val="272727"/>
                </a:solidFill>
                <a:latin typeface="Calibri"/>
                <a:cs typeface="Calibri"/>
              </a:rPr>
              <a:t>Desirable</a:t>
            </a:r>
            <a:r>
              <a:rPr sz="2400" b="1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272727"/>
                </a:solidFill>
                <a:latin typeface="Calibri"/>
                <a:cs typeface="Calibri"/>
              </a:rPr>
              <a:t>answers</a:t>
            </a:r>
            <a:endParaRPr sz="2400">
              <a:latin typeface="Calibri"/>
              <a:cs typeface="Calibri"/>
            </a:endParaRPr>
          </a:p>
          <a:p>
            <a:pPr marL="698500" marR="535940" lvl="1" indent="-228600">
              <a:lnSpc>
                <a:spcPts val="2780"/>
              </a:lnSpc>
              <a:spcBef>
                <a:spcPts val="1495"/>
              </a:spcBef>
              <a:buFont typeface="Arial MT"/>
              <a:buChar char="•"/>
              <a:tabLst>
                <a:tab pos="698500" algn="l"/>
              </a:tabLst>
            </a:pPr>
            <a:r>
              <a:rPr sz="2600" dirty="0">
                <a:solidFill>
                  <a:srgbClr val="272727"/>
                </a:solidFill>
                <a:latin typeface="Calibri"/>
                <a:cs typeface="Calibri"/>
              </a:rPr>
              <a:t>The</a:t>
            </a:r>
            <a:r>
              <a:rPr sz="2600" spc="-7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272727"/>
                </a:solidFill>
                <a:latin typeface="Calibri"/>
                <a:cs typeface="Calibri"/>
              </a:rPr>
              <a:t>best</a:t>
            </a:r>
            <a:r>
              <a:rPr sz="2600" spc="-6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272727"/>
                </a:solidFill>
                <a:latin typeface="Calibri"/>
                <a:cs typeface="Calibri"/>
              </a:rPr>
              <a:t>way</a:t>
            </a:r>
            <a:r>
              <a:rPr sz="2600" spc="-6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272727"/>
                </a:solidFill>
                <a:latin typeface="Calibri"/>
                <a:cs typeface="Calibri"/>
              </a:rPr>
              <a:t>to</a:t>
            </a:r>
            <a:r>
              <a:rPr sz="2600" spc="-6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272727"/>
                </a:solidFill>
                <a:latin typeface="Calibri"/>
                <a:cs typeface="Calibri"/>
              </a:rPr>
              <a:t>estimate</a:t>
            </a:r>
            <a:r>
              <a:rPr sz="2600" spc="-7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272727"/>
                </a:solidFill>
                <a:latin typeface="Calibri"/>
                <a:cs typeface="Calibri"/>
              </a:rPr>
              <a:t>the</a:t>
            </a:r>
            <a:r>
              <a:rPr sz="2600" spc="-7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272727"/>
                </a:solidFill>
                <a:latin typeface="Calibri"/>
                <a:cs typeface="Calibri"/>
              </a:rPr>
              <a:t>total</a:t>
            </a:r>
            <a:r>
              <a:rPr sz="2600" spc="-6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272727"/>
                </a:solidFill>
                <a:latin typeface="Calibri"/>
                <a:cs typeface="Calibri"/>
              </a:rPr>
              <a:t>cos</a:t>
            </a:r>
            <a:r>
              <a:rPr sz="2600" spc="-6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272727"/>
                </a:solidFill>
                <a:latin typeface="Calibri"/>
                <a:cs typeface="Calibri"/>
              </a:rPr>
              <a:t>for</a:t>
            </a:r>
            <a:r>
              <a:rPr sz="2600" spc="-6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272727"/>
                </a:solidFill>
                <a:latin typeface="Calibri"/>
                <a:cs typeface="Calibri"/>
              </a:rPr>
              <a:t>launches,</a:t>
            </a:r>
            <a:r>
              <a:rPr sz="2600" spc="-6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272727"/>
                </a:solidFill>
                <a:latin typeface="Calibri"/>
                <a:cs typeface="Calibri"/>
              </a:rPr>
              <a:t>by</a:t>
            </a:r>
            <a:r>
              <a:rPr sz="2600" spc="-7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272727"/>
                </a:solidFill>
                <a:latin typeface="Calibri"/>
                <a:cs typeface="Calibri"/>
              </a:rPr>
              <a:t>predicting </a:t>
            </a:r>
            <a:r>
              <a:rPr sz="2600" dirty="0">
                <a:solidFill>
                  <a:srgbClr val="272727"/>
                </a:solidFill>
                <a:latin typeface="Calibri"/>
                <a:cs typeface="Calibri"/>
              </a:rPr>
              <a:t>successful</a:t>
            </a:r>
            <a:r>
              <a:rPr sz="2600" spc="-6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272727"/>
                </a:solidFill>
                <a:latin typeface="Calibri"/>
                <a:cs typeface="Calibri"/>
              </a:rPr>
              <a:t>landing</a:t>
            </a:r>
            <a:r>
              <a:rPr sz="2600" spc="-6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272727"/>
                </a:solidFill>
                <a:latin typeface="Calibri"/>
                <a:cs typeface="Calibri"/>
              </a:rPr>
              <a:t>of</a:t>
            </a:r>
            <a:r>
              <a:rPr sz="2600" spc="-7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272727"/>
                </a:solidFill>
                <a:latin typeface="Calibri"/>
                <a:cs typeface="Calibri"/>
              </a:rPr>
              <a:t>the</a:t>
            </a:r>
            <a:r>
              <a:rPr sz="2600" spc="-7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272727"/>
                </a:solidFill>
                <a:latin typeface="Calibri"/>
                <a:cs typeface="Calibri"/>
              </a:rPr>
              <a:t>first</a:t>
            </a:r>
            <a:r>
              <a:rPr sz="2600" spc="-6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272727"/>
                </a:solidFill>
                <a:latin typeface="Calibri"/>
                <a:cs typeface="Calibri"/>
              </a:rPr>
              <a:t>stage</a:t>
            </a:r>
            <a:r>
              <a:rPr sz="2600" spc="-7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272727"/>
                </a:solidFill>
                <a:latin typeface="Calibri"/>
                <a:cs typeface="Calibri"/>
              </a:rPr>
              <a:t>of</a:t>
            </a:r>
            <a:r>
              <a:rPr sz="2600" spc="-7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272727"/>
                </a:solidFill>
                <a:latin typeface="Calibri"/>
                <a:cs typeface="Calibri"/>
              </a:rPr>
              <a:t>rockets</a:t>
            </a:r>
            <a:endParaRPr sz="26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1045"/>
              </a:spcBef>
              <a:buFont typeface="Arial MT"/>
              <a:buChar char="•"/>
              <a:tabLst>
                <a:tab pos="698500" algn="l"/>
              </a:tabLst>
            </a:pPr>
            <a:r>
              <a:rPr sz="2600" dirty="0">
                <a:solidFill>
                  <a:srgbClr val="272727"/>
                </a:solidFill>
                <a:latin typeface="Calibri"/>
                <a:cs typeface="Calibri"/>
              </a:rPr>
              <a:t>Where</a:t>
            </a:r>
            <a:r>
              <a:rPr sz="2600" spc="-6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272727"/>
                </a:solidFill>
                <a:latin typeface="Calibri"/>
                <a:cs typeface="Calibri"/>
              </a:rPr>
              <a:t>is</a:t>
            </a:r>
            <a:r>
              <a:rPr sz="2600" spc="-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272727"/>
                </a:solidFill>
                <a:latin typeface="Calibri"/>
                <a:cs typeface="Calibri"/>
              </a:rPr>
              <a:t>the</a:t>
            </a:r>
            <a:r>
              <a:rPr sz="2600" spc="-6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272727"/>
                </a:solidFill>
                <a:latin typeface="Calibri"/>
                <a:cs typeface="Calibri"/>
              </a:rPr>
              <a:t>best</a:t>
            </a:r>
            <a:r>
              <a:rPr sz="2600" spc="-4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272727"/>
                </a:solidFill>
                <a:latin typeface="Calibri"/>
                <a:cs typeface="Calibri"/>
              </a:rPr>
              <a:t>place</a:t>
            </a:r>
            <a:r>
              <a:rPr sz="26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272727"/>
                </a:solidFill>
                <a:latin typeface="Calibri"/>
                <a:cs typeface="Calibri"/>
              </a:rPr>
              <a:t>to</a:t>
            </a:r>
            <a:r>
              <a:rPr sz="2600" spc="-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272727"/>
                </a:solidFill>
                <a:latin typeface="Calibri"/>
                <a:cs typeface="Calibri"/>
              </a:rPr>
              <a:t>make</a:t>
            </a:r>
            <a:r>
              <a:rPr sz="26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272727"/>
                </a:solidFill>
                <a:latin typeface="Calibri"/>
                <a:cs typeface="Calibri"/>
              </a:rPr>
              <a:t>launches.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65175" y="2813050"/>
            <a:ext cx="1059180" cy="368300"/>
          </a:xfrm>
          <a:prstGeom prst="rect">
            <a:avLst/>
          </a:prstGeom>
          <a:solidFill>
            <a:srgbClr val="0947C9"/>
          </a:solidFill>
        </p:spPr>
        <p:txBody>
          <a:bodyPr vert="horz" wrap="square" lIns="0" tIns="3365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6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Section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983402" y="6401887"/>
            <a:ext cx="128905" cy="27368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600" spc="-50" dirty="0">
                <a:solidFill>
                  <a:srgbClr val="1A7CD9"/>
                </a:solidFill>
                <a:latin typeface="Calibri"/>
                <a:cs typeface="Calibri"/>
              </a:rPr>
              <a:t>6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49977" y="6078220"/>
            <a:ext cx="1289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rgbClr val="1A7CD9"/>
                </a:solidFill>
                <a:latin typeface="Calibri"/>
                <a:cs typeface="Calibri"/>
              </a:rPr>
              <a:t>7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8678" y="1414779"/>
            <a:ext cx="7851140" cy="5217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Data</a:t>
            </a:r>
            <a:r>
              <a:rPr sz="2200" spc="-7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collection</a:t>
            </a:r>
            <a:r>
              <a:rPr sz="2200" spc="-7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72727"/>
                </a:solidFill>
                <a:latin typeface="Calibri"/>
                <a:cs typeface="Calibri"/>
              </a:rPr>
              <a:t>methodology:</a:t>
            </a:r>
            <a:endParaRPr sz="2200">
              <a:latin typeface="Calibri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1355"/>
              </a:spcBef>
              <a:buFont typeface="Arial MT"/>
              <a:buChar char="•"/>
              <a:tabLst>
                <a:tab pos="697865" algn="l"/>
              </a:tabLst>
            </a:pPr>
            <a:r>
              <a:rPr sz="1900" dirty="0">
                <a:latin typeface="Calibri"/>
                <a:cs typeface="Calibri"/>
              </a:rPr>
              <a:t>Using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SpaceX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Reset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API</a:t>
            </a:r>
            <a:endParaRPr sz="1900">
              <a:latin typeface="Calibri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697865" algn="l"/>
              </a:tabLst>
            </a:pPr>
            <a:r>
              <a:rPr sz="1900" dirty="0">
                <a:latin typeface="Calibri"/>
                <a:cs typeface="Calibri"/>
              </a:rPr>
              <a:t>Using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Web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Scrapping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from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Wikipedia</a:t>
            </a:r>
            <a:endParaRPr sz="19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0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solidFill>
                  <a:srgbClr val="272727"/>
                </a:solidFill>
                <a:latin typeface="Calibri"/>
                <a:cs typeface="Calibri"/>
              </a:rPr>
              <a:t>Perform</a:t>
            </a:r>
            <a:r>
              <a:rPr sz="2200" spc="-7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data</a:t>
            </a:r>
            <a:r>
              <a:rPr sz="2200" spc="-8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72727"/>
                </a:solidFill>
                <a:latin typeface="Calibri"/>
                <a:cs typeface="Calibri"/>
              </a:rPr>
              <a:t>wrangling</a:t>
            </a:r>
            <a:endParaRPr sz="2200">
              <a:latin typeface="Calibri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1355"/>
              </a:spcBef>
              <a:buFont typeface="Arial MT"/>
              <a:buChar char="•"/>
              <a:tabLst>
                <a:tab pos="697865" algn="l"/>
              </a:tabLst>
            </a:pPr>
            <a:r>
              <a:rPr sz="1900" dirty="0">
                <a:latin typeface="Calibri"/>
                <a:cs typeface="Calibri"/>
              </a:rPr>
              <a:t>Filtering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data</a:t>
            </a:r>
            <a:endParaRPr sz="1900">
              <a:latin typeface="Calibri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697865" algn="l"/>
              </a:tabLst>
            </a:pPr>
            <a:r>
              <a:rPr sz="1900" dirty="0">
                <a:latin typeface="Calibri"/>
                <a:cs typeface="Calibri"/>
              </a:rPr>
              <a:t>Dealing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with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missing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values</a:t>
            </a:r>
            <a:endParaRPr sz="1900">
              <a:latin typeface="Calibri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1415"/>
              </a:spcBef>
              <a:buFont typeface="Arial MT"/>
              <a:buChar char="•"/>
              <a:tabLst>
                <a:tab pos="697865" algn="l"/>
              </a:tabLst>
            </a:pPr>
            <a:r>
              <a:rPr sz="1900" dirty="0">
                <a:latin typeface="Calibri"/>
                <a:cs typeface="Calibri"/>
              </a:rPr>
              <a:t>Using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one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hot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encoding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prepare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data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binary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classification</a:t>
            </a:r>
            <a:endParaRPr sz="19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31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solidFill>
                  <a:srgbClr val="272727"/>
                </a:solidFill>
                <a:latin typeface="Calibri"/>
                <a:cs typeface="Calibri"/>
              </a:rPr>
              <a:t>Perform</a:t>
            </a:r>
            <a:r>
              <a:rPr sz="2200" spc="-6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72727"/>
                </a:solidFill>
                <a:latin typeface="Calibri"/>
                <a:cs typeface="Calibri"/>
              </a:rPr>
              <a:t>exploratory</a:t>
            </a:r>
            <a:r>
              <a:rPr sz="22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data</a:t>
            </a:r>
            <a:r>
              <a:rPr sz="2200" spc="-6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analysis</a:t>
            </a:r>
            <a:r>
              <a:rPr sz="2200" spc="-6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(EDA)</a:t>
            </a:r>
            <a:r>
              <a:rPr sz="2200" spc="-6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using</a:t>
            </a:r>
            <a:r>
              <a:rPr sz="2200" spc="-6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72727"/>
                </a:solidFill>
                <a:latin typeface="Calibri"/>
                <a:cs typeface="Calibri"/>
              </a:rPr>
              <a:t>visualization</a:t>
            </a:r>
            <a:r>
              <a:rPr sz="2200" spc="-6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and</a:t>
            </a:r>
            <a:r>
              <a:rPr sz="2200" spc="-6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272727"/>
                </a:solidFill>
                <a:latin typeface="Calibri"/>
                <a:cs typeface="Calibri"/>
              </a:rPr>
              <a:t>SQL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6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solidFill>
                  <a:srgbClr val="272727"/>
                </a:solidFill>
                <a:latin typeface="Calibri"/>
                <a:cs typeface="Calibri"/>
              </a:rPr>
              <a:t>Perform</a:t>
            </a:r>
            <a:r>
              <a:rPr sz="22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72727"/>
                </a:solidFill>
                <a:latin typeface="Calibri"/>
                <a:cs typeface="Calibri"/>
              </a:rPr>
              <a:t>interactive</a:t>
            </a:r>
            <a:r>
              <a:rPr sz="22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visual</a:t>
            </a:r>
            <a:r>
              <a:rPr sz="2200" spc="-6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analytics</a:t>
            </a:r>
            <a:r>
              <a:rPr sz="2200" spc="-6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using</a:t>
            </a:r>
            <a:r>
              <a:rPr sz="2200" spc="-6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Folium</a:t>
            </a:r>
            <a:r>
              <a:rPr sz="22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and</a:t>
            </a:r>
            <a:r>
              <a:rPr sz="22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Plotly</a:t>
            </a:r>
            <a:r>
              <a:rPr sz="22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272727"/>
                </a:solidFill>
                <a:latin typeface="Calibri"/>
                <a:cs typeface="Calibri"/>
              </a:rPr>
              <a:t>Dash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36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solidFill>
                  <a:srgbClr val="272727"/>
                </a:solidFill>
                <a:latin typeface="Calibri"/>
                <a:cs typeface="Calibri"/>
              </a:rPr>
              <a:t>Perform</a:t>
            </a:r>
            <a:r>
              <a:rPr sz="2200" spc="-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72727"/>
                </a:solidFill>
                <a:latin typeface="Calibri"/>
                <a:cs typeface="Calibri"/>
              </a:rPr>
              <a:t>predictive</a:t>
            </a:r>
            <a:r>
              <a:rPr sz="2200" spc="-4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analysis</a:t>
            </a:r>
            <a:r>
              <a:rPr sz="2200" spc="-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using</a:t>
            </a:r>
            <a:r>
              <a:rPr sz="2200" spc="-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72727"/>
                </a:solidFill>
                <a:latin typeface="Calibri"/>
                <a:cs typeface="Calibri"/>
              </a:rPr>
              <a:t>classification</a:t>
            </a:r>
            <a:r>
              <a:rPr sz="22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72727"/>
                </a:solidFill>
                <a:latin typeface="Calibri"/>
                <a:cs typeface="Calibri"/>
              </a:rPr>
              <a:t>models</a:t>
            </a:r>
            <a:endParaRPr sz="2200">
              <a:latin typeface="Calibri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1455"/>
              </a:spcBef>
              <a:buFont typeface="Arial MT"/>
              <a:buChar char="•"/>
              <a:tabLst>
                <a:tab pos="697865" algn="l"/>
              </a:tabLst>
            </a:pPr>
            <a:r>
              <a:rPr sz="1900" dirty="0">
                <a:latin typeface="Calibri"/>
                <a:cs typeface="Calibri"/>
              </a:rPr>
              <a:t>How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build,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tune,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evaluate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classification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models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Methodology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49977" y="6078220"/>
            <a:ext cx="1289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solidFill>
                  <a:srgbClr val="1A7CD9"/>
                </a:solidFill>
                <a:latin typeface="Calibri"/>
                <a:cs typeface="Calibri"/>
              </a:rPr>
              <a:t>8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8678" y="1844547"/>
            <a:ext cx="10357485" cy="4427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Data</a:t>
            </a:r>
            <a:r>
              <a:rPr sz="2200" spc="2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collection</a:t>
            </a:r>
            <a:r>
              <a:rPr sz="2200" spc="2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process</a:t>
            </a:r>
            <a:r>
              <a:rPr sz="2200" spc="2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involved</a:t>
            </a:r>
            <a:r>
              <a:rPr sz="2200" spc="2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2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combination</a:t>
            </a:r>
            <a:r>
              <a:rPr sz="2200" spc="2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2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API</a:t>
            </a:r>
            <a:r>
              <a:rPr sz="2200" spc="2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requests</a:t>
            </a:r>
            <a:r>
              <a:rPr sz="2200" spc="2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from</a:t>
            </a:r>
            <a:r>
              <a:rPr sz="2200" spc="2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SpaceX</a:t>
            </a:r>
            <a:r>
              <a:rPr sz="2200" spc="2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REST</a:t>
            </a:r>
            <a:r>
              <a:rPr sz="2200" spc="25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API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Web</a:t>
            </a:r>
            <a:r>
              <a:rPr sz="2200" spc="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Scraping</a:t>
            </a:r>
            <a:r>
              <a:rPr sz="2200" spc="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data</a:t>
            </a:r>
            <a:r>
              <a:rPr sz="2200" spc="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from</a:t>
            </a:r>
            <a:r>
              <a:rPr sz="2200" spc="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table</a:t>
            </a:r>
            <a:r>
              <a:rPr sz="2200" spc="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SpaceX’s</a:t>
            </a:r>
            <a:r>
              <a:rPr sz="2200" spc="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Wikipedia</a:t>
            </a:r>
            <a:r>
              <a:rPr sz="2200" spc="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entry.</a:t>
            </a:r>
            <a:r>
              <a:rPr sz="2200" spc="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</a:t>
            </a:r>
            <a:r>
              <a:rPr sz="2200" spc="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had</a:t>
            </a:r>
            <a:r>
              <a:rPr sz="2200" spc="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</a:t>
            </a:r>
            <a:r>
              <a:rPr sz="2200" spc="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both</a:t>
            </a:r>
            <a:r>
              <a:rPr sz="2200" spc="4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of </a:t>
            </a:r>
            <a:r>
              <a:rPr sz="2200" dirty="0">
                <a:latin typeface="Calibri"/>
                <a:cs typeface="Calibri"/>
              </a:rPr>
              <a:t>these</a:t>
            </a:r>
            <a:r>
              <a:rPr sz="2200" spc="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data</a:t>
            </a:r>
            <a:r>
              <a:rPr sz="2200" spc="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collection</a:t>
            </a:r>
            <a:r>
              <a:rPr sz="2200" spc="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methods</a:t>
            </a:r>
            <a:r>
              <a:rPr sz="2200" spc="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order</a:t>
            </a:r>
            <a:r>
              <a:rPr sz="2200" spc="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get</a:t>
            </a:r>
            <a:r>
              <a:rPr sz="2200" spc="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complete</a:t>
            </a:r>
            <a:r>
              <a:rPr sz="2200" spc="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information</a:t>
            </a:r>
            <a:r>
              <a:rPr sz="2200" spc="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about</a:t>
            </a:r>
            <a:r>
              <a:rPr sz="2200" spc="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9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launches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more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detailed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analysis.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latin typeface="Calibri"/>
                <a:cs typeface="Calibri"/>
              </a:rPr>
              <a:t>Data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Columns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obtained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using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SpaceX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REST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API:</a:t>
            </a:r>
            <a:endParaRPr sz="2200">
              <a:latin typeface="Calibri"/>
              <a:cs typeface="Calibri"/>
            </a:endParaRPr>
          </a:p>
          <a:p>
            <a:pPr marL="697865" marR="346710" lvl="1" indent="-228600">
              <a:lnSpc>
                <a:spcPct val="98600"/>
              </a:lnSpc>
              <a:spcBef>
                <a:spcPts val="1505"/>
              </a:spcBef>
              <a:buFont typeface="Arial MT"/>
              <a:buChar char="•"/>
              <a:tabLst>
                <a:tab pos="697865" algn="l"/>
              </a:tabLst>
            </a:pPr>
            <a:r>
              <a:rPr sz="2200" spc="-25" dirty="0">
                <a:latin typeface="Calibri"/>
                <a:cs typeface="Calibri"/>
              </a:rPr>
              <a:t>FlightNumber,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Date,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BoosterVersion,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PayloadMass,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Orbit,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LaunchSite,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Outcome, </a:t>
            </a:r>
            <a:r>
              <a:rPr sz="2200" dirty="0">
                <a:latin typeface="Calibri"/>
                <a:cs typeface="Calibri"/>
              </a:rPr>
              <a:t>Flights,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GridFins,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Reused,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Legs,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LandingPad,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Block,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ReusedCount,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Serial,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Longitude, Latitude.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6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latin typeface="Calibri"/>
                <a:cs typeface="Calibri"/>
              </a:rPr>
              <a:t>Data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Columns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obtained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using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Wikipedia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Web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Scraping:</a:t>
            </a:r>
            <a:endParaRPr sz="2200">
              <a:latin typeface="Calibri"/>
              <a:cs typeface="Calibri"/>
            </a:endParaRPr>
          </a:p>
          <a:p>
            <a:pPr marL="697865" marR="520065" lvl="1" indent="-228600">
              <a:lnSpc>
                <a:spcPct val="102699"/>
              </a:lnSpc>
              <a:spcBef>
                <a:spcPts val="1275"/>
              </a:spcBef>
              <a:buFont typeface="Arial MT"/>
              <a:buChar char="•"/>
              <a:tabLst>
                <a:tab pos="697865" algn="l"/>
              </a:tabLst>
            </a:pPr>
            <a:r>
              <a:rPr sz="2200" dirty="0">
                <a:latin typeface="Calibri"/>
                <a:cs typeface="Calibri"/>
              </a:rPr>
              <a:t>Flight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No.,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Launch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site,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Payload,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PayloadMass,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Orbit,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30" dirty="0">
                <a:latin typeface="Calibri"/>
                <a:cs typeface="Calibri"/>
              </a:rPr>
              <a:t>Customer,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Launch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outcome, </a:t>
            </a:r>
            <a:r>
              <a:rPr sz="2200" spc="-20" dirty="0">
                <a:latin typeface="Calibri"/>
                <a:cs typeface="Calibri"/>
              </a:rPr>
              <a:t>Version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30" dirty="0">
                <a:latin typeface="Calibri"/>
                <a:cs typeface="Calibri"/>
              </a:rPr>
              <a:t>Booster,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Booster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landing,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Date,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Time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130" dirty="0"/>
              <a:t> </a:t>
            </a:r>
            <a:r>
              <a:rPr spc="-10" dirty="0"/>
              <a:t>Collection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9478" y="1820164"/>
            <a:ext cx="4189095" cy="390588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41300" marR="105410" indent="-228600">
              <a:lnSpc>
                <a:spcPct val="98600"/>
              </a:lnSpc>
              <a:spcBef>
                <a:spcPts val="13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Data</a:t>
            </a:r>
            <a:r>
              <a:rPr sz="2200" spc="-6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collection</a:t>
            </a:r>
            <a:r>
              <a:rPr sz="2200" spc="-6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using</a:t>
            </a:r>
            <a:r>
              <a:rPr sz="2200" spc="-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SpaceX</a:t>
            </a:r>
            <a:r>
              <a:rPr sz="2200" spc="-6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272727"/>
                </a:solidFill>
                <a:latin typeface="Calibri"/>
                <a:cs typeface="Calibri"/>
              </a:rPr>
              <a:t>REST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calls</a:t>
            </a:r>
            <a:r>
              <a:rPr sz="2200" spc="-8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using</a:t>
            </a:r>
            <a:r>
              <a:rPr sz="2200" spc="-8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key</a:t>
            </a:r>
            <a:r>
              <a:rPr sz="2200" spc="-7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phrases</a:t>
            </a:r>
            <a:r>
              <a:rPr sz="2200" spc="-8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272727"/>
                </a:solidFill>
                <a:latin typeface="Calibri"/>
                <a:cs typeface="Calibri"/>
              </a:rPr>
              <a:t>and </a:t>
            </a:r>
            <a:r>
              <a:rPr sz="2200" spc="-10" dirty="0">
                <a:solidFill>
                  <a:srgbClr val="272727"/>
                </a:solidFill>
                <a:latin typeface="Calibri"/>
                <a:cs typeface="Calibri"/>
              </a:rPr>
              <a:t>flowcharts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272727"/>
              </a:buClr>
              <a:buFont typeface="Arial MT"/>
              <a:buChar char="•"/>
            </a:pP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Clr>
                <a:srgbClr val="272727"/>
              </a:buClr>
              <a:buFont typeface="Arial MT"/>
              <a:buChar char="•"/>
            </a:pPr>
            <a:endParaRPr sz="2200">
              <a:latin typeface="Calibri"/>
              <a:cs typeface="Calibri"/>
            </a:endParaRPr>
          </a:p>
          <a:p>
            <a:pPr marL="241300" marR="513080" indent="-228600">
              <a:lnSpc>
                <a:spcPct val="100499"/>
              </a:lnSpc>
              <a:buFont typeface="Arial MT"/>
              <a:buChar char="•"/>
              <a:tabLst>
                <a:tab pos="241300" algn="l"/>
              </a:tabLst>
            </a:pPr>
            <a:r>
              <a:rPr sz="2200" spc="-10" dirty="0">
                <a:solidFill>
                  <a:srgbClr val="272727"/>
                </a:solidFill>
                <a:latin typeface="Calibri"/>
                <a:cs typeface="Calibri"/>
              </a:rPr>
              <a:t>Refer</a:t>
            </a:r>
            <a:r>
              <a:rPr sz="22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to</a:t>
            </a:r>
            <a:r>
              <a:rPr sz="2200" spc="-4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my</a:t>
            </a:r>
            <a:r>
              <a:rPr sz="2200" spc="-4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GitHub</a:t>
            </a:r>
            <a:r>
              <a:rPr sz="2200" spc="-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URL</a:t>
            </a:r>
            <a:r>
              <a:rPr sz="2200" spc="-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of</a:t>
            </a:r>
            <a:r>
              <a:rPr sz="2200" spc="-4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272727"/>
                </a:solidFill>
                <a:latin typeface="Calibri"/>
                <a:cs typeface="Calibri"/>
              </a:rPr>
              <a:t>the </a:t>
            </a:r>
            <a:r>
              <a:rPr sz="2200" spc="-10" dirty="0">
                <a:solidFill>
                  <a:srgbClr val="272727"/>
                </a:solidFill>
                <a:latin typeface="Calibri"/>
                <a:cs typeface="Calibri"/>
              </a:rPr>
              <a:t>completed</a:t>
            </a:r>
            <a:r>
              <a:rPr sz="2200" spc="-3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SpaceX</a:t>
            </a:r>
            <a:r>
              <a:rPr sz="2200" spc="-3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API</a:t>
            </a:r>
            <a:r>
              <a:rPr sz="2200" spc="-3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272727"/>
                </a:solidFill>
                <a:latin typeface="Calibri"/>
                <a:cs typeface="Calibri"/>
              </a:rPr>
              <a:t>calls </a:t>
            </a:r>
            <a:r>
              <a:rPr sz="2200" spc="-10" dirty="0">
                <a:solidFill>
                  <a:srgbClr val="272727"/>
                </a:solidFill>
                <a:latin typeface="Calibri"/>
                <a:cs typeface="Calibri"/>
              </a:rPr>
              <a:t>notebook:</a:t>
            </a:r>
            <a:endParaRPr sz="2200">
              <a:latin typeface="Calibri"/>
              <a:cs typeface="Calibri"/>
            </a:endParaRPr>
          </a:p>
          <a:p>
            <a:pPr marL="241300" marR="5080" indent="-228600">
              <a:lnSpc>
                <a:spcPct val="100499"/>
              </a:lnSpc>
              <a:spcBef>
                <a:spcPts val="1355"/>
              </a:spcBef>
              <a:buClr>
                <a:srgbClr val="272727"/>
              </a:buClr>
              <a:buFont typeface="Arial MT"/>
              <a:buChar char="•"/>
              <a:tabLst>
                <a:tab pos="241300" algn="l"/>
              </a:tabLst>
            </a:pPr>
            <a:r>
              <a:rPr sz="2200" u="dash" spc="-10" dirty="0">
                <a:solidFill>
                  <a:srgbClr val="0363C0"/>
                </a:solidFill>
                <a:uFill>
                  <a:solidFill>
                    <a:srgbClr val="0363C0"/>
                  </a:solidFill>
                </a:uFill>
                <a:latin typeface="Calibri"/>
                <a:cs typeface="Calibri"/>
              </a:rPr>
              <a:t>https://github.com/Moheid/IBM-</a:t>
            </a:r>
            <a:r>
              <a:rPr sz="2200" spc="-10" dirty="0">
                <a:solidFill>
                  <a:srgbClr val="0363C0"/>
                </a:solidFill>
                <a:latin typeface="Calibri"/>
                <a:cs typeface="Calibri"/>
              </a:rPr>
              <a:t> </a:t>
            </a:r>
            <a:r>
              <a:rPr sz="2200" u="dash" spc="-30" dirty="0">
                <a:solidFill>
                  <a:srgbClr val="0363C0"/>
                </a:solidFill>
                <a:uFill>
                  <a:solidFill>
                    <a:srgbClr val="0363C0"/>
                  </a:solidFill>
                </a:uFill>
                <a:latin typeface="Calibri"/>
                <a:cs typeface="Calibri"/>
              </a:rPr>
              <a:t>SpaceY-</a:t>
            </a:r>
            <a:r>
              <a:rPr sz="2200" u="dash" spc="-10" dirty="0">
                <a:solidFill>
                  <a:srgbClr val="0363C0"/>
                </a:solidFill>
                <a:uFill>
                  <a:solidFill>
                    <a:srgbClr val="0363C0"/>
                  </a:solidFill>
                </a:uFill>
                <a:latin typeface="Calibri"/>
                <a:cs typeface="Calibri"/>
              </a:rPr>
              <a:t>DS-Capstone/blob/main/1-</a:t>
            </a:r>
            <a:r>
              <a:rPr sz="2200" spc="-10" dirty="0">
                <a:solidFill>
                  <a:srgbClr val="0363C0"/>
                </a:solidFill>
                <a:latin typeface="Calibri"/>
                <a:cs typeface="Calibri"/>
              </a:rPr>
              <a:t> </a:t>
            </a:r>
            <a:r>
              <a:rPr sz="2200" u="dash" spc="-25" dirty="0">
                <a:solidFill>
                  <a:srgbClr val="0363C0"/>
                </a:solidFill>
                <a:uFill>
                  <a:solidFill>
                    <a:srgbClr val="0363C0"/>
                  </a:solidFill>
                </a:uFill>
                <a:latin typeface="Calibri"/>
                <a:cs typeface="Calibri"/>
              </a:rPr>
              <a:t>data-</a:t>
            </a:r>
            <a:r>
              <a:rPr sz="2200" u="dash" spc="-10" dirty="0">
                <a:solidFill>
                  <a:srgbClr val="0363C0"/>
                </a:solidFill>
                <a:uFill>
                  <a:solidFill>
                    <a:srgbClr val="0363C0"/>
                  </a:solidFill>
                </a:uFill>
                <a:latin typeface="Calibri"/>
                <a:cs typeface="Calibri"/>
              </a:rPr>
              <a:t>collection-api.ipynb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80" dirty="0"/>
              <a:t> </a:t>
            </a:r>
            <a:r>
              <a:rPr dirty="0"/>
              <a:t>Collection</a:t>
            </a:r>
            <a:r>
              <a:rPr spc="-80" dirty="0"/>
              <a:t> </a:t>
            </a:r>
            <a:r>
              <a:rPr dirty="0"/>
              <a:t>–</a:t>
            </a:r>
            <a:r>
              <a:rPr spc="-80" dirty="0"/>
              <a:t> </a:t>
            </a:r>
            <a:r>
              <a:rPr dirty="0"/>
              <a:t>SpaceX</a:t>
            </a:r>
            <a:r>
              <a:rPr spc="-80" dirty="0"/>
              <a:t> </a:t>
            </a:r>
            <a:r>
              <a:rPr spc="-25" dirty="0"/>
              <a:t>API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900737" y="1779587"/>
          <a:ext cx="5556250" cy="4210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04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1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5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74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58875">
                <a:tc>
                  <a:txBody>
                    <a:bodyPr/>
                    <a:lstStyle/>
                    <a:p>
                      <a:pPr marL="127000" marR="118110" indent="635" algn="ctr">
                        <a:lnSpc>
                          <a:spcPct val="100400"/>
                        </a:lnSpc>
                        <a:spcBef>
                          <a:spcPts val="8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Request rocket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launch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from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SpaceX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API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2700">
                      <a:solidFill>
                        <a:srgbClr val="4471C3"/>
                      </a:solidFill>
                      <a:prstDash val="solid"/>
                    </a:lnR>
                    <a:lnT w="19050">
                      <a:solidFill>
                        <a:srgbClr val="4471C3"/>
                      </a:solidFill>
                      <a:prstDash val="solid"/>
                    </a:lnT>
                    <a:lnB w="12700">
                      <a:solidFill>
                        <a:srgbClr val="4471C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2700">
                      <a:solidFill>
                        <a:srgbClr val="4471C3"/>
                      </a:solidFill>
                      <a:prstDash val="solid"/>
                    </a:lnR>
                    <a:lnT w="12700">
                      <a:solidFill>
                        <a:srgbClr val="0B47C9"/>
                      </a:solidFill>
                      <a:prstDash val="sysDash"/>
                    </a:lnT>
                  </a:tcPr>
                </a:tc>
                <a:tc>
                  <a:txBody>
                    <a:bodyPr/>
                    <a:lstStyle/>
                    <a:p>
                      <a:pPr marL="210185" marR="214629" indent="-635" algn="ctr">
                        <a:lnSpc>
                          <a:spcPct val="100800"/>
                        </a:lnSpc>
                        <a:spcBef>
                          <a:spcPts val="15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Decoding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response</a:t>
                      </a:r>
                      <a:r>
                        <a:rPr sz="12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content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using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.json()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and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turning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into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a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dataframe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using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R="5080" algn="ctr">
                        <a:lnSpc>
                          <a:spcPts val="1390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.json_normalize()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2700">
                      <a:solidFill>
                        <a:srgbClr val="4471C3"/>
                      </a:solidFill>
                      <a:prstDash val="solid"/>
                    </a:lnR>
                    <a:lnT w="28575">
                      <a:solidFill>
                        <a:srgbClr val="4471C3"/>
                      </a:solidFill>
                      <a:prstDash val="solid"/>
                    </a:lnT>
                    <a:lnB w="12700">
                      <a:solidFill>
                        <a:srgbClr val="4471C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2700">
                      <a:solidFill>
                        <a:srgbClr val="4471C3"/>
                      </a:solidFill>
                      <a:prstDash val="solid"/>
                    </a:lnR>
                    <a:lnT w="12700">
                      <a:solidFill>
                        <a:srgbClr val="0B47C9"/>
                      </a:solidFill>
                      <a:prstDash val="sysDash"/>
                    </a:lnT>
                  </a:tcPr>
                </a:tc>
                <a:tc>
                  <a:txBody>
                    <a:bodyPr/>
                    <a:lstStyle/>
                    <a:p>
                      <a:pPr marL="164465" marR="14541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Requesting</a:t>
                      </a:r>
                      <a:r>
                        <a:rPr sz="1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needed information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about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launches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from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SpaceX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API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by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applying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custom functions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9050">
                      <a:solidFill>
                        <a:srgbClr val="4471C3"/>
                      </a:solidFill>
                      <a:prstDash val="solid"/>
                    </a:lnR>
                    <a:lnT w="12700">
                      <a:solidFill>
                        <a:srgbClr val="4471C3"/>
                      </a:solidFill>
                      <a:prstDash val="solid"/>
                    </a:lnT>
                    <a:lnB w="12700">
                      <a:solidFill>
                        <a:srgbClr val="4471C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665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B47C9"/>
                      </a:solidFill>
                      <a:prstDash val="sysDash"/>
                    </a:lnL>
                    <a:lnR w="12700">
                      <a:solidFill>
                        <a:srgbClr val="0B47C9"/>
                      </a:solidFill>
                      <a:prstDash val="sysDash"/>
                    </a:lnR>
                    <a:lnT w="12700" cap="flat" cmpd="sng" algn="ctr">
                      <a:solidFill>
                        <a:srgbClr val="447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815">
                <a:tc rowSpan="4">
                  <a:txBody>
                    <a:bodyPr/>
                    <a:lstStyle/>
                    <a:p>
                      <a:pPr marL="635" algn="ctr">
                        <a:lnSpc>
                          <a:spcPts val="1555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Filtering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the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216535" marR="210185" algn="ctr">
                        <a:lnSpc>
                          <a:spcPts val="1900"/>
                        </a:lnSpc>
                        <a:spcBef>
                          <a:spcPts val="6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dataframe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to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only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include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388620" marR="379095" algn="ctr">
                        <a:lnSpc>
                          <a:spcPts val="19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Falcon</a:t>
                      </a:r>
                      <a:r>
                        <a:rPr sz="16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9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launches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2700">
                      <a:solidFill>
                        <a:srgbClr val="4471C3"/>
                      </a:solidFill>
                      <a:prstDash val="solid"/>
                    </a:lnR>
                    <a:lnB w="12700">
                      <a:solidFill>
                        <a:srgbClr val="4471C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2700">
                      <a:solidFill>
                        <a:srgbClr val="4471C3"/>
                      </a:solidFill>
                      <a:prstDash val="solid"/>
                    </a:lnR>
                  </a:tcPr>
                </a:tc>
                <a:tc rowSpan="4">
                  <a:txBody>
                    <a:bodyPr/>
                    <a:lstStyle/>
                    <a:p>
                      <a:pPr marL="273685" marR="266700" algn="ctr">
                        <a:lnSpc>
                          <a:spcPct val="100400"/>
                        </a:lnSpc>
                        <a:spcBef>
                          <a:spcPts val="11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Creating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a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dataframe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dictionary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2700">
                      <a:solidFill>
                        <a:srgbClr val="4471C3"/>
                      </a:solidFill>
                      <a:prstDash val="solid"/>
                    </a:lnR>
                    <a:lnT w="12700">
                      <a:solidFill>
                        <a:srgbClr val="4471C3"/>
                      </a:solidFill>
                      <a:prstDash val="solid"/>
                    </a:lnT>
                    <a:lnB w="12700">
                      <a:solidFill>
                        <a:srgbClr val="4471C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2700">
                      <a:solidFill>
                        <a:srgbClr val="4471C3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2130"/>
                        </a:lnSpc>
                        <a:spcBef>
                          <a:spcPts val="114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Constructing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9050">
                      <a:solidFill>
                        <a:srgbClr val="4471C3"/>
                      </a:solidFill>
                      <a:prstDash val="solid"/>
                    </a:lnR>
                    <a:lnT w="12700">
                      <a:solidFill>
                        <a:srgbClr val="4471C3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0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2700">
                      <a:solidFill>
                        <a:srgbClr val="4471C3"/>
                      </a:solidFill>
                      <a:prstDash val="solid"/>
                    </a:lnR>
                    <a:lnT w="12700">
                      <a:solidFill>
                        <a:srgbClr val="4471C3"/>
                      </a:solidFill>
                      <a:prstDash val="solid"/>
                    </a:lnT>
                    <a:lnB w="12700">
                      <a:solidFill>
                        <a:srgbClr val="4471C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2700">
                      <a:solidFill>
                        <a:srgbClr val="4471C3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970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2700">
                      <a:solidFill>
                        <a:srgbClr val="4471C3"/>
                      </a:solidFill>
                      <a:prstDash val="solid"/>
                    </a:lnR>
                    <a:lnT w="12700">
                      <a:solidFill>
                        <a:srgbClr val="4471C3"/>
                      </a:solidFill>
                      <a:prstDash val="solid"/>
                    </a:lnT>
                    <a:lnB w="12700">
                      <a:solidFill>
                        <a:srgbClr val="4471C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2700">
                      <a:solidFill>
                        <a:srgbClr val="4471C3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202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we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have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9050">
                      <a:solidFill>
                        <a:srgbClr val="4471C3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03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2700">
                      <a:solidFill>
                        <a:srgbClr val="4471C3"/>
                      </a:solidFill>
                      <a:prstDash val="solid"/>
                    </a:lnR>
                    <a:lnT w="12700">
                      <a:solidFill>
                        <a:srgbClr val="4471C3"/>
                      </a:solidFill>
                      <a:prstDash val="solid"/>
                    </a:lnT>
                    <a:lnB w="12700">
                      <a:solidFill>
                        <a:srgbClr val="4471C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2700">
                      <a:solidFill>
                        <a:srgbClr val="4471C3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970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2700">
                      <a:solidFill>
                        <a:srgbClr val="4471C3"/>
                      </a:solidFill>
                      <a:prstDash val="solid"/>
                    </a:lnR>
                    <a:lnT w="12700">
                      <a:solidFill>
                        <a:srgbClr val="4471C3"/>
                      </a:solidFill>
                      <a:prstDash val="solid"/>
                    </a:lnT>
                    <a:lnB w="12700">
                      <a:solidFill>
                        <a:srgbClr val="4471C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2700">
                      <a:solidFill>
                        <a:srgbClr val="4471C3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207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obtained</a:t>
                      </a:r>
                      <a:r>
                        <a:rPr sz="1800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into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9050">
                      <a:solidFill>
                        <a:srgbClr val="4471C3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3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2700">
                      <a:solidFill>
                        <a:srgbClr val="4471C3"/>
                      </a:solidFill>
                      <a:prstDash val="solid"/>
                    </a:lnR>
                    <a:lnT w="12700">
                      <a:solidFill>
                        <a:srgbClr val="4471C3"/>
                      </a:solidFill>
                      <a:prstDash val="solid"/>
                    </a:lnT>
                    <a:lnB w="12700">
                      <a:solidFill>
                        <a:srgbClr val="4471C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2700">
                      <a:solidFill>
                        <a:srgbClr val="4471C3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970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2700">
                      <a:solidFill>
                        <a:srgbClr val="4471C3"/>
                      </a:solidFill>
                      <a:prstDash val="solid"/>
                    </a:lnR>
                    <a:lnT w="12700">
                      <a:solidFill>
                        <a:srgbClr val="4471C3"/>
                      </a:solidFill>
                      <a:prstDash val="solid"/>
                    </a:lnT>
                    <a:lnB w="12700">
                      <a:solidFill>
                        <a:srgbClr val="4471C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2700">
                      <a:solidFill>
                        <a:srgbClr val="4471C3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ts val="207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dictionary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9050">
                      <a:solidFill>
                        <a:srgbClr val="4471C3"/>
                      </a:solidFill>
                      <a:prstDash val="solid"/>
                    </a:lnR>
                    <a:lnB w="12700">
                      <a:solidFill>
                        <a:srgbClr val="4471C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635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B47C9"/>
                      </a:solidFill>
                      <a:prstDash val="sysDash"/>
                    </a:lnL>
                    <a:lnR w="12700">
                      <a:solidFill>
                        <a:srgbClr val="0B47C9"/>
                      </a:solidFill>
                      <a:prstDash val="sysDash"/>
                    </a:lnR>
                    <a:lnT w="12700" cap="flat" cmpd="sng" algn="ctr">
                      <a:solidFill>
                        <a:srgbClr val="447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51255">
                <a:tc>
                  <a:txBody>
                    <a:bodyPr/>
                    <a:lstStyle/>
                    <a:p>
                      <a:pPr marL="125730" marR="127000" indent="635" algn="ctr">
                        <a:lnSpc>
                          <a:spcPct val="100800"/>
                        </a:lnSpc>
                        <a:spcBef>
                          <a:spcPts val="475"/>
                        </a:spcBef>
                      </a:pPr>
                      <a:r>
                        <a:rPr sz="1300" dirty="0">
                          <a:latin typeface="Calibri"/>
                          <a:cs typeface="Calibri"/>
                        </a:rPr>
                        <a:t>Replacing</a:t>
                      </a:r>
                      <a:r>
                        <a:rPr sz="13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10" dirty="0">
                          <a:latin typeface="Calibri"/>
                          <a:cs typeface="Calibri"/>
                        </a:rPr>
                        <a:t>missing </a:t>
                      </a:r>
                      <a:r>
                        <a:rPr sz="1300" dirty="0">
                          <a:latin typeface="Calibri"/>
                          <a:cs typeface="Calibri"/>
                        </a:rPr>
                        <a:t>values</a:t>
                      </a:r>
                      <a:r>
                        <a:rPr sz="13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3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10" dirty="0">
                          <a:latin typeface="Calibri"/>
                          <a:cs typeface="Calibri"/>
                        </a:rPr>
                        <a:t>Payload </a:t>
                      </a:r>
                      <a:r>
                        <a:rPr sz="1300" dirty="0">
                          <a:latin typeface="Calibri"/>
                          <a:cs typeface="Calibri"/>
                        </a:rPr>
                        <a:t>Mass</a:t>
                      </a:r>
                      <a:r>
                        <a:rPr sz="13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latin typeface="Calibri"/>
                          <a:cs typeface="Calibri"/>
                        </a:rPr>
                        <a:t>column</a:t>
                      </a:r>
                      <a:r>
                        <a:rPr sz="13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20" dirty="0">
                          <a:latin typeface="Calibri"/>
                          <a:cs typeface="Calibri"/>
                        </a:rPr>
                        <a:t>with </a:t>
                      </a:r>
                      <a:r>
                        <a:rPr sz="1300" spc="-10" dirty="0">
                          <a:latin typeface="Calibri"/>
                          <a:cs typeface="Calibri"/>
                        </a:rPr>
                        <a:t>calculated</a:t>
                      </a:r>
                      <a:r>
                        <a:rPr sz="13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10" dirty="0">
                          <a:latin typeface="Calibri"/>
                          <a:cs typeface="Calibri"/>
                        </a:rPr>
                        <a:t>.mean() </a:t>
                      </a:r>
                      <a:r>
                        <a:rPr sz="13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3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latin typeface="Calibri"/>
                          <a:cs typeface="Calibri"/>
                        </a:rPr>
                        <a:t>this</a:t>
                      </a:r>
                      <a:r>
                        <a:rPr sz="13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10" dirty="0">
                          <a:latin typeface="Calibri"/>
                          <a:cs typeface="Calibri"/>
                        </a:rPr>
                        <a:t>column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60325" marB="0">
                    <a:lnL w="19050">
                      <a:solidFill>
                        <a:srgbClr val="4471C3"/>
                      </a:solidFill>
                      <a:prstDash val="solid"/>
                    </a:lnL>
                    <a:lnR w="12700">
                      <a:solidFill>
                        <a:srgbClr val="4471C3"/>
                      </a:solidFill>
                      <a:prstDash val="solid"/>
                    </a:lnR>
                    <a:lnB w="12700">
                      <a:solidFill>
                        <a:srgbClr val="4471C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2700">
                      <a:solidFill>
                        <a:srgbClr val="4471C3"/>
                      </a:solidFill>
                      <a:prstDash val="solid"/>
                    </a:lnR>
                    <a:lnB w="12700">
                      <a:solidFill>
                        <a:srgbClr val="0B47C9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7329" marR="114935" indent="-92710">
                        <a:lnSpc>
                          <a:spcPts val="211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Exporting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CSV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2700">
                      <a:solidFill>
                        <a:srgbClr val="4471C3"/>
                      </a:solidFill>
                      <a:prstDash val="solid"/>
                    </a:lnR>
                    <a:lnT w="12700">
                      <a:solidFill>
                        <a:srgbClr val="4471C3"/>
                      </a:solidFill>
                      <a:prstDash val="solid"/>
                    </a:lnT>
                    <a:lnB w="28575">
                      <a:solidFill>
                        <a:srgbClr val="4471C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2700">
                      <a:solidFill>
                        <a:srgbClr val="0B47C9"/>
                      </a:solidFill>
                      <a:prstDash val="sysDash"/>
                    </a:lnR>
                    <a:lnB w="12700">
                      <a:solidFill>
                        <a:srgbClr val="0B47C9"/>
                      </a:solidFill>
                      <a:prstDash val="sysDash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7418387" y="2262187"/>
            <a:ext cx="476250" cy="260350"/>
            <a:chOff x="7418387" y="2262187"/>
            <a:chExt cx="476250" cy="260350"/>
          </a:xfrm>
        </p:grpSpPr>
        <p:sp>
          <p:nvSpPr>
            <p:cNvPr id="6" name="object 6"/>
            <p:cNvSpPr/>
            <p:nvPr/>
          </p:nvSpPr>
          <p:spPr>
            <a:xfrm>
              <a:off x="7424737" y="2268537"/>
              <a:ext cx="463550" cy="247650"/>
            </a:xfrm>
            <a:custGeom>
              <a:avLst/>
              <a:gdLst/>
              <a:ahLst/>
              <a:cxnLst/>
              <a:rect l="l" t="t" r="r" b="b"/>
              <a:pathLst>
                <a:path w="463550" h="247650">
                  <a:moveTo>
                    <a:pt x="339726" y="0"/>
                  </a:moveTo>
                  <a:lnTo>
                    <a:pt x="339726" y="61912"/>
                  </a:lnTo>
                  <a:lnTo>
                    <a:pt x="0" y="61912"/>
                  </a:lnTo>
                  <a:lnTo>
                    <a:pt x="0" y="185737"/>
                  </a:lnTo>
                  <a:lnTo>
                    <a:pt x="339726" y="185737"/>
                  </a:lnTo>
                  <a:lnTo>
                    <a:pt x="339726" y="247650"/>
                  </a:lnTo>
                  <a:lnTo>
                    <a:pt x="463550" y="123826"/>
                  </a:lnTo>
                  <a:lnTo>
                    <a:pt x="339726" y="0"/>
                  </a:lnTo>
                  <a:close/>
                </a:path>
              </a:pathLst>
            </a:custGeom>
            <a:solidFill>
              <a:srgbClr val="4471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424737" y="2268537"/>
              <a:ext cx="463550" cy="247650"/>
            </a:xfrm>
            <a:custGeom>
              <a:avLst/>
              <a:gdLst/>
              <a:ahLst/>
              <a:cxnLst/>
              <a:rect l="l" t="t" r="r" b="b"/>
              <a:pathLst>
                <a:path w="463550" h="247650">
                  <a:moveTo>
                    <a:pt x="0" y="61912"/>
                  </a:moveTo>
                  <a:lnTo>
                    <a:pt x="339725" y="61912"/>
                  </a:lnTo>
                  <a:lnTo>
                    <a:pt x="339725" y="0"/>
                  </a:lnTo>
                  <a:lnTo>
                    <a:pt x="463550" y="123825"/>
                  </a:lnTo>
                  <a:lnTo>
                    <a:pt x="339725" y="247650"/>
                  </a:lnTo>
                  <a:lnTo>
                    <a:pt x="339725" y="185737"/>
                  </a:lnTo>
                  <a:lnTo>
                    <a:pt x="0" y="185737"/>
                  </a:lnTo>
                  <a:lnTo>
                    <a:pt x="0" y="61912"/>
                  </a:lnTo>
                  <a:close/>
                </a:path>
              </a:pathLst>
            </a:custGeom>
            <a:ln w="12700">
              <a:solidFill>
                <a:srgbClr val="2E51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9388475" y="2262187"/>
            <a:ext cx="474980" cy="260350"/>
            <a:chOff x="9388475" y="2262187"/>
            <a:chExt cx="474980" cy="260350"/>
          </a:xfrm>
        </p:grpSpPr>
        <p:sp>
          <p:nvSpPr>
            <p:cNvPr id="9" name="object 9"/>
            <p:cNvSpPr/>
            <p:nvPr/>
          </p:nvSpPr>
          <p:spPr>
            <a:xfrm>
              <a:off x="9394825" y="2268537"/>
              <a:ext cx="462280" cy="247650"/>
            </a:xfrm>
            <a:custGeom>
              <a:avLst/>
              <a:gdLst/>
              <a:ahLst/>
              <a:cxnLst/>
              <a:rect l="l" t="t" r="r" b="b"/>
              <a:pathLst>
                <a:path w="462279" h="247650">
                  <a:moveTo>
                    <a:pt x="338138" y="0"/>
                  </a:moveTo>
                  <a:lnTo>
                    <a:pt x="338138" y="61912"/>
                  </a:lnTo>
                  <a:lnTo>
                    <a:pt x="0" y="61912"/>
                  </a:lnTo>
                  <a:lnTo>
                    <a:pt x="0" y="185737"/>
                  </a:lnTo>
                  <a:lnTo>
                    <a:pt x="338138" y="185737"/>
                  </a:lnTo>
                  <a:lnTo>
                    <a:pt x="338138" y="247650"/>
                  </a:lnTo>
                  <a:lnTo>
                    <a:pt x="461962" y="123826"/>
                  </a:lnTo>
                  <a:lnTo>
                    <a:pt x="338138" y="0"/>
                  </a:lnTo>
                  <a:close/>
                </a:path>
              </a:pathLst>
            </a:custGeom>
            <a:solidFill>
              <a:srgbClr val="4471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394825" y="2268537"/>
              <a:ext cx="462280" cy="247650"/>
            </a:xfrm>
            <a:custGeom>
              <a:avLst/>
              <a:gdLst/>
              <a:ahLst/>
              <a:cxnLst/>
              <a:rect l="l" t="t" r="r" b="b"/>
              <a:pathLst>
                <a:path w="462279" h="247650">
                  <a:moveTo>
                    <a:pt x="0" y="61912"/>
                  </a:moveTo>
                  <a:lnTo>
                    <a:pt x="338138" y="61912"/>
                  </a:lnTo>
                  <a:lnTo>
                    <a:pt x="338138" y="0"/>
                  </a:lnTo>
                  <a:lnTo>
                    <a:pt x="461963" y="123825"/>
                  </a:lnTo>
                  <a:lnTo>
                    <a:pt x="338138" y="247650"/>
                  </a:lnTo>
                  <a:lnTo>
                    <a:pt x="338138" y="185737"/>
                  </a:lnTo>
                  <a:lnTo>
                    <a:pt x="0" y="185737"/>
                  </a:lnTo>
                  <a:lnTo>
                    <a:pt x="0" y="61912"/>
                  </a:lnTo>
                  <a:close/>
                </a:path>
              </a:pathLst>
            </a:custGeom>
            <a:ln w="12700">
              <a:solidFill>
                <a:srgbClr val="2E51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7418387" y="5268912"/>
            <a:ext cx="476250" cy="260350"/>
            <a:chOff x="7418387" y="5268912"/>
            <a:chExt cx="476250" cy="260350"/>
          </a:xfrm>
        </p:grpSpPr>
        <p:sp>
          <p:nvSpPr>
            <p:cNvPr id="12" name="object 12"/>
            <p:cNvSpPr/>
            <p:nvPr/>
          </p:nvSpPr>
          <p:spPr>
            <a:xfrm>
              <a:off x="7424737" y="5275262"/>
              <a:ext cx="463550" cy="247650"/>
            </a:xfrm>
            <a:custGeom>
              <a:avLst/>
              <a:gdLst/>
              <a:ahLst/>
              <a:cxnLst/>
              <a:rect l="l" t="t" r="r" b="b"/>
              <a:pathLst>
                <a:path w="463550" h="247650">
                  <a:moveTo>
                    <a:pt x="339726" y="0"/>
                  </a:moveTo>
                  <a:lnTo>
                    <a:pt x="339726" y="61912"/>
                  </a:lnTo>
                  <a:lnTo>
                    <a:pt x="0" y="61912"/>
                  </a:lnTo>
                  <a:lnTo>
                    <a:pt x="0" y="185737"/>
                  </a:lnTo>
                  <a:lnTo>
                    <a:pt x="339726" y="185737"/>
                  </a:lnTo>
                  <a:lnTo>
                    <a:pt x="339726" y="247650"/>
                  </a:lnTo>
                  <a:lnTo>
                    <a:pt x="463550" y="123826"/>
                  </a:lnTo>
                  <a:lnTo>
                    <a:pt x="339726" y="0"/>
                  </a:lnTo>
                  <a:close/>
                </a:path>
              </a:pathLst>
            </a:custGeom>
            <a:solidFill>
              <a:srgbClr val="4471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424737" y="5275262"/>
              <a:ext cx="463550" cy="247650"/>
            </a:xfrm>
            <a:custGeom>
              <a:avLst/>
              <a:gdLst/>
              <a:ahLst/>
              <a:cxnLst/>
              <a:rect l="l" t="t" r="r" b="b"/>
              <a:pathLst>
                <a:path w="463550" h="247650">
                  <a:moveTo>
                    <a:pt x="0" y="61912"/>
                  </a:moveTo>
                  <a:lnTo>
                    <a:pt x="339725" y="61912"/>
                  </a:lnTo>
                  <a:lnTo>
                    <a:pt x="339725" y="0"/>
                  </a:lnTo>
                  <a:lnTo>
                    <a:pt x="463550" y="123825"/>
                  </a:lnTo>
                  <a:lnTo>
                    <a:pt x="339725" y="247650"/>
                  </a:lnTo>
                  <a:lnTo>
                    <a:pt x="339725" y="185737"/>
                  </a:lnTo>
                  <a:lnTo>
                    <a:pt x="0" y="185737"/>
                  </a:lnTo>
                  <a:lnTo>
                    <a:pt x="0" y="61912"/>
                  </a:lnTo>
                  <a:close/>
                </a:path>
              </a:pathLst>
            </a:custGeom>
            <a:ln w="12700">
              <a:solidFill>
                <a:srgbClr val="2E51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9382124" y="3765550"/>
            <a:ext cx="474980" cy="260350"/>
            <a:chOff x="9382124" y="3765550"/>
            <a:chExt cx="474980" cy="260350"/>
          </a:xfrm>
        </p:grpSpPr>
        <p:sp>
          <p:nvSpPr>
            <p:cNvPr id="15" name="object 15"/>
            <p:cNvSpPr/>
            <p:nvPr/>
          </p:nvSpPr>
          <p:spPr>
            <a:xfrm>
              <a:off x="9388474" y="3771900"/>
              <a:ext cx="462280" cy="247650"/>
            </a:xfrm>
            <a:custGeom>
              <a:avLst/>
              <a:gdLst/>
              <a:ahLst/>
              <a:cxnLst/>
              <a:rect l="l" t="t" r="r" b="b"/>
              <a:pathLst>
                <a:path w="462279" h="247650">
                  <a:moveTo>
                    <a:pt x="123825" y="0"/>
                  </a:moveTo>
                  <a:lnTo>
                    <a:pt x="0" y="123825"/>
                  </a:lnTo>
                  <a:lnTo>
                    <a:pt x="123825" y="247650"/>
                  </a:lnTo>
                  <a:lnTo>
                    <a:pt x="123825" y="185737"/>
                  </a:lnTo>
                  <a:lnTo>
                    <a:pt x="461962" y="185737"/>
                  </a:lnTo>
                  <a:lnTo>
                    <a:pt x="461962" y="61912"/>
                  </a:lnTo>
                  <a:lnTo>
                    <a:pt x="123825" y="61912"/>
                  </a:lnTo>
                  <a:lnTo>
                    <a:pt x="123825" y="0"/>
                  </a:lnTo>
                  <a:close/>
                </a:path>
              </a:pathLst>
            </a:custGeom>
            <a:solidFill>
              <a:srgbClr val="4471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388474" y="3771900"/>
              <a:ext cx="462280" cy="247650"/>
            </a:xfrm>
            <a:custGeom>
              <a:avLst/>
              <a:gdLst/>
              <a:ahLst/>
              <a:cxnLst/>
              <a:rect l="l" t="t" r="r" b="b"/>
              <a:pathLst>
                <a:path w="462279" h="247650">
                  <a:moveTo>
                    <a:pt x="461963" y="185737"/>
                  </a:moveTo>
                  <a:lnTo>
                    <a:pt x="123824" y="185737"/>
                  </a:lnTo>
                  <a:lnTo>
                    <a:pt x="123824" y="247650"/>
                  </a:lnTo>
                  <a:lnTo>
                    <a:pt x="0" y="123824"/>
                  </a:lnTo>
                  <a:lnTo>
                    <a:pt x="123824" y="0"/>
                  </a:lnTo>
                  <a:lnTo>
                    <a:pt x="123824" y="61912"/>
                  </a:lnTo>
                  <a:lnTo>
                    <a:pt x="461963" y="61912"/>
                  </a:lnTo>
                  <a:lnTo>
                    <a:pt x="461963" y="185737"/>
                  </a:lnTo>
                  <a:close/>
                </a:path>
              </a:pathLst>
            </a:custGeom>
            <a:ln w="12700">
              <a:solidFill>
                <a:srgbClr val="2E51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7415213" y="3763962"/>
            <a:ext cx="474980" cy="260350"/>
            <a:chOff x="7415213" y="3763962"/>
            <a:chExt cx="474980" cy="260350"/>
          </a:xfrm>
        </p:grpSpPr>
        <p:sp>
          <p:nvSpPr>
            <p:cNvPr id="18" name="object 18"/>
            <p:cNvSpPr/>
            <p:nvPr/>
          </p:nvSpPr>
          <p:spPr>
            <a:xfrm>
              <a:off x="7421562" y="3770313"/>
              <a:ext cx="462280" cy="247650"/>
            </a:xfrm>
            <a:custGeom>
              <a:avLst/>
              <a:gdLst/>
              <a:ahLst/>
              <a:cxnLst/>
              <a:rect l="l" t="t" r="r" b="b"/>
              <a:pathLst>
                <a:path w="462279" h="247650">
                  <a:moveTo>
                    <a:pt x="123825" y="0"/>
                  </a:moveTo>
                  <a:lnTo>
                    <a:pt x="0" y="123823"/>
                  </a:lnTo>
                  <a:lnTo>
                    <a:pt x="123825" y="247648"/>
                  </a:lnTo>
                  <a:lnTo>
                    <a:pt x="123825" y="185737"/>
                  </a:lnTo>
                  <a:lnTo>
                    <a:pt x="461962" y="185737"/>
                  </a:lnTo>
                  <a:lnTo>
                    <a:pt x="461962" y="61912"/>
                  </a:lnTo>
                  <a:lnTo>
                    <a:pt x="123825" y="61912"/>
                  </a:lnTo>
                  <a:lnTo>
                    <a:pt x="123825" y="0"/>
                  </a:lnTo>
                  <a:close/>
                </a:path>
              </a:pathLst>
            </a:custGeom>
            <a:solidFill>
              <a:srgbClr val="4471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421563" y="3770312"/>
              <a:ext cx="462280" cy="247650"/>
            </a:xfrm>
            <a:custGeom>
              <a:avLst/>
              <a:gdLst/>
              <a:ahLst/>
              <a:cxnLst/>
              <a:rect l="l" t="t" r="r" b="b"/>
              <a:pathLst>
                <a:path w="462279" h="247650">
                  <a:moveTo>
                    <a:pt x="461962" y="185737"/>
                  </a:moveTo>
                  <a:lnTo>
                    <a:pt x="123824" y="185737"/>
                  </a:lnTo>
                  <a:lnTo>
                    <a:pt x="123824" y="247649"/>
                  </a:lnTo>
                  <a:lnTo>
                    <a:pt x="0" y="123824"/>
                  </a:lnTo>
                  <a:lnTo>
                    <a:pt x="123824" y="0"/>
                  </a:lnTo>
                  <a:lnTo>
                    <a:pt x="123824" y="61912"/>
                  </a:lnTo>
                  <a:lnTo>
                    <a:pt x="461962" y="61912"/>
                  </a:lnTo>
                  <a:lnTo>
                    <a:pt x="461962" y="185737"/>
                  </a:lnTo>
                  <a:close/>
                </a:path>
              </a:pathLst>
            </a:custGeom>
            <a:ln w="12700">
              <a:solidFill>
                <a:srgbClr val="2E51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10482263" y="2947987"/>
            <a:ext cx="271780" cy="392430"/>
            <a:chOff x="10482263" y="2947987"/>
            <a:chExt cx="271780" cy="392430"/>
          </a:xfrm>
        </p:grpSpPr>
        <p:sp>
          <p:nvSpPr>
            <p:cNvPr id="21" name="object 21"/>
            <p:cNvSpPr/>
            <p:nvPr/>
          </p:nvSpPr>
          <p:spPr>
            <a:xfrm>
              <a:off x="10488612" y="2954337"/>
              <a:ext cx="259079" cy="379730"/>
            </a:xfrm>
            <a:custGeom>
              <a:avLst/>
              <a:gdLst/>
              <a:ahLst/>
              <a:cxnLst/>
              <a:rect l="l" t="t" r="r" b="b"/>
              <a:pathLst>
                <a:path w="259079" h="379729">
                  <a:moveTo>
                    <a:pt x="194072" y="0"/>
                  </a:moveTo>
                  <a:lnTo>
                    <a:pt x="64691" y="0"/>
                  </a:lnTo>
                  <a:lnTo>
                    <a:pt x="64691" y="250031"/>
                  </a:lnTo>
                  <a:lnTo>
                    <a:pt x="0" y="250031"/>
                  </a:lnTo>
                  <a:lnTo>
                    <a:pt x="129381" y="379412"/>
                  </a:lnTo>
                  <a:lnTo>
                    <a:pt x="258762" y="250031"/>
                  </a:lnTo>
                  <a:lnTo>
                    <a:pt x="194072" y="250031"/>
                  </a:lnTo>
                  <a:lnTo>
                    <a:pt x="194072" y="0"/>
                  </a:lnTo>
                  <a:close/>
                </a:path>
              </a:pathLst>
            </a:custGeom>
            <a:solidFill>
              <a:srgbClr val="4471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488613" y="2954337"/>
              <a:ext cx="259079" cy="379730"/>
            </a:xfrm>
            <a:custGeom>
              <a:avLst/>
              <a:gdLst/>
              <a:ahLst/>
              <a:cxnLst/>
              <a:rect l="l" t="t" r="r" b="b"/>
              <a:pathLst>
                <a:path w="259079" h="379729">
                  <a:moveTo>
                    <a:pt x="194071" y="0"/>
                  </a:moveTo>
                  <a:lnTo>
                    <a:pt x="194071" y="250031"/>
                  </a:lnTo>
                  <a:lnTo>
                    <a:pt x="258762" y="250031"/>
                  </a:lnTo>
                  <a:lnTo>
                    <a:pt x="129381" y="379412"/>
                  </a:lnTo>
                  <a:lnTo>
                    <a:pt x="0" y="250031"/>
                  </a:lnTo>
                  <a:lnTo>
                    <a:pt x="64690" y="250031"/>
                  </a:lnTo>
                  <a:lnTo>
                    <a:pt x="64690" y="0"/>
                  </a:lnTo>
                  <a:lnTo>
                    <a:pt x="194071" y="0"/>
                  </a:lnTo>
                  <a:close/>
                </a:path>
              </a:pathLst>
            </a:custGeom>
            <a:ln w="12700">
              <a:solidFill>
                <a:srgbClr val="2E51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6523038" y="4483100"/>
            <a:ext cx="271780" cy="390525"/>
            <a:chOff x="6523038" y="4483100"/>
            <a:chExt cx="271780" cy="390525"/>
          </a:xfrm>
        </p:grpSpPr>
        <p:sp>
          <p:nvSpPr>
            <p:cNvPr id="24" name="object 24"/>
            <p:cNvSpPr/>
            <p:nvPr/>
          </p:nvSpPr>
          <p:spPr>
            <a:xfrm>
              <a:off x="6529387" y="4489450"/>
              <a:ext cx="259079" cy="377825"/>
            </a:xfrm>
            <a:custGeom>
              <a:avLst/>
              <a:gdLst/>
              <a:ahLst/>
              <a:cxnLst/>
              <a:rect l="l" t="t" r="r" b="b"/>
              <a:pathLst>
                <a:path w="259079" h="377825">
                  <a:moveTo>
                    <a:pt x="194071" y="0"/>
                  </a:moveTo>
                  <a:lnTo>
                    <a:pt x="64691" y="0"/>
                  </a:lnTo>
                  <a:lnTo>
                    <a:pt x="64691" y="248445"/>
                  </a:lnTo>
                  <a:lnTo>
                    <a:pt x="0" y="248445"/>
                  </a:lnTo>
                  <a:lnTo>
                    <a:pt x="129381" y="377825"/>
                  </a:lnTo>
                  <a:lnTo>
                    <a:pt x="258762" y="248445"/>
                  </a:lnTo>
                  <a:lnTo>
                    <a:pt x="194071" y="248445"/>
                  </a:lnTo>
                  <a:lnTo>
                    <a:pt x="194071" y="0"/>
                  </a:lnTo>
                  <a:close/>
                </a:path>
              </a:pathLst>
            </a:custGeom>
            <a:solidFill>
              <a:srgbClr val="4471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529388" y="4489450"/>
              <a:ext cx="259079" cy="377825"/>
            </a:xfrm>
            <a:custGeom>
              <a:avLst/>
              <a:gdLst/>
              <a:ahLst/>
              <a:cxnLst/>
              <a:rect l="l" t="t" r="r" b="b"/>
              <a:pathLst>
                <a:path w="259079" h="377825">
                  <a:moveTo>
                    <a:pt x="194071" y="0"/>
                  </a:moveTo>
                  <a:lnTo>
                    <a:pt x="194071" y="248444"/>
                  </a:lnTo>
                  <a:lnTo>
                    <a:pt x="258762" y="248444"/>
                  </a:lnTo>
                  <a:lnTo>
                    <a:pt x="129380" y="377825"/>
                  </a:lnTo>
                  <a:lnTo>
                    <a:pt x="0" y="248444"/>
                  </a:lnTo>
                  <a:lnTo>
                    <a:pt x="64690" y="248444"/>
                  </a:lnTo>
                  <a:lnTo>
                    <a:pt x="64690" y="0"/>
                  </a:lnTo>
                  <a:lnTo>
                    <a:pt x="194071" y="0"/>
                  </a:lnTo>
                  <a:close/>
                </a:path>
              </a:pathLst>
            </a:custGeom>
            <a:ln w="12700">
              <a:solidFill>
                <a:srgbClr val="2E51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9478" y="1820164"/>
            <a:ext cx="4189095" cy="33966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41300" marR="29845" indent="-228600">
              <a:lnSpc>
                <a:spcPct val="98600"/>
              </a:lnSpc>
              <a:spcBef>
                <a:spcPts val="13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Data</a:t>
            </a:r>
            <a:r>
              <a:rPr sz="22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collection</a:t>
            </a:r>
            <a:r>
              <a:rPr sz="2200" spc="-6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was</a:t>
            </a:r>
            <a:r>
              <a:rPr sz="2200" spc="-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used</a:t>
            </a:r>
            <a:r>
              <a:rPr sz="2200" spc="-6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272727"/>
                </a:solidFill>
                <a:latin typeface="Calibri"/>
                <a:cs typeface="Calibri"/>
              </a:rPr>
              <a:t>web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scraping</a:t>
            </a:r>
            <a:r>
              <a:rPr sz="2200" spc="-9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process</a:t>
            </a:r>
            <a:r>
              <a:rPr sz="2200" spc="-8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using</a:t>
            </a:r>
            <a:r>
              <a:rPr sz="2200" spc="-8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key</a:t>
            </a:r>
            <a:r>
              <a:rPr sz="2200" spc="-8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72727"/>
                </a:solidFill>
                <a:latin typeface="Calibri"/>
                <a:cs typeface="Calibri"/>
              </a:rPr>
              <a:t>phrases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and</a:t>
            </a:r>
            <a:r>
              <a:rPr sz="2200" spc="-2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72727"/>
                </a:solidFill>
                <a:latin typeface="Calibri"/>
                <a:cs typeface="Calibri"/>
              </a:rPr>
              <a:t>flowcharts.</a:t>
            </a:r>
            <a:endParaRPr sz="2200">
              <a:latin typeface="Calibri"/>
              <a:cs typeface="Calibri"/>
            </a:endParaRPr>
          </a:p>
          <a:p>
            <a:pPr marL="241300" marR="513080" indent="-228600">
              <a:lnSpc>
                <a:spcPct val="100000"/>
              </a:lnSpc>
              <a:spcBef>
                <a:spcPts val="146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spc="-10" dirty="0">
                <a:solidFill>
                  <a:srgbClr val="272727"/>
                </a:solidFill>
                <a:latin typeface="Calibri"/>
                <a:cs typeface="Calibri"/>
              </a:rPr>
              <a:t>Refer</a:t>
            </a:r>
            <a:r>
              <a:rPr sz="22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to</a:t>
            </a:r>
            <a:r>
              <a:rPr sz="2200" spc="-4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my</a:t>
            </a:r>
            <a:r>
              <a:rPr sz="2200" spc="-4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GitHub</a:t>
            </a:r>
            <a:r>
              <a:rPr sz="2200" spc="-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URL</a:t>
            </a:r>
            <a:r>
              <a:rPr sz="2200" spc="-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of</a:t>
            </a:r>
            <a:r>
              <a:rPr sz="2200" spc="-4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272727"/>
                </a:solidFill>
                <a:latin typeface="Calibri"/>
                <a:cs typeface="Calibri"/>
              </a:rPr>
              <a:t>the </a:t>
            </a:r>
            <a:r>
              <a:rPr sz="2200" spc="-10" dirty="0">
                <a:solidFill>
                  <a:srgbClr val="272727"/>
                </a:solidFill>
                <a:latin typeface="Calibri"/>
                <a:cs typeface="Calibri"/>
              </a:rPr>
              <a:t>completed</a:t>
            </a:r>
            <a:r>
              <a:rPr sz="2200" spc="-3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SpaceX</a:t>
            </a:r>
            <a:r>
              <a:rPr sz="2200" spc="-3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API</a:t>
            </a:r>
            <a:r>
              <a:rPr sz="2200" spc="-3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272727"/>
                </a:solidFill>
                <a:latin typeface="Calibri"/>
                <a:cs typeface="Calibri"/>
              </a:rPr>
              <a:t>calls </a:t>
            </a:r>
            <a:r>
              <a:rPr sz="2200" spc="-10" dirty="0">
                <a:solidFill>
                  <a:srgbClr val="272727"/>
                </a:solidFill>
                <a:latin typeface="Calibri"/>
                <a:cs typeface="Calibri"/>
              </a:rPr>
              <a:t>notebook:</a:t>
            </a:r>
            <a:endParaRPr sz="2200">
              <a:latin typeface="Calibri"/>
              <a:cs typeface="Calibri"/>
            </a:endParaRPr>
          </a:p>
          <a:p>
            <a:pPr marL="241300" marR="5080" indent="-228600">
              <a:lnSpc>
                <a:spcPct val="100499"/>
              </a:lnSpc>
              <a:spcBef>
                <a:spcPts val="1355"/>
              </a:spcBef>
              <a:buClr>
                <a:srgbClr val="272727"/>
              </a:buClr>
              <a:buFont typeface="Arial MT"/>
              <a:buChar char="•"/>
              <a:tabLst>
                <a:tab pos="241300" algn="l"/>
              </a:tabLst>
            </a:pPr>
            <a:r>
              <a:rPr sz="2200" u="dash" spc="-10" dirty="0">
                <a:solidFill>
                  <a:srgbClr val="0363C0"/>
                </a:solidFill>
                <a:uFill>
                  <a:solidFill>
                    <a:srgbClr val="0363C0"/>
                  </a:solidFill>
                </a:uFill>
                <a:latin typeface="Calibri"/>
                <a:cs typeface="Calibri"/>
              </a:rPr>
              <a:t>https://github.com/Moheid/IBM-</a:t>
            </a:r>
            <a:r>
              <a:rPr sz="2200" spc="-10" dirty="0">
                <a:solidFill>
                  <a:srgbClr val="0363C0"/>
                </a:solidFill>
                <a:latin typeface="Calibri"/>
                <a:cs typeface="Calibri"/>
              </a:rPr>
              <a:t> </a:t>
            </a:r>
            <a:r>
              <a:rPr sz="2200" u="dash" spc="-30" dirty="0">
                <a:solidFill>
                  <a:srgbClr val="0363C0"/>
                </a:solidFill>
                <a:uFill>
                  <a:solidFill>
                    <a:srgbClr val="0363C0"/>
                  </a:solidFill>
                </a:uFill>
                <a:latin typeface="Calibri"/>
                <a:cs typeface="Calibri"/>
              </a:rPr>
              <a:t>SpaceY-</a:t>
            </a:r>
            <a:r>
              <a:rPr sz="2200" u="dash" spc="-10" dirty="0">
                <a:solidFill>
                  <a:srgbClr val="0363C0"/>
                </a:solidFill>
                <a:uFill>
                  <a:solidFill>
                    <a:srgbClr val="0363C0"/>
                  </a:solidFill>
                </a:uFill>
                <a:latin typeface="Calibri"/>
                <a:cs typeface="Calibri"/>
              </a:rPr>
              <a:t>DS-Capstone/blob/main/2-</a:t>
            </a:r>
            <a:r>
              <a:rPr sz="2200" spc="-10" dirty="0">
                <a:solidFill>
                  <a:srgbClr val="0363C0"/>
                </a:solidFill>
                <a:latin typeface="Calibri"/>
                <a:cs typeface="Calibri"/>
              </a:rPr>
              <a:t> </a:t>
            </a:r>
            <a:r>
              <a:rPr sz="2200" u="dash" spc="-25" dirty="0">
                <a:solidFill>
                  <a:srgbClr val="0363C0"/>
                </a:solidFill>
                <a:uFill>
                  <a:solidFill>
                    <a:srgbClr val="0363C0"/>
                  </a:solidFill>
                </a:uFill>
                <a:latin typeface="Calibri"/>
                <a:cs typeface="Calibri"/>
              </a:rPr>
              <a:t>data-</a:t>
            </a:r>
            <a:r>
              <a:rPr sz="2200" u="dash" spc="-10" dirty="0">
                <a:solidFill>
                  <a:srgbClr val="0363C0"/>
                </a:solidFill>
                <a:uFill>
                  <a:solidFill>
                    <a:srgbClr val="0363C0"/>
                  </a:solidFill>
                </a:uFill>
                <a:latin typeface="Calibri"/>
                <a:cs typeface="Calibri"/>
              </a:rPr>
              <a:t>collection-webscraping.ipynb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80" dirty="0"/>
              <a:t> </a:t>
            </a:r>
            <a:r>
              <a:rPr dirty="0"/>
              <a:t>Collection</a:t>
            </a:r>
            <a:r>
              <a:rPr spc="-70" dirty="0"/>
              <a:t> </a:t>
            </a:r>
            <a:r>
              <a:rPr dirty="0"/>
              <a:t>–</a:t>
            </a:r>
            <a:r>
              <a:rPr spc="-80" dirty="0"/>
              <a:t> </a:t>
            </a:r>
            <a:r>
              <a:rPr spc="-10" dirty="0"/>
              <a:t>Scraping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900737" y="1781968"/>
          <a:ext cx="5556250" cy="4205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04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9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3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8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58875">
                <a:tc>
                  <a:txBody>
                    <a:bodyPr/>
                    <a:lstStyle/>
                    <a:p>
                      <a:pPr marL="116839" marR="106680" indent="-635" algn="ctr">
                        <a:lnSpc>
                          <a:spcPct val="100400"/>
                        </a:lnSpc>
                        <a:spcBef>
                          <a:spcPts val="57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Requesting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Falcon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9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launch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from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Wikipedia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2700">
                      <a:solidFill>
                        <a:srgbClr val="4471C3"/>
                      </a:solidFill>
                      <a:prstDash val="solid"/>
                    </a:lnR>
                    <a:lnT w="19050">
                      <a:solidFill>
                        <a:srgbClr val="4471C3"/>
                      </a:solidFill>
                      <a:prstDash val="solid"/>
                    </a:lnT>
                    <a:lnB w="12700">
                      <a:solidFill>
                        <a:srgbClr val="4471C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2700">
                      <a:solidFill>
                        <a:srgbClr val="4471C3"/>
                      </a:solidFill>
                      <a:prstDash val="solid"/>
                    </a:lnR>
                    <a:lnT w="12700">
                      <a:solidFill>
                        <a:srgbClr val="0B47C9"/>
                      </a:solidFill>
                      <a:prstDash val="sysDash"/>
                    </a:lnT>
                  </a:tcPr>
                </a:tc>
                <a:tc>
                  <a:txBody>
                    <a:bodyPr/>
                    <a:lstStyle/>
                    <a:p>
                      <a:pPr marL="191770" marR="184150" indent="-635" algn="ctr">
                        <a:lnSpc>
                          <a:spcPct val="101000"/>
                        </a:lnSpc>
                        <a:spcBef>
                          <a:spcPts val="112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Creating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a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BeautifulSoup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object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HTML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response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2875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2700">
                      <a:solidFill>
                        <a:srgbClr val="4471C3"/>
                      </a:solidFill>
                      <a:prstDash val="solid"/>
                    </a:lnR>
                    <a:lnT w="28575">
                      <a:solidFill>
                        <a:srgbClr val="4471C3"/>
                      </a:solidFill>
                      <a:prstDash val="solid"/>
                    </a:lnT>
                    <a:lnB w="12700">
                      <a:solidFill>
                        <a:srgbClr val="4471C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2700">
                      <a:solidFill>
                        <a:srgbClr val="4471C3"/>
                      </a:solidFill>
                      <a:prstDash val="solid"/>
                    </a:lnR>
                    <a:lnT w="12700">
                      <a:solidFill>
                        <a:srgbClr val="0B47C9"/>
                      </a:solidFill>
                      <a:prstDash val="sysDash"/>
                    </a:lnT>
                  </a:tcPr>
                </a:tc>
                <a:tc>
                  <a:txBody>
                    <a:bodyPr/>
                    <a:lstStyle/>
                    <a:p>
                      <a:pPr marL="210820" marR="192405" indent="-1270" algn="ctr">
                        <a:lnSpc>
                          <a:spcPct val="101000"/>
                        </a:lnSpc>
                        <a:spcBef>
                          <a:spcPts val="124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Extracting</a:t>
                      </a:r>
                      <a:r>
                        <a:rPr sz="14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all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column</a:t>
                      </a:r>
                      <a:r>
                        <a:rPr sz="14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names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HTML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table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header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58115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9050">
                      <a:solidFill>
                        <a:srgbClr val="4471C3"/>
                      </a:solidFill>
                      <a:prstDash val="solid"/>
                    </a:lnR>
                    <a:lnT w="12700">
                      <a:solidFill>
                        <a:srgbClr val="4471C3"/>
                      </a:solidFill>
                      <a:prstDash val="solid"/>
                    </a:lnT>
                    <a:lnB w="12700">
                      <a:solidFill>
                        <a:srgbClr val="4471C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665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B47C9"/>
                      </a:solidFill>
                      <a:prstDash val="sysDash"/>
                    </a:lnL>
                    <a:lnR w="12700">
                      <a:solidFill>
                        <a:srgbClr val="0B47C9"/>
                      </a:solidFill>
                      <a:prstDash val="sysDash"/>
                    </a:lnR>
                    <a:lnT w="12700" cap="flat" cmpd="sng" algn="ctr">
                      <a:solidFill>
                        <a:srgbClr val="447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815">
                <a:tc rowSpan="4">
                  <a:txBody>
                    <a:bodyPr/>
                    <a:lstStyle/>
                    <a:p>
                      <a:pPr marL="104139" marR="93980" algn="ctr">
                        <a:lnSpc>
                          <a:spcPts val="1900"/>
                        </a:lnSpc>
                        <a:spcBef>
                          <a:spcPts val="164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Creating</a:t>
                      </a:r>
                      <a:r>
                        <a:rPr sz="16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a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dataframe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from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dictionary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08915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2700">
                      <a:solidFill>
                        <a:srgbClr val="4471C3"/>
                      </a:solidFill>
                      <a:prstDash val="solid"/>
                    </a:lnR>
                    <a:lnB w="12700">
                      <a:solidFill>
                        <a:srgbClr val="4471C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2700">
                      <a:solidFill>
                        <a:srgbClr val="4471C3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30"/>
                        </a:lnSpc>
                        <a:spcBef>
                          <a:spcPts val="114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Constructing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2700">
                      <a:solidFill>
                        <a:srgbClr val="4471C3"/>
                      </a:solidFill>
                      <a:prstDash val="solid"/>
                    </a:lnR>
                    <a:lnT w="12700">
                      <a:solidFill>
                        <a:srgbClr val="4471C3"/>
                      </a:solidFill>
                      <a:prstDash val="solid"/>
                    </a:lnT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2700">
                      <a:solidFill>
                        <a:srgbClr val="4471C3"/>
                      </a:solidFill>
                      <a:prstDash val="solid"/>
                    </a:lnR>
                  </a:tcPr>
                </a:tc>
                <a:tc rowSpan="4">
                  <a:txBody>
                    <a:bodyPr/>
                    <a:lstStyle/>
                    <a:p>
                      <a:pPr marL="107314" marR="113030" algn="ctr">
                        <a:lnSpc>
                          <a:spcPct val="100400"/>
                        </a:lnSpc>
                        <a:spcBef>
                          <a:spcPts val="11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Collecting</a:t>
                      </a:r>
                      <a:r>
                        <a:rPr sz="18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by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parsing</a:t>
                      </a:r>
                      <a:r>
                        <a:rPr sz="18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HTML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tables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9050">
                      <a:solidFill>
                        <a:srgbClr val="4471C3"/>
                      </a:solidFill>
                      <a:prstDash val="solid"/>
                    </a:lnR>
                    <a:lnT w="12700">
                      <a:solidFill>
                        <a:srgbClr val="4471C3"/>
                      </a:solidFill>
                      <a:prstDash val="solid"/>
                    </a:lnT>
                    <a:lnB w="12700">
                      <a:solidFill>
                        <a:srgbClr val="4471C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0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08915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2700">
                      <a:solidFill>
                        <a:srgbClr val="4471C3"/>
                      </a:solidFill>
                      <a:prstDash val="solid"/>
                    </a:lnR>
                    <a:lnT w="12700">
                      <a:solidFill>
                        <a:srgbClr val="4471C3"/>
                      </a:solidFill>
                      <a:prstDash val="solid"/>
                    </a:lnT>
                    <a:lnB w="12700">
                      <a:solidFill>
                        <a:srgbClr val="4471C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2700">
                      <a:solidFill>
                        <a:srgbClr val="4471C3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2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we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have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2700">
                      <a:solidFill>
                        <a:srgbClr val="4471C3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2700">
                      <a:solidFill>
                        <a:srgbClr val="4471C3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970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9050">
                      <a:solidFill>
                        <a:srgbClr val="4471C3"/>
                      </a:solidFill>
                      <a:prstDash val="solid"/>
                    </a:lnR>
                    <a:lnT w="12700">
                      <a:solidFill>
                        <a:srgbClr val="4471C3"/>
                      </a:solidFill>
                      <a:prstDash val="solid"/>
                    </a:lnT>
                    <a:lnB w="12700">
                      <a:solidFill>
                        <a:srgbClr val="4471C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03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08915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2700">
                      <a:solidFill>
                        <a:srgbClr val="4471C3"/>
                      </a:solidFill>
                      <a:prstDash val="solid"/>
                    </a:lnR>
                    <a:lnT w="12700">
                      <a:solidFill>
                        <a:srgbClr val="4471C3"/>
                      </a:solidFill>
                      <a:prstDash val="solid"/>
                    </a:lnT>
                    <a:lnB w="12700">
                      <a:solidFill>
                        <a:srgbClr val="4471C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2700">
                      <a:solidFill>
                        <a:srgbClr val="4471C3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obtained</a:t>
                      </a:r>
                      <a:r>
                        <a:rPr sz="1800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into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2700">
                      <a:solidFill>
                        <a:srgbClr val="4471C3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2700">
                      <a:solidFill>
                        <a:srgbClr val="4471C3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970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9050">
                      <a:solidFill>
                        <a:srgbClr val="4471C3"/>
                      </a:solidFill>
                      <a:prstDash val="solid"/>
                    </a:lnR>
                    <a:lnT w="12700">
                      <a:solidFill>
                        <a:srgbClr val="4471C3"/>
                      </a:solidFill>
                      <a:prstDash val="solid"/>
                    </a:lnT>
                    <a:lnB w="12700">
                      <a:solidFill>
                        <a:srgbClr val="4471C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3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08915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2700">
                      <a:solidFill>
                        <a:srgbClr val="4471C3"/>
                      </a:solidFill>
                      <a:prstDash val="solid"/>
                    </a:lnR>
                    <a:lnT w="12700">
                      <a:solidFill>
                        <a:srgbClr val="4471C3"/>
                      </a:solidFill>
                      <a:prstDash val="solid"/>
                    </a:lnT>
                    <a:lnB w="12700">
                      <a:solidFill>
                        <a:srgbClr val="4471C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2700">
                      <a:solidFill>
                        <a:srgbClr val="4471C3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07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dictionary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2700">
                      <a:solidFill>
                        <a:srgbClr val="4471C3"/>
                      </a:solidFill>
                      <a:prstDash val="solid"/>
                    </a:lnR>
                    <a:lnB w="12700">
                      <a:solidFill>
                        <a:srgbClr val="4471C3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2700">
                      <a:solidFill>
                        <a:srgbClr val="4471C3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970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9050">
                      <a:solidFill>
                        <a:srgbClr val="4471C3"/>
                      </a:solidFill>
                      <a:prstDash val="solid"/>
                    </a:lnR>
                    <a:lnT w="12700">
                      <a:solidFill>
                        <a:srgbClr val="4471C3"/>
                      </a:solidFill>
                      <a:prstDash val="solid"/>
                    </a:lnT>
                    <a:lnB w="12700">
                      <a:solidFill>
                        <a:srgbClr val="4471C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015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B47C9"/>
                      </a:solidFill>
                      <a:prstDash val="sysDash"/>
                    </a:lnL>
                    <a:lnR w="12700">
                      <a:solidFill>
                        <a:srgbClr val="0B47C9"/>
                      </a:solidFill>
                      <a:prstDash val="sysDash"/>
                    </a:lnR>
                    <a:lnT w="12700" cap="flat" cmpd="sng" algn="ctr">
                      <a:solidFill>
                        <a:srgbClr val="447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52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33375" marR="260985" indent="-73660">
                        <a:lnSpc>
                          <a:spcPct val="1014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Exporting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CSV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1605" marB="0">
                    <a:lnL w="19050">
                      <a:solidFill>
                        <a:srgbClr val="4471C3"/>
                      </a:solidFill>
                      <a:prstDash val="solid"/>
                    </a:lnL>
                    <a:lnR w="12700">
                      <a:solidFill>
                        <a:srgbClr val="4471C3"/>
                      </a:solidFill>
                      <a:prstDash val="solid"/>
                    </a:lnR>
                    <a:lnB w="12700">
                      <a:solidFill>
                        <a:srgbClr val="4471C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2700">
                      <a:solidFill>
                        <a:srgbClr val="0B47C9"/>
                      </a:solidFill>
                      <a:prstDash val="sysDash"/>
                    </a:lnR>
                    <a:lnB w="12700">
                      <a:solidFill>
                        <a:srgbClr val="0B47C9"/>
                      </a:solidFill>
                      <a:prstDash val="sysDash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7418387" y="2262187"/>
            <a:ext cx="476250" cy="260350"/>
            <a:chOff x="7418387" y="2262187"/>
            <a:chExt cx="476250" cy="260350"/>
          </a:xfrm>
        </p:grpSpPr>
        <p:sp>
          <p:nvSpPr>
            <p:cNvPr id="6" name="object 6"/>
            <p:cNvSpPr/>
            <p:nvPr/>
          </p:nvSpPr>
          <p:spPr>
            <a:xfrm>
              <a:off x="7424737" y="2268537"/>
              <a:ext cx="463550" cy="247650"/>
            </a:xfrm>
            <a:custGeom>
              <a:avLst/>
              <a:gdLst/>
              <a:ahLst/>
              <a:cxnLst/>
              <a:rect l="l" t="t" r="r" b="b"/>
              <a:pathLst>
                <a:path w="463550" h="247650">
                  <a:moveTo>
                    <a:pt x="339726" y="0"/>
                  </a:moveTo>
                  <a:lnTo>
                    <a:pt x="339726" y="61912"/>
                  </a:lnTo>
                  <a:lnTo>
                    <a:pt x="0" y="61912"/>
                  </a:lnTo>
                  <a:lnTo>
                    <a:pt x="0" y="185737"/>
                  </a:lnTo>
                  <a:lnTo>
                    <a:pt x="339726" y="185737"/>
                  </a:lnTo>
                  <a:lnTo>
                    <a:pt x="339726" y="247650"/>
                  </a:lnTo>
                  <a:lnTo>
                    <a:pt x="463550" y="123826"/>
                  </a:lnTo>
                  <a:lnTo>
                    <a:pt x="339726" y="0"/>
                  </a:lnTo>
                  <a:close/>
                </a:path>
              </a:pathLst>
            </a:custGeom>
            <a:solidFill>
              <a:srgbClr val="4471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424737" y="2268537"/>
              <a:ext cx="463550" cy="247650"/>
            </a:xfrm>
            <a:custGeom>
              <a:avLst/>
              <a:gdLst/>
              <a:ahLst/>
              <a:cxnLst/>
              <a:rect l="l" t="t" r="r" b="b"/>
              <a:pathLst>
                <a:path w="463550" h="247650">
                  <a:moveTo>
                    <a:pt x="0" y="61912"/>
                  </a:moveTo>
                  <a:lnTo>
                    <a:pt x="339725" y="61912"/>
                  </a:lnTo>
                  <a:lnTo>
                    <a:pt x="339725" y="0"/>
                  </a:lnTo>
                  <a:lnTo>
                    <a:pt x="463550" y="123825"/>
                  </a:lnTo>
                  <a:lnTo>
                    <a:pt x="339725" y="247650"/>
                  </a:lnTo>
                  <a:lnTo>
                    <a:pt x="339725" y="185737"/>
                  </a:lnTo>
                  <a:lnTo>
                    <a:pt x="0" y="185737"/>
                  </a:lnTo>
                  <a:lnTo>
                    <a:pt x="0" y="61912"/>
                  </a:lnTo>
                  <a:close/>
                </a:path>
              </a:pathLst>
            </a:custGeom>
            <a:ln w="12700">
              <a:solidFill>
                <a:srgbClr val="2E51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9388475" y="2262187"/>
            <a:ext cx="474980" cy="260350"/>
            <a:chOff x="9388475" y="2262187"/>
            <a:chExt cx="474980" cy="260350"/>
          </a:xfrm>
        </p:grpSpPr>
        <p:sp>
          <p:nvSpPr>
            <p:cNvPr id="9" name="object 9"/>
            <p:cNvSpPr/>
            <p:nvPr/>
          </p:nvSpPr>
          <p:spPr>
            <a:xfrm>
              <a:off x="9394825" y="2268537"/>
              <a:ext cx="462280" cy="247650"/>
            </a:xfrm>
            <a:custGeom>
              <a:avLst/>
              <a:gdLst/>
              <a:ahLst/>
              <a:cxnLst/>
              <a:rect l="l" t="t" r="r" b="b"/>
              <a:pathLst>
                <a:path w="462279" h="247650">
                  <a:moveTo>
                    <a:pt x="338138" y="0"/>
                  </a:moveTo>
                  <a:lnTo>
                    <a:pt x="338138" y="61912"/>
                  </a:lnTo>
                  <a:lnTo>
                    <a:pt x="0" y="61912"/>
                  </a:lnTo>
                  <a:lnTo>
                    <a:pt x="0" y="185737"/>
                  </a:lnTo>
                  <a:lnTo>
                    <a:pt x="338138" y="185737"/>
                  </a:lnTo>
                  <a:lnTo>
                    <a:pt x="338138" y="247650"/>
                  </a:lnTo>
                  <a:lnTo>
                    <a:pt x="461962" y="123826"/>
                  </a:lnTo>
                  <a:lnTo>
                    <a:pt x="338138" y="0"/>
                  </a:lnTo>
                  <a:close/>
                </a:path>
              </a:pathLst>
            </a:custGeom>
            <a:solidFill>
              <a:srgbClr val="4471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394825" y="2268537"/>
              <a:ext cx="462280" cy="247650"/>
            </a:xfrm>
            <a:custGeom>
              <a:avLst/>
              <a:gdLst/>
              <a:ahLst/>
              <a:cxnLst/>
              <a:rect l="l" t="t" r="r" b="b"/>
              <a:pathLst>
                <a:path w="462279" h="247650">
                  <a:moveTo>
                    <a:pt x="0" y="61912"/>
                  </a:moveTo>
                  <a:lnTo>
                    <a:pt x="338138" y="61912"/>
                  </a:lnTo>
                  <a:lnTo>
                    <a:pt x="338138" y="0"/>
                  </a:lnTo>
                  <a:lnTo>
                    <a:pt x="461963" y="123825"/>
                  </a:lnTo>
                  <a:lnTo>
                    <a:pt x="338138" y="247650"/>
                  </a:lnTo>
                  <a:lnTo>
                    <a:pt x="338138" y="185737"/>
                  </a:lnTo>
                  <a:lnTo>
                    <a:pt x="0" y="185737"/>
                  </a:lnTo>
                  <a:lnTo>
                    <a:pt x="0" y="61912"/>
                  </a:lnTo>
                  <a:close/>
                </a:path>
              </a:pathLst>
            </a:custGeom>
            <a:ln w="12700">
              <a:solidFill>
                <a:srgbClr val="2E51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9382124" y="3765550"/>
            <a:ext cx="474980" cy="260350"/>
            <a:chOff x="9382124" y="3765550"/>
            <a:chExt cx="474980" cy="260350"/>
          </a:xfrm>
        </p:grpSpPr>
        <p:sp>
          <p:nvSpPr>
            <p:cNvPr id="12" name="object 12"/>
            <p:cNvSpPr/>
            <p:nvPr/>
          </p:nvSpPr>
          <p:spPr>
            <a:xfrm>
              <a:off x="9388474" y="3771900"/>
              <a:ext cx="462280" cy="247650"/>
            </a:xfrm>
            <a:custGeom>
              <a:avLst/>
              <a:gdLst/>
              <a:ahLst/>
              <a:cxnLst/>
              <a:rect l="l" t="t" r="r" b="b"/>
              <a:pathLst>
                <a:path w="462279" h="247650">
                  <a:moveTo>
                    <a:pt x="123825" y="0"/>
                  </a:moveTo>
                  <a:lnTo>
                    <a:pt x="0" y="123825"/>
                  </a:lnTo>
                  <a:lnTo>
                    <a:pt x="123825" y="247650"/>
                  </a:lnTo>
                  <a:lnTo>
                    <a:pt x="123825" y="185737"/>
                  </a:lnTo>
                  <a:lnTo>
                    <a:pt x="461962" y="185737"/>
                  </a:lnTo>
                  <a:lnTo>
                    <a:pt x="461962" y="61912"/>
                  </a:lnTo>
                  <a:lnTo>
                    <a:pt x="123825" y="61912"/>
                  </a:lnTo>
                  <a:lnTo>
                    <a:pt x="123825" y="0"/>
                  </a:lnTo>
                  <a:close/>
                </a:path>
              </a:pathLst>
            </a:custGeom>
            <a:solidFill>
              <a:srgbClr val="4471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388474" y="3771900"/>
              <a:ext cx="462280" cy="247650"/>
            </a:xfrm>
            <a:custGeom>
              <a:avLst/>
              <a:gdLst/>
              <a:ahLst/>
              <a:cxnLst/>
              <a:rect l="l" t="t" r="r" b="b"/>
              <a:pathLst>
                <a:path w="462279" h="247650">
                  <a:moveTo>
                    <a:pt x="461963" y="185737"/>
                  </a:moveTo>
                  <a:lnTo>
                    <a:pt x="123824" y="185737"/>
                  </a:lnTo>
                  <a:lnTo>
                    <a:pt x="123824" y="247650"/>
                  </a:lnTo>
                  <a:lnTo>
                    <a:pt x="0" y="123824"/>
                  </a:lnTo>
                  <a:lnTo>
                    <a:pt x="123824" y="0"/>
                  </a:lnTo>
                  <a:lnTo>
                    <a:pt x="123824" y="61912"/>
                  </a:lnTo>
                  <a:lnTo>
                    <a:pt x="461963" y="61912"/>
                  </a:lnTo>
                  <a:lnTo>
                    <a:pt x="461963" y="185737"/>
                  </a:lnTo>
                  <a:close/>
                </a:path>
              </a:pathLst>
            </a:custGeom>
            <a:ln w="12700">
              <a:solidFill>
                <a:srgbClr val="2E51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7415213" y="3763962"/>
            <a:ext cx="474980" cy="260350"/>
            <a:chOff x="7415213" y="3763962"/>
            <a:chExt cx="474980" cy="260350"/>
          </a:xfrm>
        </p:grpSpPr>
        <p:sp>
          <p:nvSpPr>
            <p:cNvPr id="15" name="object 15"/>
            <p:cNvSpPr/>
            <p:nvPr/>
          </p:nvSpPr>
          <p:spPr>
            <a:xfrm>
              <a:off x="7421562" y="3770313"/>
              <a:ext cx="462280" cy="247650"/>
            </a:xfrm>
            <a:custGeom>
              <a:avLst/>
              <a:gdLst/>
              <a:ahLst/>
              <a:cxnLst/>
              <a:rect l="l" t="t" r="r" b="b"/>
              <a:pathLst>
                <a:path w="462279" h="247650">
                  <a:moveTo>
                    <a:pt x="123825" y="0"/>
                  </a:moveTo>
                  <a:lnTo>
                    <a:pt x="0" y="123823"/>
                  </a:lnTo>
                  <a:lnTo>
                    <a:pt x="123825" y="247648"/>
                  </a:lnTo>
                  <a:lnTo>
                    <a:pt x="123825" y="185737"/>
                  </a:lnTo>
                  <a:lnTo>
                    <a:pt x="461962" y="185737"/>
                  </a:lnTo>
                  <a:lnTo>
                    <a:pt x="461962" y="61912"/>
                  </a:lnTo>
                  <a:lnTo>
                    <a:pt x="123825" y="61912"/>
                  </a:lnTo>
                  <a:lnTo>
                    <a:pt x="123825" y="0"/>
                  </a:lnTo>
                  <a:close/>
                </a:path>
              </a:pathLst>
            </a:custGeom>
            <a:solidFill>
              <a:srgbClr val="4471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421563" y="3770312"/>
              <a:ext cx="462280" cy="247650"/>
            </a:xfrm>
            <a:custGeom>
              <a:avLst/>
              <a:gdLst/>
              <a:ahLst/>
              <a:cxnLst/>
              <a:rect l="l" t="t" r="r" b="b"/>
              <a:pathLst>
                <a:path w="462279" h="247650">
                  <a:moveTo>
                    <a:pt x="461962" y="185737"/>
                  </a:moveTo>
                  <a:lnTo>
                    <a:pt x="123824" y="185737"/>
                  </a:lnTo>
                  <a:lnTo>
                    <a:pt x="123824" y="247649"/>
                  </a:lnTo>
                  <a:lnTo>
                    <a:pt x="0" y="123824"/>
                  </a:lnTo>
                  <a:lnTo>
                    <a:pt x="123824" y="0"/>
                  </a:lnTo>
                  <a:lnTo>
                    <a:pt x="123824" y="61912"/>
                  </a:lnTo>
                  <a:lnTo>
                    <a:pt x="461962" y="61912"/>
                  </a:lnTo>
                  <a:lnTo>
                    <a:pt x="461962" y="185737"/>
                  </a:lnTo>
                  <a:close/>
                </a:path>
              </a:pathLst>
            </a:custGeom>
            <a:ln w="12700">
              <a:solidFill>
                <a:srgbClr val="2E51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10482263" y="2947987"/>
            <a:ext cx="271780" cy="392430"/>
            <a:chOff x="10482263" y="2947987"/>
            <a:chExt cx="271780" cy="392430"/>
          </a:xfrm>
        </p:grpSpPr>
        <p:sp>
          <p:nvSpPr>
            <p:cNvPr id="18" name="object 18"/>
            <p:cNvSpPr/>
            <p:nvPr/>
          </p:nvSpPr>
          <p:spPr>
            <a:xfrm>
              <a:off x="10488612" y="2954337"/>
              <a:ext cx="259079" cy="379730"/>
            </a:xfrm>
            <a:custGeom>
              <a:avLst/>
              <a:gdLst/>
              <a:ahLst/>
              <a:cxnLst/>
              <a:rect l="l" t="t" r="r" b="b"/>
              <a:pathLst>
                <a:path w="259079" h="379729">
                  <a:moveTo>
                    <a:pt x="194072" y="0"/>
                  </a:moveTo>
                  <a:lnTo>
                    <a:pt x="64691" y="0"/>
                  </a:lnTo>
                  <a:lnTo>
                    <a:pt x="64691" y="250031"/>
                  </a:lnTo>
                  <a:lnTo>
                    <a:pt x="0" y="250031"/>
                  </a:lnTo>
                  <a:lnTo>
                    <a:pt x="129381" y="379412"/>
                  </a:lnTo>
                  <a:lnTo>
                    <a:pt x="258762" y="250031"/>
                  </a:lnTo>
                  <a:lnTo>
                    <a:pt x="194072" y="250031"/>
                  </a:lnTo>
                  <a:lnTo>
                    <a:pt x="194072" y="0"/>
                  </a:lnTo>
                  <a:close/>
                </a:path>
              </a:pathLst>
            </a:custGeom>
            <a:solidFill>
              <a:srgbClr val="4471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488613" y="2954337"/>
              <a:ext cx="259079" cy="379730"/>
            </a:xfrm>
            <a:custGeom>
              <a:avLst/>
              <a:gdLst/>
              <a:ahLst/>
              <a:cxnLst/>
              <a:rect l="l" t="t" r="r" b="b"/>
              <a:pathLst>
                <a:path w="259079" h="379729">
                  <a:moveTo>
                    <a:pt x="194071" y="0"/>
                  </a:moveTo>
                  <a:lnTo>
                    <a:pt x="194071" y="250031"/>
                  </a:lnTo>
                  <a:lnTo>
                    <a:pt x="258762" y="250031"/>
                  </a:lnTo>
                  <a:lnTo>
                    <a:pt x="129381" y="379412"/>
                  </a:lnTo>
                  <a:lnTo>
                    <a:pt x="0" y="250031"/>
                  </a:lnTo>
                  <a:lnTo>
                    <a:pt x="64690" y="250031"/>
                  </a:lnTo>
                  <a:lnTo>
                    <a:pt x="64690" y="0"/>
                  </a:lnTo>
                  <a:lnTo>
                    <a:pt x="194071" y="0"/>
                  </a:lnTo>
                  <a:close/>
                </a:path>
              </a:pathLst>
            </a:custGeom>
            <a:ln w="12700">
              <a:solidFill>
                <a:srgbClr val="2E51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6523038" y="4483100"/>
            <a:ext cx="271780" cy="390525"/>
            <a:chOff x="6523038" y="4483100"/>
            <a:chExt cx="271780" cy="390525"/>
          </a:xfrm>
        </p:grpSpPr>
        <p:sp>
          <p:nvSpPr>
            <p:cNvPr id="21" name="object 21"/>
            <p:cNvSpPr/>
            <p:nvPr/>
          </p:nvSpPr>
          <p:spPr>
            <a:xfrm>
              <a:off x="6529387" y="4489450"/>
              <a:ext cx="259079" cy="377825"/>
            </a:xfrm>
            <a:custGeom>
              <a:avLst/>
              <a:gdLst/>
              <a:ahLst/>
              <a:cxnLst/>
              <a:rect l="l" t="t" r="r" b="b"/>
              <a:pathLst>
                <a:path w="259079" h="377825">
                  <a:moveTo>
                    <a:pt x="194071" y="0"/>
                  </a:moveTo>
                  <a:lnTo>
                    <a:pt x="64691" y="0"/>
                  </a:lnTo>
                  <a:lnTo>
                    <a:pt x="64691" y="248445"/>
                  </a:lnTo>
                  <a:lnTo>
                    <a:pt x="0" y="248445"/>
                  </a:lnTo>
                  <a:lnTo>
                    <a:pt x="129381" y="377825"/>
                  </a:lnTo>
                  <a:lnTo>
                    <a:pt x="258762" y="248445"/>
                  </a:lnTo>
                  <a:lnTo>
                    <a:pt x="194071" y="248445"/>
                  </a:lnTo>
                  <a:lnTo>
                    <a:pt x="194071" y="0"/>
                  </a:lnTo>
                  <a:close/>
                </a:path>
              </a:pathLst>
            </a:custGeom>
            <a:solidFill>
              <a:srgbClr val="4471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529388" y="4489450"/>
              <a:ext cx="259079" cy="377825"/>
            </a:xfrm>
            <a:custGeom>
              <a:avLst/>
              <a:gdLst/>
              <a:ahLst/>
              <a:cxnLst/>
              <a:rect l="l" t="t" r="r" b="b"/>
              <a:pathLst>
                <a:path w="259079" h="377825">
                  <a:moveTo>
                    <a:pt x="194071" y="0"/>
                  </a:moveTo>
                  <a:lnTo>
                    <a:pt x="194071" y="248444"/>
                  </a:lnTo>
                  <a:lnTo>
                    <a:pt x="258762" y="248444"/>
                  </a:lnTo>
                  <a:lnTo>
                    <a:pt x="129380" y="377825"/>
                  </a:lnTo>
                  <a:lnTo>
                    <a:pt x="0" y="248444"/>
                  </a:lnTo>
                  <a:lnTo>
                    <a:pt x="64690" y="248444"/>
                  </a:lnTo>
                  <a:lnTo>
                    <a:pt x="64690" y="0"/>
                  </a:lnTo>
                  <a:lnTo>
                    <a:pt x="194071" y="0"/>
                  </a:lnTo>
                  <a:close/>
                </a:path>
              </a:pathLst>
            </a:custGeom>
            <a:ln w="12700">
              <a:solidFill>
                <a:srgbClr val="2E51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678" y="1819147"/>
            <a:ext cx="6122035" cy="3259454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41300" marR="5080" indent="-228600" algn="just">
              <a:lnSpc>
                <a:spcPct val="89900"/>
              </a:lnSpc>
              <a:spcBef>
                <a:spcPts val="315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In</a:t>
            </a:r>
            <a:r>
              <a:rPr sz="1800" spc="3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3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2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set,</a:t>
            </a:r>
            <a:r>
              <a:rPr sz="1800" spc="2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there</a:t>
            </a:r>
            <a:r>
              <a:rPr sz="1800" spc="3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30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several</a:t>
            </a:r>
            <a:r>
              <a:rPr sz="1800" spc="2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different</a:t>
            </a:r>
            <a:r>
              <a:rPr sz="1800" spc="2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cases</a:t>
            </a:r>
            <a:r>
              <a:rPr sz="1800" spc="2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where</a:t>
            </a:r>
            <a:r>
              <a:rPr sz="1800" spc="30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dirty="0">
                <a:latin typeface="Calibri"/>
                <a:cs typeface="Calibri"/>
              </a:rPr>
              <a:t>booster</a:t>
            </a:r>
            <a:r>
              <a:rPr sz="1800" spc="3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did</a:t>
            </a:r>
            <a:r>
              <a:rPr sz="1800" spc="3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3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land</a:t>
            </a:r>
            <a:r>
              <a:rPr sz="1800" spc="3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successfully.</a:t>
            </a:r>
            <a:r>
              <a:rPr sz="1800" spc="3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Sometimes</a:t>
            </a:r>
            <a:r>
              <a:rPr sz="1800" spc="3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3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landing</a:t>
            </a:r>
            <a:r>
              <a:rPr sz="1800" spc="32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was </a:t>
            </a:r>
            <a:r>
              <a:rPr sz="1800" dirty="0">
                <a:latin typeface="Calibri"/>
                <a:cs typeface="Calibri"/>
              </a:rPr>
              <a:t>attempted</a:t>
            </a:r>
            <a:r>
              <a:rPr sz="1800" spc="3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but</a:t>
            </a:r>
            <a:r>
              <a:rPr sz="1800" spc="3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failed</a:t>
            </a:r>
            <a:r>
              <a:rPr sz="1800" spc="3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due</a:t>
            </a:r>
            <a:r>
              <a:rPr sz="1800" spc="3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3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3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accident;</a:t>
            </a:r>
            <a:r>
              <a:rPr sz="1800" spc="3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3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example,</a:t>
            </a:r>
            <a:r>
              <a:rPr sz="1800" spc="3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True </a:t>
            </a:r>
            <a:r>
              <a:rPr sz="1800" dirty="0">
                <a:latin typeface="Calibri"/>
                <a:cs typeface="Calibri"/>
              </a:rPr>
              <a:t>Ocean</a:t>
            </a:r>
            <a:r>
              <a:rPr sz="1800" spc="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means</a:t>
            </a:r>
            <a:r>
              <a:rPr sz="1800" spc="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mission</a:t>
            </a:r>
            <a:r>
              <a:rPr sz="1800" spc="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outcome</a:t>
            </a:r>
            <a:r>
              <a:rPr sz="1800" spc="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was</a:t>
            </a:r>
            <a:r>
              <a:rPr sz="1800" spc="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successfully</a:t>
            </a:r>
            <a:r>
              <a:rPr sz="1800" spc="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landed</a:t>
            </a:r>
            <a:r>
              <a:rPr sz="1800" spc="6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to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2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specific</a:t>
            </a:r>
            <a:r>
              <a:rPr sz="1800" spc="2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region</a:t>
            </a:r>
            <a:r>
              <a:rPr sz="1800" spc="2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2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2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ocean</a:t>
            </a:r>
            <a:r>
              <a:rPr sz="1800" spc="2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while</a:t>
            </a:r>
            <a:r>
              <a:rPr sz="1800" spc="2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False</a:t>
            </a:r>
            <a:r>
              <a:rPr sz="1800" spc="2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Ocean</a:t>
            </a:r>
            <a:r>
              <a:rPr sz="1800" spc="2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means</a:t>
            </a:r>
            <a:r>
              <a:rPr sz="1800" spc="27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dirty="0">
                <a:latin typeface="Calibri"/>
                <a:cs typeface="Calibri"/>
              </a:rPr>
              <a:t>mission</a:t>
            </a:r>
            <a:r>
              <a:rPr sz="1800" spc="135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outcome</a:t>
            </a:r>
            <a:r>
              <a:rPr sz="1800" spc="135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was</a:t>
            </a:r>
            <a:r>
              <a:rPr sz="1800" spc="130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unsuccessfully</a:t>
            </a:r>
            <a:r>
              <a:rPr sz="1800" spc="130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landed</a:t>
            </a:r>
            <a:r>
              <a:rPr sz="1800" spc="135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135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130" dirty="0">
                <a:latin typeface="Calibri"/>
                <a:cs typeface="Calibri"/>
              </a:rPr>
              <a:t>  </a:t>
            </a:r>
            <a:r>
              <a:rPr sz="1800" spc="-10" dirty="0">
                <a:latin typeface="Calibri"/>
                <a:cs typeface="Calibri"/>
              </a:rPr>
              <a:t>specific </a:t>
            </a:r>
            <a:r>
              <a:rPr sz="1800" dirty="0">
                <a:latin typeface="Calibri"/>
                <a:cs typeface="Calibri"/>
              </a:rPr>
              <a:t>region</a:t>
            </a:r>
            <a:r>
              <a:rPr sz="1800" spc="2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2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2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ocean.</a:t>
            </a:r>
            <a:r>
              <a:rPr sz="1800" spc="2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True</a:t>
            </a:r>
            <a:r>
              <a:rPr sz="1800" spc="2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RTLS</a:t>
            </a:r>
            <a:r>
              <a:rPr sz="1800" spc="2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means</a:t>
            </a:r>
            <a:r>
              <a:rPr sz="1800" spc="2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2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mission</a:t>
            </a:r>
            <a:r>
              <a:rPr sz="1800" spc="2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outcome </a:t>
            </a:r>
            <a:r>
              <a:rPr sz="1800" dirty="0">
                <a:latin typeface="Calibri"/>
                <a:cs typeface="Calibri"/>
              </a:rPr>
              <a:t>was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successfully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landed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ground</a:t>
            </a:r>
            <a:r>
              <a:rPr sz="1800" spc="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pad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False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RTLS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means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dirty="0">
                <a:latin typeface="Calibri"/>
                <a:cs typeface="Calibri"/>
              </a:rPr>
              <a:t>mission</a:t>
            </a:r>
            <a:r>
              <a:rPr sz="1800" spc="150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outcome</a:t>
            </a:r>
            <a:r>
              <a:rPr sz="1800" spc="150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was</a:t>
            </a:r>
            <a:r>
              <a:rPr sz="1800" spc="145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unsuccessfully</a:t>
            </a:r>
            <a:r>
              <a:rPr sz="1800" spc="145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landed</a:t>
            </a:r>
            <a:r>
              <a:rPr sz="1800" spc="150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150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145" dirty="0">
                <a:latin typeface="Calibri"/>
                <a:cs typeface="Calibri"/>
              </a:rPr>
              <a:t>  </a:t>
            </a:r>
            <a:r>
              <a:rPr sz="1800" spc="-10" dirty="0">
                <a:latin typeface="Calibri"/>
                <a:cs typeface="Calibri"/>
              </a:rPr>
              <a:t>ground </a:t>
            </a:r>
            <a:r>
              <a:rPr sz="1800" dirty="0">
                <a:latin typeface="Calibri"/>
                <a:cs typeface="Calibri"/>
              </a:rPr>
              <a:t>pad.True</a:t>
            </a:r>
            <a:r>
              <a:rPr sz="1800" spc="2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ASDS</a:t>
            </a:r>
            <a:r>
              <a:rPr sz="1800" spc="2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means</a:t>
            </a:r>
            <a:r>
              <a:rPr sz="1800" spc="2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2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mission</a:t>
            </a:r>
            <a:r>
              <a:rPr sz="1800" spc="2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outcome</a:t>
            </a:r>
            <a:r>
              <a:rPr sz="1800" spc="2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was</a:t>
            </a:r>
            <a:r>
              <a:rPr sz="1800" spc="2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successfully </a:t>
            </a:r>
            <a:r>
              <a:rPr sz="1800" dirty="0">
                <a:latin typeface="Calibri"/>
                <a:cs typeface="Calibri"/>
              </a:rPr>
              <a:t>landed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drone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ship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False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ASDS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means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mission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outcome </a:t>
            </a:r>
            <a:r>
              <a:rPr sz="1800" dirty="0">
                <a:latin typeface="Calibri"/>
                <a:cs typeface="Calibri"/>
              </a:rPr>
              <a:t>was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unsuccessfully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landed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drone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ship.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mainly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convert </a:t>
            </a:r>
            <a:r>
              <a:rPr sz="1800" dirty="0">
                <a:latin typeface="Calibri"/>
                <a:cs typeface="Calibri"/>
              </a:rPr>
              <a:t>those</a:t>
            </a:r>
            <a:r>
              <a:rPr sz="1800" spc="100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outcomes</a:t>
            </a:r>
            <a:r>
              <a:rPr sz="1800" spc="105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into</a:t>
            </a:r>
            <a:r>
              <a:rPr sz="1800" spc="105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Training</a:t>
            </a:r>
            <a:r>
              <a:rPr sz="1800" spc="105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Labels</a:t>
            </a:r>
            <a:r>
              <a:rPr sz="1800" spc="100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105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“1”</a:t>
            </a:r>
            <a:r>
              <a:rPr sz="1800" spc="105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means</a:t>
            </a:r>
            <a:r>
              <a:rPr sz="1800" spc="100" dirty="0">
                <a:latin typeface="Calibri"/>
                <a:cs typeface="Calibri"/>
              </a:rPr>
              <a:t>  </a:t>
            </a:r>
            <a:r>
              <a:rPr sz="1800" spc="-25" dirty="0">
                <a:latin typeface="Calibri"/>
                <a:cs typeface="Calibri"/>
              </a:rPr>
              <a:t>the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77278" y="5019547"/>
            <a:ext cx="5540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booster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successfully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landed,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“0”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means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was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unsuccessful.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8678" y="5390388"/>
            <a:ext cx="61214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  <a:tab pos="1087120" algn="l"/>
                <a:tab pos="1720850" algn="l"/>
              </a:tabLst>
            </a:pPr>
            <a:r>
              <a:rPr sz="1800" b="1" spc="-10" dirty="0">
                <a:solidFill>
                  <a:srgbClr val="272727"/>
                </a:solidFill>
                <a:latin typeface="Calibri"/>
                <a:cs typeface="Calibri"/>
              </a:rPr>
              <a:t>GitHub</a:t>
            </a:r>
            <a:r>
              <a:rPr sz="1800" b="1" dirty="0">
                <a:solidFill>
                  <a:srgbClr val="272727"/>
                </a:solidFill>
                <a:latin typeface="Calibri"/>
                <a:cs typeface="Calibri"/>
              </a:rPr>
              <a:t>	</a:t>
            </a:r>
            <a:r>
              <a:rPr sz="1800" b="1" spc="-20" dirty="0">
                <a:solidFill>
                  <a:srgbClr val="272727"/>
                </a:solidFill>
                <a:latin typeface="Calibri"/>
                <a:cs typeface="Calibri"/>
              </a:rPr>
              <a:t>URL</a:t>
            </a:r>
            <a:r>
              <a:rPr sz="2000" b="1" spc="-20" dirty="0">
                <a:solidFill>
                  <a:srgbClr val="272727"/>
                </a:solidFill>
                <a:latin typeface="Calibri"/>
                <a:cs typeface="Calibri"/>
              </a:rPr>
              <a:t>:</a:t>
            </a:r>
            <a:r>
              <a:rPr sz="2000" b="1" dirty="0">
                <a:solidFill>
                  <a:srgbClr val="272727"/>
                </a:solidFill>
                <a:latin typeface="Calibri"/>
                <a:cs typeface="Calibri"/>
              </a:rPr>
              <a:t>	</a:t>
            </a:r>
            <a:r>
              <a:rPr sz="2000" b="1" u="sng" spc="-20" dirty="0">
                <a:solidFill>
                  <a:srgbClr val="0363C0"/>
                </a:solidFill>
                <a:uFill>
                  <a:solidFill>
                    <a:srgbClr val="0363C0"/>
                  </a:solidFill>
                </a:uFill>
                <a:latin typeface="Calibri"/>
                <a:cs typeface="Calibri"/>
              </a:rPr>
              <a:t>https://github.com/Moheid/IBM-</a:t>
            </a:r>
            <a:r>
              <a:rPr sz="2000" b="1" u="sng" spc="-10" dirty="0">
                <a:solidFill>
                  <a:srgbClr val="0363C0"/>
                </a:solidFill>
                <a:uFill>
                  <a:solidFill>
                    <a:srgbClr val="0363C0"/>
                  </a:solidFill>
                </a:uFill>
                <a:latin typeface="Calibri"/>
                <a:cs typeface="Calibri"/>
              </a:rPr>
              <a:t>SpaceY-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7278" y="5667755"/>
            <a:ext cx="553402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u="sng" spc="-20" dirty="0">
                <a:solidFill>
                  <a:srgbClr val="0363C0"/>
                </a:solidFill>
                <a:uFill>
                  <a:solidFill>
                    <a:srgbClr val="0363C0"/>
                  </a:solidFill>
                </a:uFill>
                <a:latin typeface="Calibri"/>
                <a:cs typeface="Calibri"/>
              </a:rPr>
              <a:t>DS-Capstone/blob/main/3-</a:t>
            </a:r>
            <a:r>
              <a:rPr sz="2000" b="1" u="sng" spc="-10" dirty="0">
                <a:solidFill>
                  <a:srgbClr val="0363C0"/>
                </a:solidFill>
                <a:uFill>
                  <a:solidFill>
                    <a:srgbClr val="0363C0"/>
                  </a:solidFill>
                </a:uFill>
                <a:latin typeface="Calibri"/>
                <a:cs typeface="Calibri"/>
              </a:rPr>
              <a:t>Data%20wrangling.ipynb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48678" y="413511"/>
            <a:ext cx="2954655" cy="589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145" dirty="0"/>
              <a:t> </a:t>
            </a:r>
            <a:r>
              <a:rPr spc="-10" dirty="0"/>
              <a:t>Wrangling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7326312" y="1514475"/>
            <a:ext cx="3638550" cy="789305"/>
            <a:chOff x="7326312" y="1514475"/>
            <a:chExt cx="3638550" cy="789305"/>
          </a:xfrm>
        </p:grpSpPr>
        <p:sp>
          <p:nvSpPr>
            <p:cNvPr id="8" name="object 8"/>
            <p:cNvSpPr/>
            <p:nvPr/>
          </p:nvSpPr>
          <p:spPr>
            <a:xfrm>
              <a:off x="7877175" y="1652587"/>
              <a:ext cx="3081655" cy="513080"/>
            </a:xfrm>
            <a:custGeom>
              <a:avLst/>
              <a:gdLst/>
              <a:ahLst/>
              <a:cxnLst/>
              <a:rect l="l" t="t" r="r" b="b"/>
              <a:pathLst>
                <a:path w="3081654" h="513080">
                  <a:moveTo>
                    <a:pt x="3081337" y="0"/>
                  </a:moveTo>
                  <a:lnTo>
                    <a:pt x="0" y="0"/>
                  </a:lnTo>
                  <a:lnTo>
                    <a:pt x="0" y="512762"/>
                  </a:lnTo>
                  <a:lnTo>
                    <a:pt x="3081337" y="512762"/>
                  </a:lnTo>
                  <a:lnTo>
                    <a:pt x="30813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877175" y="1652587"/>
              <a:ext cx="3081655" cy="513080"/>
            </a:xfrm>
            <a:custGeom>
              <a:avLst/>
              <a:gdLst/>
              <a:ahLst/>
              <a:cxnLst/>
              <a:rect l="l" t="t" r="r" b="b"/>
              <a:pathLst>
                <a:path w="3081654" h="513080">
                  <a:moveTo>
                    <a:pt x="0" y="0"/>
                  </a:moveTo>
                  <a:lnTo>
                    <a:pt x="3081338" y="0"/>
                  </a:lnTo>
                  <a:lnTo>
                    <a:pt x="3081338" y="512762"/>
                  </a:lnTo>
                  <a:lnTo>
                    <a:pt x="0" y="51276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4471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332662" y="1520825"/>
              <a:ext cx="876300" cy="776605"/>
            </a:xfrm>
            <a:custGeom>
              <a:avLst/>
              <a:gdLst/>
              <a:ahLst/>
              <a:cxnLst/>
              <a:rect l="l" t="t" r="r" b="b"/>
              <a:pathLst>
                <a:path w="876300" h="776605">
                  <a:moveTo>
                    <a:pt x="438150" y="0"/>
                  </a:moveTo>
                  <a:lnTo>
                    <a:pt x="387052" y="2611"/>
                  </a:lnTo>
                  <a:lnTo>
                    <a:pt x="337686" y="10251"/>
                  </a:lnTo>
                  <a:lnTo>
                    <a:pt x="290380" y="22628"/>
                  </a:lnTo>
                  <a:lnTo>
                    <a:pt x="245462" y="39451"/>
                  </a:lnTo>
                  <a:lnTo>
                    <a:pt x="203263" y="60429"/>
                  </a:lnTo>
                  <a:lnTo>
                    <a:pt x="164109" y="85270"/>
                  </a:lnTo>
                  <a:lnTo>
                    <a:pt x="128331" y="113684"/>
                  </a:lnTo>
                  <a:lnTo>
                    <a:pt x="96256" y="145379"/>
                  </a:lnTo>
                  <a:lnTo>
                    <a:pt x="68214" y="180064"/>
                  </a:lnTo>
                  <a:lnTo>
                    <a:pt x="44534" y="217447"/>
                  </a:lnTo>
                  <a:lnTo>
                    <a:pt x="25543" y="257238"/>
                  </a:lnTo>
                  <a:lnTo>
                    <a:pt x="11571" y="299145"/>
                  </a:lnTo>
                  <a:lnTo>
                    <a:pt x="2947" y="342877"/>
                  </a:lnTo>
                  <a:lnTo>
                    <a:pt x="0" y="388143"/>
                  </a:lnTo>
                  <a:lnTo>
                    <a:pt x="2947" y="433409"/>
                  </a:lnTo>
                  <a:lnTo>
                    <a:pt x="11571" y="477141"/>
                  </a:lnTo>
                  <a:lnTo>
                    <a:pt x="25543" y="519048"/>
                  </a:lnTo>
                  <a:lnTo>
                    <a:pt x="44534" y="558839"/>
                  </a:lnTo>
                  <a:lnTo>
                    <a:pt x="68214" y="596223"/>
                  </a:lnTo>
                  <a:lnTo>
                    <a:pt x="96256" y="630907"/>
                  </a:lnTo>
                  <a:lnTo>
                    <a:pt x="128331" y="662602"/>
                  </a:lnTo>
                  <a:lnTo>
                    <a:pt x="164109" y="691016"/>
                  </a:lnTo>
                  <a:lnTo>
                    <a:pt x="203263" y="715858"/>
                  </a:lnTo>
                  <a:lnTo>
                    <a:pt x="245462" y="736836"/>
                  </a:lnTo>
                  <a:lnTo>
                    <a:pt x="290380" y="753659"/>
                  </a:lnTo>
                  <a:lnTo>
                    <a:pt x="337686" y="766036"/>
                  </a:lnTo>
                  <a:lnTo>
                    <a:pt x="387052" y="773676"/>
                  </a:lnTo>
                  <a:lnTo>
                    <a:pt x="438150" y="776287"/>
                  </a:lnTo>
                  <a:lnTo>
                    <a:pt x="489247" y="773676"/>
                  </a:lnTo>
                  <a:lnTo>
                    <a:pt x="538613" y="766036"/>
                  </a:lnTo>
                  <a:lnTo>
                    <a:pt x="585919" y="753659"/>
                  </a:lnTo>
                  <a:lnTo>
                    <a:pt x="630837" y="736836"/>
                  </a:lnTo>
                  <a:lnTo>
                    <a:pt x="673036" y="715858"/>
                  </a:lnTo>
                  <a:lnTo>
                    <a:pt x="712190" y="691016"/>
                  </a:lnTo>
                  <a:lnTo>
                    <a:pt x="747968" y="662602"/>
                  </a:lnTo>
                  <a:lnTo>
                    <a:pt x="780043" y="630907"/>
                  </a:lnTo>
                  <a:lnTo>
                    <a:pt x="808085" y="596223"/>
                  </a:lnTo>
                  <a:lnTo>
                    <a:pt x="831765" y="558839"/>
                  </a:lnTo>
                  <a:lnTo>
                    <a:pt x="850756" y="519048"/>
                  </a:lnTo>
                  <a:lnTo>
                    <a:pt x="864728" y="477141"/>
                  </a:lnTo>
                  <a:lnTo>
                    <a:pt x="873352" y="433409"/>
                  </a:lnTo>
                  <a:lnTo>
                    <a:pt x="876300" y="388143"/>
                  </a:lnTo>
                  <a:lnTo>
                    <a:pt x="873352" y="342877"/>
                  </a:lnTo>
                  <a:lnTo>
                    <a:pt x="864728" y="299145"/>
                  </a:lnTo>
                  <a:lnTo>
                    <a:pt x="850756" y="257238"/>
                  </a:lnTo>
                  <a:lnTo>
                    <a:pt x="831765" y="217447"/>
                  </a:lnTo>
                  <a:lnTo>
                    <a:pt x="808085" y="180064"/>
                  </a:lnTo>
                  <a:lnTo>
                    <a:pt x="780043" y="145379"/>
                  </a:lnTo>
                  <a:lnTo>
                    <a:pt x="747968" y="113684"/>
                  </a:lnTo>
                  <a:lnTo>
                    <a:pt x="712190" y="85270"/>
                  </a:lnTo>
                  <a:lnTo>
                    <a:pt x="673036" y="60429"/>
                  </a:lnTo>
                  <a:lnTo>
                    <a:pt x="630837" y="39451"/>
                  </a:lnTo>
                  <a:lnTo>
                    <a:pt x="585919" y="22628"/>
                  </a:lnTo>
                  <a:lnTo>
                    <a:pt x="538613" y="10251"/>
                  </a:lnTo>
                  <a:lnTo>
                    <a:pt x="489247" y="2611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332662" y="1520825"/>
              <a:ext cx="876300" cy="776605"/>
            </a:xfrm>
            <a:custGeom>
              <a:avLst/>
              <a:gdLst/>
              <a:ahLst/>
              <a:cxnLst/>
              <a:rect l="l" t="t" r="r" b="b"/>
              <a:pathLst>
                <a:path w="876300" h="776605">
                  <a:moveTo>
                    <a:pt x="0" y="388144"/>
                  </a:moveTo>
                  <a:lnTo>
                    <a:pt x="2947" y="342878"/>
                  </a:lnTo>
                  <a:lnTo>
                    <a:pt x="11571" y="299146"/>
                  </a:lnTo>
                  <a:lnTo>
                    <a:pt x="25543" y="257239"/>
                  </a:lnTo>
                  <a:lnTo>
                    <a:pt x="44534" y="217448"/>
                  </a:lnTo>
                  <a:lnTo>
                    <a:pt x="68214" y="180064"/>
                  </a:lnTo>
                  <a:lnTo>
                    <a:pt x="96256" y="145379"/>
                  </a:lnTo>
                  <a:lnTo>
                    <a:pt x="128331" y="113684"/>
                  </a:lnTo>
                  <a:lnTo>
                    <a:pt x="164109" y="85270"/>
                  </a:lnTo>
                  <a:lnTo>
                    <a:pt x="203262" y="60429"/>
                  </a:lnTo>
                  <a:lnTo>
                    <a:pt x="245462" y="39451"/>
                  </a:lnTo>
                  <a:lnTo>
                    <a:pt x="290380" y="22628"/>
                  </a:lnTo>
                  <a:lnTo>
                    <a:pt x="337686" y="10251"/>
                  </a:lnTo>
                  <a:lnTo>
                    <a:pt x="387052" y="2611"/>
                  </a:lnTo>
                  <a:lnTo>
                    <a:pt x="438150" y="0"/>
                  </a:lnTo>
                  <a:lnTo>
                    <a:pt x="489247" y="2611"/>
                  </a:lnTo>
                  <a:lnTo>
                    <a:pt x="538613" y="10251"/>
                  </a:lnTo>
                  <a:lnTo>
                    <a:pt x="585919" y="22628"/>
                  </a:lnTo>
                  <a:lnTo>
                    <a:pt x="630837" y="39451"/>
                  </a:lnTo>
                  <a:lnTo>
                    <a:pt x="673037" y="60429"/>
                  </a:lnTo>
                  <a:lnTo>
                    <a:pt x="712190" y="85270"/>
                  </a:lnTo>
                  <a:lnTo>
                    <a:pt x="747968" y="113684"/>
                  </a:lnTo>
                  <a:lnTo>
                    <a:pt x="780043" y="145379"/>
                  </a:lnTo>
                  <a:lnTo>
                    <a:pt x="808085" y="180064"/>
                  </a:lnTo>
                  <a:lnTo>
                    <a:pt x="831765" y="217448"/>
                  </a:lnTo>
                  <a:lnTo>
                    <a:pt x="850756" y="257239"/>
                  </a:lnTo>
                  <a:lnTo>
                    <a:pt x="864728" y="299146"/>
                  </a:lnTo>
                  <a:lnTo>
                    <a:pt x="873352" y="342878"/>
                  </a:lnTo>
                  <a:lnTo>
                    <a:pt x="876300" y="388144"/>
                  </a:lnTo>
                  <a:lnTo>
                    <a:pt x="873352" y="433409"/>
                  </a:lnTo>
                  <a:lnTo>
                    <a:pt x="864728" y="477141"/>
                  </a:lnTo>
                  <a:lnTo>
                    <a:pt x="850756" y="519048"/>
                  </a:lnTo>
                  <a:lnTo>
                    <a:pt x="831765" y="558839"/>
                  </a:lnTo>
                  <a:lnTo>
                    <a:pt x="808085" y="596223"/>
                  </a:lnTo>
                  <a:lnTo>
                    <a:pt x="780043" y="630908"/>
                  </a:lnTo>
                  <a:lnTo>
                    <a:pt x="747968" y="662603"/>
                  </a:lnTo>
                  <a:lnTo>
                    <a:pt x="712190" y="691017"/>
                  </a:lnTo>
                  <a:lnTo>
                    <a:pt x="673037" y="715858"/>
                  </a:lnTo>
                  <a:lnTo>
                    <a:pt x="630837" y="736836"/>
                  </a:lnTo>
                  <a:lnTo>
                    <a:pt x="585919" y="753659"/>
                  </a:lnTo>
                  <a:lnTo>
                    <a:pt x="538613" y="766036"/>
                  </a:lnTo>
                  <a:lnTo>
                    <a:pt x="489247" y="773676"/>
                  </a:lnTo>
                  <a:lnTo>
                    <a:pt x="438150" y="776288"/>
                  </a:lnTo>
                  <a:lnTo>
                    <a:pt x="387052" y="773676"/>
                  </a:lnTo>
                  <a:lnTo>
                    <a:pt x="337686" y="766036"/>
                  </a:lnTo>
                  <a:lnTo>
                    <a:pt x="290380" y="753659"/>
                  </a:lnTo>
                  <a:lnTo>
                    <a:pt x="245462" y="736836"/>
                  </a:lnTo>
                  <a:lnTo>
                    <a:pt x="203262" y="715858"/>
                  </a:lnTo>
                  <a:lnTo>
                    <a:pt x="164109" y="691017"/>
                  </a:lnTo>
                  <a:lnTo>
                    <a:pt x="128331" y="662603"/>
                  </a:lnTo>
                  <a:lnTo>
                    <a:pt x="96256" y="630908"/>
                  </a:lnTo>
                  <a:lnTo>
                    <a:pt x="68214" y="596223"/>
                  </a:lnTo>
                  <a:lnTo>
                    <a:pt x="44534" y="558839"/>
                  </a:lnTo>
                  <a:lnTo>
                    <a:pt x="25543" y="519048"/>
                  </a:lnTo>
                  <a:lnTo>
                    <a:pt x="11571" y="477141"/>
                  </a:lnTo>
                  <a:lnTo>
                    <a:pt x="2947" y="433409"/>
                  </a:lnTo>
                  <a:lnTo>
                    <a:pt x="0" y="388144"/>
                  </a:lnTo>
                  <a:close/>
                </a:path>
              </a:pathLst>
            </a:custGeom>
            <a:ln w="12700">
              <a:solidFill>
                <a:srgbClr val="4471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731918" y="1759203"/>
            <a:ext cx="1289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414702" y="1702308"/>
            <a:ext cx="2483485" cy="4552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75"/>
              </a:spcBef>
            </a:pPr>
            <a:r>
              <a:rPr sz="1400" spc="-10" dirty="0">
                <a:latin typeface="Calibri"/>
                <a:cs typeface="Calibri"/>
              </a:rPr>
              <a:t>Perform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exploratory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Data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Analysis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10" dirty="0">
                <a:latin typeface="Calibri"/>
                <a:cs typeface="Calibri"/>
              </a:rPr>
              <a:t> determine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Training</a:t>
            </a:r>
            <a:r>
              <a:rPr sz="1400" spc="-10" dirty="0">
                <a:latin typeface="Calibri"/>
                <a:cs typeface="Calibri"/>
              </a:rPr>
              <a:t> Labels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326312" y="2320925"/>
            <a:ext cx="3638550" cy="790575"/>
            <a:chOff x="7326312" y="2320925"/>
            <a:chExt cx="3638550" cy="790575"/>
          </a:xfrm>
        </p:grpSpPr>
        <p:sp>
          <p:nvSpPr>
            <p:cNvPr id="15" name="object 15"/>
            <p:cNvSpPr/>
            <p:nvPr/>
          </p:nvSpPr>
          <p:spPr>
            <a:xfrm>
              <a:off x="7877175" y="2459037"/>
              <a:ext cx="3081655" cy="514350"/>
            </a:xfrm>
            <a:custGeom>
              <a:avLst/>
              <a:gdLst/>
              <a:ahLst/>
              <a:cxnLst/>
              <a:rect l="l" t="t" r="r" b="b"/>
              <a:pathLst>
                <a:path w="3081654" h="514350">
                  <a:moveTo>
                    <a:pt x="3081337" y="0"/>
                  </a:moveTo>
                  <a:lnTo>
                    <a:pt x="0" y="0"/>
                  </a:lnTo>
                  <a:lnTo>
                    <a:pt x="0" y="514350"/>
                  </a:lnTo>
                  <a:lnTo>
                    <a:pt x="3081337" y="514350"/>
                  </a:lnTo>
                  <a:lnTo>
                    <a:pt x="30813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877175" y="2459037"/>
              <a:ext cx="3081655" cy="514350"/>
            </a:xfrm>
            <a:custGeom>
              <a:avLst/>
              <a:gdLst/>
              <a:ahLst/>
              <a:cxnLst/>
              <a:rect l="l" t="t" r="r" b="b"/>
              <a:pathLst>
                <a:path w="3081654" h="514350">
                  <a:moveTo>
                    <a:pt x="0" y="0"/>
                  </a:moveTo>
                  <a:lnTo>
                    <a:pt x="3081338" y="0"/>
                  </a:lnTo>
                  <a:lnTo>
                    <a:pt x="3081338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4471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332662" y="2327275"/>
              <a:ext cx="876300" cy="777875"/>
            </a:xfrm>
            <a:custGeom>
              <a:avLst/>
              <a:gdLst/>
              <a:ahLst/>
              <a:cxnLst/>
              <a:rect l="l" t="t" r="r" b="b"/>
              <a:pathLst>
                <a:path w="876300" h="777875">
                  <a:moveTo>
                    <a:pt x="438150" y="0"/>
                  </a:moveTo>
                  <a:lnTo>
                    <a:pt x="387052" y="2616"/>
                  </a:lnTo>
                  <a:lnTo>
                    <a:pt x="337686" y="10272"/>
                  </a:lnTo>
                  <a:lnTo>
                    <a:pt x="290380" y="22674"/>
                  </a:lnTo>
                  <a:lnTo>
                    <a:pt x="245462" y="39532"/>
                  </a:lnTo>
                  <a:lnTo>
                    <a:pt x="203263" y="60552"/>
                  </a:lnTo>
                  <a:lnTo>
                    <a:pt x="164109" y="85445"/>
                  </a:lnTo>
                  <a:lnTo>
                    <a:pt x="128331" y="113917"/>
                  </a:lnTo>
                  <a:lnTo>
                    <a:pt x="96256" y="145677"/>
                  </a:lnTo>
                  <a:lnTo>
                    <a:pt x="68214" y="180432"/>
                  </a:lnTo>
                  <a:lnTo>
                    <a:pt x="44534" y="217892"/>
                  </a:lnTo>
                  <a:lnTo>
                    <a:pt x="25543" y="257765"/>
                  </a:lnTo>
                  <a:lnTo>
                    <a:pt x="11571" y="299757"/>
                  </a:lnTo>
                  <a:lnTo>
                    <a:pt x="2947" y="343579"/>
                  </a:lnTo>
                  <a:lnTo>
                    <a:pt x="0" y="388937"/>
                  </a:lnTo>
                  <a:lnTo>
                    <a:pt x="2947" y="434295"/>
                  </a:lnTo>
                  <a:lnTo>
                    <a:pt x="11571" y="478117"/>
                  </a:lnTo>
                  <a:lnTo>
                    <a:pt x="25543" y="520109"/>
                  </a:lnTo>
                  <a:lnTo>
                    <a:pt x="44534" y="559982"/>
                  </a:lnTo>
                  <a:lnTo>
                    <a:pt x="68214" y="597442"/>
                  </a:lnTo>
                  <a:lnTo>
                    <a:pt x="96256" y="632197"/>
                  </a:lnTo>
                  <a:lnTo>
                    <a:pt x="128331" y="663957"/>
                  </a:lnTo>
                  <a:lnTo>
                    <a:pt x="164109" y="692429"/>
                  </a:lnTo>
                  <a:lnTo>
                    <a:pt x="203263" y="717322"/>
                  </a:lnTo>
                  <a:lnTo>
                    <a:pt x="245462" y="738342"/>
                  </a:lnTo>
                  <a:lnTo>
                    <a:pt x="290380" y="755200"/>
                  </a:lnTo>
                  <a:lnTo>
                    <a:pt x="337686" y="767602"/>
                  </a:lnTo>
                  <a:lnTo>
                    <a:pt x="387052" y="775258"/>
                  </a:lnTo>
                  <a:lnTo>
                    <a:pt x="438150" y="777875"/>
                  </a:lnTo>
                  <a:lnTo>
                    <a:pt x="489247" y="775258"/>
                  </a:lnTo>
                  <a:lnTo>
                    <a:pt x="538613" y="767602"/>
                  </a:lnTo>
                  <a:lnTo>
                    <a:pt x="585919" y="755200"/>
                  </a:lnTo>
                  <a:lnTo>
                    <a:pt x="630837" y="738342"/>
                  </a:lnTo>
                  <a:lnTo>
                    <a:pt x="673036" y="717322"/>
                  </a:lnTo>
                  <a:lnTo>
                    <a:pt x="712190" y="692429"/>
                  </a:lnTo>
                  <a:lnTo>
                    <a:pt x="747968" y="663957"/>
                  </a:lnTo>
                  <a:lnTo>
                    <a:pt x="780043" y="632197"/>
                  </a:lnTo>
                  <a:lnTo>
                    <a:pt x="808085" y="597442"/>
                  </a:lnTo>
                  <a:lnTo>
                    <a:pt x="831765" y="559982"/>
                  </a:lnTo>
                  <a:lnTo>
                    <a:pt x="850756" y="520109"/>
                  </a:lnTo>
                  <a:lnTo>
                    <a:pt x="864728" y="478117"/>
                  </a:lnTo>
                  <a:lnTo>
                    <a:pt x="873352" y="434295"/>
                  </a:lnTo>
                  <a:lnTo>
                    <a:pt x="876300" y="388937"/>
                  </a:lnTo>
                  <a:lnTo>
                    <a:pt x="873352" y="343579"/>
                  </a:lnTo>
                  <a:lnTo>
                    <a:pt x="864728" y="299757"/>
                  </a:lnTo>
                  <a:lnTo>
                    <a:pt x="850756" y="257765"/>
                  </a:lnTo>
                  <a:lnTo>
                    <a:pt x="831765" y="217892"/>
                  </a:lnTo>
                  <a:lnTo>
                    <a:pt x="808085" y="180432"/>
                  </a:lnTo>
                  <a:lnTo>
                    <a:pt x="780043" y="145677"/>
                  </a:lnTo>
                  <a:lnTo>
                    <a:pt x="747968" y="113917"/>
                  </a:lnTo>
                  <a:lnTo>
                    <a:pt x="712190" y="85445"/>
                  </a:lnTo>
                  <a:lnTo>
                    <a:pt x="673036" y="60552"/>
                  </a:lnTo>
                  <a:lnTo>
                    <a:pt x="630837" y="39532"/>
                  </a:lnTo>
                  <a:lnTo>
                    <a:pt x="585919" y="22674"/>
                  </a:lnTo>
                  <a:lnTo>
                    <a:pt x="538613" y="10272"/>
                  </a:lnTo>
                  <a:lnTo>
                    <a:pt x="489247" y="2616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332662" y="2327275"/>
              <a:ext cx="876300" cy="777875"/>
            </a:xfrm>
            <a:custGeom>
              <a:avLst/>
              <a:gdLst/>
              <a:ahLst/>
              <a:cxnLst/>
              <a:rect l="l" t="t" r="r" b="b"/>
              <a:pathLst>
                <a:path w="876300" h="777875">
                  <a:moveTo>
                    <a:pt x="0" y="388937"/>
                  </a:moveTo>
                  <a:lnTo>
                    <a:pt x="2947" y="343579"/>
                  </a:lnTo>
                  <a:lnTo>
                    <a:pt x="11571" y="299757"/>
                  </a:lnTo>
                  <a:lnTo>
                    <a:pt x="25543" y="257764"/>
                  </a:lnTo>
                  <a:lnTo>
                    <a:pt x="44534" y="217892"/>
                  </a:lnTo>
                  <a:lnTo>
                    <a:pt x="68214" y="180432"/>
                  </a:lnTo>
                  <a:lnTo>
                    <a:pt x="96256" y="145676"/>
                  </a:lnTo>
                  <a:lnTo>
                    <a:pt x="128331" y="113917"/>
                  </a:lnTo>
                  <a:lnTo>
                    <a:pt x="164109" y="85445"/>
                  </a:lnTo>
                  <a:lnTo>
                    <a:pt x="203262" y="60552"/>
                  </a:lnTo>
                  <a:lnTo>
                    <a:pt x="245462" y="39532"/>
                  </a:lnTo>
                  <a:lnTo>
                    <a:pt x="290380" y="22674"/>
                  </a:lnTo>
                  <a:lnTo>
                    <a:pt x="337686" y="10272"/>
                  </a:lnTo>
                  <a:lnTo>
                    <a:pt x="387052" y="2616"/>
                  </a:lnTo>
                  <a:lnTo>
                    <a:pt x="438150" y="0"/>
                  </a:lnTo>
                  <a:lnTo>
                    <a:pt x="489247" y="2616"/>
                  </a:lnTo>
                  <a:lnTo>
                    <a:pt x="538613" y="10272"/>
                  </a:lnTo>
                  <a:lnTo>
                    <a:pt x="585919" y="22674"/>
                  </a:lnTo>
                  <a:lnTo>
                    <a:pt x="630837" y="39532"/>
                  </a:lnTo>
                  <a:lnTo>
                    <a:pt x="673037" y="60552"/>
                  </a:lnTo>
                  <a:lnTo>
                    <a:pt x="712190" y="85445"/>
                  </a:lnTo>
                  <a:lnTo>
                    <a:pt x="747968" y="113917"/>
                  </a:lnTo>
                  <a:lnTo>
                    <a:pt x="780043" y="145676"/>
                  </a:lnTo>
                  <a:lnTo>
                    <a:pt x="808085" y="180432"/>
                  </a:lnTo>
                  <a:lnTo>
                    <a:pt x="831765" y="217892"/>
                  </a:lnTo>
                  <a:lnTo>
                    <a:pt x="850756" y="257764"/>
                  </a:lnTo>
                  <a:lnTo>
                    <a:pt x="864728" y="299757"/>
                  </a:lnTo>
                  <a:lnTo>
                    <a:pt x="873352" y="343579"/>
                  </a:lnTo>
                  <a:lnTo>
                    <a:pt x="876300" y="388937"/>
                  </a:lnTo>
                  <a:lnTo>
                    <a:pt x="873352" y="434295"/>
                  </a:lnTo>
                  <a:lnTo>
                    <a:pt x="864728" y="478117"/>
                  </a:lnTo>
                  <a:lnTo>
                    <a:pt x="850756" y="520110"/>
                  </a:lnTo>
                  <a:lnTo>
                    <a:pt x="831765" y="559982"/>
                  </a:lnTo>
                  <a:lnTo>
                    <a:pt x="808085" y="597442"/>
                  </a:lnTo>
                  <a:lnTo>
                    <a:pt x="780043" y="632198"/>
                  </a:lnTo>
                  <a:lnTo>
                    <a:pt x="747968" y="663957"/>
                  </a:lnTo>
                  <a:lnTo>
                    <a:pt x="712190" y="692429"/>
                  </a:lnTo>
                  <a:lnTo>
                    <a:pt x="673037" y="717322"/>
                  </a:lnTo>
                  <a:lnTo>
                    <a:pt x="630837" y="738342"/>
                  </a:lnTo>
                  <a:lnTo>
                    <a:pt x="585919" y="755200"/>
                  </a:lnTo>
                  <a:lnTo>
                    <a:pt x="538613" y="767602"/>
                  </a:lnTo>
                  <a:lnTo>
                    <a:pt x="489247" y="775258"/>
                  </a:lnTo>
                  <a:lnTo>
                    <a:pt x="438150" y="777875"/>
                  </a:lnTo>
                  <a:lnTo>
                    <a:pt x="387052" y="775258"/>
                  </a:lnTo>
                  <a:lnTo>
                    <a:pt x="337686" y="767602"/>
                  </a:lnTo>
                  <a:lnTo>
                    <a:pt x="290380" y="755200"/>
                  </a:lnTo>
                  <a:lnTo>
                    <a:pt x="245462" y="738342"/>
                  </a:lnTo>
                  <a:lnTo>
                    <a:pt x="203262" y="717322"/>
                  </a:lnTo>
                  <a:lnTo>
                    <a:pt x="164109" y="692429"/>
                  </a:lnTo>
                  <a:lnTo>
                    <a:pt x="128331" y="663957"/>
                  </a:lnTo>
                  <a:lnTo>
                    <a:pt x="96256" y="632198"/>
                  </a:lnTo>
                  <a:lnTo>
                    <a:pt x="68214" y="597442"/>
                  </a:lnTo>
                  <a:lnTo>
                    <a:pt x="44534" y="559982"/>
                  </a:lnTo>
                  <a:lnTo>
                    <a:pt x="25543" y="520110"/>
                  </a:lnTo>
                  <a:lnTo>
                    <a:pt x="11571" y="478117"/>
                  </a:lnTo>
                  <a:lnTo>
                    <a:pt x="2947" y="434295"/>
                  </a:lnTo>
                  <a:lnTo>
                    <a:pt x="0" y="388937"/>
                  </a:lnTo>
                  <a:close/>
                </a:path>
              </a:pathLst>
            </a:custGeom>
            <a:ln w="12700">
              <a:solidFill>
                <a:srgbClr val="4471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731918" y="2566923"/>
            <a:ext cx="1289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Calibri"/>
                <a:cs typeface="Calibri"/>
              </a:rPr>
              <a:t>2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414702" y="2479547"/>
            <a:ext cx="2451735" cy="4552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75"/>
              </a:spcBef>
            </a:pPr>
            <a:r>
              <a:rPr sz="1400" spc="-10" dirty="0">
                <a:latin typeface="Calibri"/>
                <a:cs typeface="Calibri"/>
              </a:rPr>
              <a:t>Calculate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number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launches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each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site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326312" y="3132137"/>
            <a:ext cx="3638550" cy="789305"/>
            <a:chOff x="7326312" y="3132137"/>
            <a:chExt cx="3638550" cy="789305"/>
          </a:xfrm>
        </p:grpSpPr>
        <p:sp>
          <p:nvSpPr>
            <p:cNvPr id="22" name="object 22"/>
            <p:cNvSpPr/>
            <p:nvPr/>
          </p:nvSpPr>
          <p:spPr>
            <a:xfrm>
              <a:off x="7877175" y="3270250"/>
              <a:ext cx="3081655" cy="513080"/>
            </a:xfrm>
            <a:custGeom>
              <a:avLst/>
              <a:gdLst/>
              <a:ahLst/>
              <a:cxnLst/>
              <a:rect l="l" t="t" r="r" b="b"/>
              <a:pathLst>
                <a:path w="3081654" h="513079">
                  <a:moveTo>
                    <a:pt x="3081337" y="0"/>
                  </a:moveTo>
                  <a:lnTo>
                    <a:pt x="0" y="0"/>
                  </a:lnTo>
                  <a:lnTo>
                    <a:pt x="0" y="512762"/>
                  </a:lnTo>
                  <a:lnTo>
                    <a:pt x="3081337" y="512762"/>
                  </a:lnTo>
                  <a:lnTo>
                    <a:pt x="30813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877175" y="3270250"/>
              <a:ext cx="3081655" cy="513080"/>
            </a:xfrm>
            <a:custGeom>
              <a:avLst/>
              <a:gdLst/>
              <a:ahLst/>
              <a:cxnLst/>
              <a:rect l="l" t="t" r="r" b="b"/>
              <a:pathLst>
                <a:path w="3081654" h="513079">
                  <a:moveTo>
                    <a:pt x="0" y="0"/>
                  </a:moveTo>
                  <a:lnTo>
                    <a:pt x="3081338" y="0"/>
                  </a:lnTo>
                  <a:lnTo>
                    <a:pt x="3081338" y="512763"/>
                  </a:lnTo>
                  <a:lnTo>
                    <a:pt x="0" y="512763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4471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332662" y="3138487"/>
              <a:ext cx="876300" cy="776605"/>
            </a:xfrm>
            <a:custGeom>
              <a:avLst/>
              <a:gdLst/>
              <a:ahLst/>
              <a:cxnLst/>
              <a:rect l="l" t="t" r="r" b="b"/>
              <a:pathLst>
                <a:path w="876300" h="776604">
                  <a:moveTo>
                    <a:pt x="438150" y="0"/>
                  </a:moveTo>
                  <a:lnTo>
                    <a:pt x="387052" y="2611"/>
                  </a:lnTo>
                  <a:lnTo>
                    <a:pt x="337686" y="10251"/>
                  </a:lnTo>
                  <a:lnTo>
                    <a:pt x="290380" y="22628"/>
                  </a:lnTo>
                  <a:lnTo>
                    <a:pt x="245462" y="39451"/>
                  </a:lnTo>
                  <a:lnTo>
                    <a:pt x="203263" y="60429"/>
                  </a:lnTo>
                  <a:lnTo>
                    <a:pt x="164109" y="85270"/>
                  </a:lnTo>
                  <a:lnTo>
                    <a:pt x="128331" y="113684"/>
                  </a:lnTo>
                  <a:lnTo>
                    <a:pt x="96256" y="145379"/>
                  </a:lnTo>
                  <a:lnTo>
                    <a:pt x="68214" y="180064"/>
                  </a:lnTo>
                  <a:lnTo>
                    <a:pt x="44534" y="217447"/>
                  </a:lnTo>
                  <a:lnTo>
                    <a:pt x="25543" y="257238"/>
                  </a:lnTo>
                  <a:lnTo>
                    <a:pt x="11571" y="299145"/>
                  </a:lnTo>
                  <a:lnTo>
                    <a:pt x="2947" y="342877"/>
                  </a:lnTo>
                  <a:lnTo>
                    <a:pt x="0" y="388143"/>
                  </a:lnTo>
                  <a:lnTo>
                    <a:pt x="2947" y="433409"/>
                  </a:lnTo>
                  <a:lnTo>
                    <a:pt x="11571" y="477141"/>
                  </a:lnTo>
                  <a:lnTo>
                    <a:pt x="25543" y="519048"/>
                  </a:lnTo>
                  <a:lnTo>
                    <a:pt x="44534" y="558839"/>
                  </a:lnTo>
                  <a:lnTo>
                    <a:pt x="68214" y="596223"/>
                  </a:lnTo>
                  <a:lnTo>
                    <a:pt x="96256" y="630907"/>
                  </a:lnTo>
                  <a:lnTo>
                    <a:pt x="128331" y="662602"/>
                  </a:lnTo>
                  <a:lnTo>
                    <a:pt x="164109" y="691016"/>
                  </a:lnTo>
                  <a:lnTo>
                    <a:pt x="203263" y="715858"/>
                  </a:lnTo>
                  <a:lnTo>
                    <a:pt x="245462" y="736836"/>
                  </a:lnTo>
                  <a:lnTo>
                    <a:pt x="290380" y="753659"/>
                  </a:lnTo>
                  <a:lnTo>
                    <a:pt x="337686" y="766036"/>
                  </a:lnTo>
                  <a:lnTo>
                    <a:pt x="387052" y="773676"/>
                  </a:lnTo>
                  <a:lnTo>
                    <a:pt x="438150" y="776287"/>
                  </a:lnTo>
                  <a:lnTo>
                    <a:pt x="489247" y="773676"/>
                  </a:lnTo>
                  <a:lnTo>
                    <a:pt x="538613" y="766036"/>
                  </a:lnTo>
                  <a:lnTo>
                    <a:pt x="585919" y="753659"/>
                  </a:lnTo>
                  <a:lnTo>
                    <a:pt x="630837" y="736836"/>
                  </a:lnTo>
                  <a:lnTo>
                    <a:pt x="673036" y="715858"/>
                  </a:lnTo>
                  <a:lnTo>
                    <a:pt x="712190" y="691016"/>
                  </a:lnTo>
                  <a:lnTo>
                    <a:pt x="747968" y="662602"/>
                  </a:lnTo>
                  <a:lnTo>
                    <a:pt x="780043" y="630907"/>
                  </a:lnTo>
                  <a:lnTo>
                    <a:pt x="808085" y="596223"/>
                  </a:lnTo>
                  <a:lnTo>
                    <a:pt x="831765" y="558839"/>
                  </a:lnTo>
                  <a:lnTo>
                    <a:pt x="850756" y="519048"/>
                  </a:lnTo>
                  <a:lnTo>
                    <a:pt x="864728" y="477141"/>
                  </a:lnTo>
                  <a:lnTo>
                    <a:pt x="873352" y="433409"/>
                  </a:lnTo>
                  <a:lnTo>
                    <a:pt x="876300" y="388143"/>
                  </a:lnTo>
                  <a:lnTo>
                    <a:pt x="873352" y="342877"/>
                  </a:lnTo>
                  <a:lnTo>
                    <a:pt x="864728" y="299145"/>
                  </a:lnTo>
                  <a:lnTo>
                    <a:pt x="850756" y="257238"/>
                  </a:lnTo>
                  <a:lnTo>
                    <a:pt x="831765" y="217447"/>
                  </a:lnTo>
                  <a:lnTo>
                    <a:pt x="808085" y="180064"/>
                  </a:lnTo>
                  <a:lnTo>
                    <a:pt x="780043" y="145379"/>
                  </a:lnTo>
                  <a:lnTo>
                    <a:pt x="747968" y="113684"/>
                  </a:lnTo>
                  <a:lnTo>
                    <a:pt x="712190" y="85270"/>
                  </a:lnTo>
                  <a:lnTo>
                    <a:pt x="673036" y="60429"/>
                  </a:lnTo>
                  <a:lnTo>
                    <a:pt x="630837" y="39451"/>
                  </a:lnTo>
                  <a:lnTo>
                    <a:pt x="585919" y="22628"/>
                  </a:lnTo>
                  <a:lnTo>
                    <a:pt x="538613" y="10251"/>
                  </a:lnTo>
                  <a:lnTo>
                    <a:pt x="489247" y="2611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332662" y="3138487"/>
              <a:ext cx="876300" cy="776605"/>
            </a:xfrm>
            <a:custGeom>
              <a:avLst/>
              <a:gdLst/>
              <a:ahLst/>
              <a:cxnLst/>
              <a:rect l="l" t="t" r="r" b="b"/>
              <a:pathLst>
                <a:path w="876300" h="776604">
                  <a:moveTo>
                    <a:pt x="0" y="388143"/>
                  </a:moveTo>
                  <a:lnTo>
                    <a:pt x="2947" y="342877"/>
                  </a:lnTo>
                  <a:lnTo>
                    <a:pt x="11571" y="299145"/>
                  </a:lnTo>
                  <a:lnTo>
                    <a:pt x="25543" y="257238"/>
                  </a:lnTo>
                  <a:lnTo>
                    <a:pt x="44534" y="217447"/>
                  </a:lnTo>
                  <a:lnTo>
                    <a:pt x="68214" y="180064"/>
                  </a:lnTo>
                  <a:lnTo>
                    <a:pt x="96256" y="145379"/>
                  </a:lnTo>
                  <a:lnTo>
                    <a:pt x="128331" y="113684"/>
                  </a:lnTo>
                  <a:lnTo>
                    <a:pt x="164109" y="85270"/>
                  </a:lnTo>
                  <a:lnTo>
                    <a:pt x="203262" y="60429"/>
                  </a:lnTo>
                  <a:lnTo>
                    <a:pt x="245462" y="39451"/>
                  </a:lnTo>
                  <a:lnTo>
                    <a:pt x="290380" y="22628"/>
                  </a:lnTo>
                  <a:lnTo>
                    <a:pt x="337686" y="10251"/>
                  </a:lnTo>
                  <a:lnTo>
                    <a:pt x="387052" y="2611"/>
                  </a:lnTo>
                  <a:lnTo>
                    <a:pt x="438150" y="0"/>
                  </a:lnTo>
                  <a:lnTo>
                    <a:pt x="489247" y="2611"/>
                  </a:lnTo>
                  <a:lnTo>
                    <a:pt x="538613" y="10251"/>
                  </a:lnTo>
                  <a:lnTo>
                    <a:pt x="585919" y="22628"/>
                  </a:lnTo>
                  <a:lnTo>
                    <a:pt x="630837" y="39451"/>
                  </a:lnTo>
                  <a:lnTo>
                    <a:pt x="673037" y="60429"/>
                  </a:lnTo>
                  <a:lnTo>
                    <a:pt x="712190" y="85270"/>
                  </a:lnTo>
                  <a:lnTo>
                    <a:pt x="747968" y="113684"/>
                  </a:lnTo>
                  <a:lnTo>
                    <a:pt x="780043" y="145379"/>
                  </a:lnTo>
                  <a:lnTo>
                    <a:pt x="808085" y="180064"/>
                  </a:lnTo>
                  <a:lnTo>
                    <a:pt x="831765" y="217447"/>
                  </a:lnTo>
                  <a:lnTo>
                    <a:pt x="850756" y="257238"/>
                  </a:lnTo>
                  <a:lnTo>
                    <a:pt x="864728" y="299145"/>
                  </a:lnTo>
                  <a:lnTo>
                    <a:pt x="873352" y="342877"/>
                  </a:lnTo>
                  <a:lnTo>
                    <a:pt x="876300" y="388143"/>
                  </a:lnTo>
                  <a:lnTo>
                    <a:pt x="873352" y="433409"/>
                  </a:lnTo>
                  <a:lnTo>
                    <a:pt x="864728" y="477141"/>
                  </a:lnTo>
                  <a:lnTo>
                    <a:pt x="850756" y="519048"/>
                  </a:lnTo>
                  <a:lnTo>
                    <a:pt x="831765" y="558839"/>
                  </a:lnTo>
                  <a:lnTo>
                    <a:pt x="808085" y="596222"/>
                  </a:lnTo>
                  <a:lnTo>
                    <a:pt x="780043" y="630907"/>
                  </a:lnTo>
                  <a:lnTo>
                    <a:pt x="747968" y="662602"/>
                  </a:lnTo>
                  <a:lnTo>
                    <a:pt x="712190" y="691016"/>
                  </a:lnTo>
                  <a:lnTo>
                    <a:pt x="673037" y="715857"/>
                  </a:lnTo>
                  <a:lnTo>
                    <a:pt x="630837" y="736835"/>
                  </a:lnTo>
                  <a:lnTo>
                    <a:pt x="585919" y="753658"/>
                  </a:lnTo>
                  <a:lnTo>
                    <a:pt x="538613" y="766035"/>
                  </a:lnTo>
                  <a:lnTo>
                    <a:pt x="489247" y="773675"/>
                  </a:lnTo>
                  <a:lnTo>
                    <a:pt x="438150" y="776287"/>
                  </a:lnTo>
                  <a:lnTo>
                    <a:pt x="387052" y="773675"/>
                  </a:lnTo>
                  <a:lnTo>
                    <a:pt x="337686" y="766035"/>
                  </a:lnTo>
                  <a:lnTo>
                    <a:pt x="290380" y="753658"/>
                  </a:lnTo>
                  <a:lnTo>
                    <a:pt x="245462" y="736835"/>
                  </a:lnTo>
                  <a:lnTo>
                    <a:pt x="203262" y="715857"/>
                  </a:lnTo>
                  <a:lnTo>
                    <a:pt x="164109" y="691016"/>
                  </a:lnTo>
                  <a:lnTo>
                    <a:pt x="128331" y="662602"/>
                  </a:lnTo>
                  <a:lnTo>
                    <a:pt x="96256" y="630907"/>
                  </a:lnTo>
                  <a:lnTo>
                    <a:pt x="68214" y="596222"/>
                  </a:lnTo>
                  <a:lnTo>
                    <a:pt x="44534" y="558839"/>
                  </a:lnTo>
                  <a:lnTo>
                    <a:pt x="25543" y="519048"/>
                  </a:lnTo>
                  <a:lnTo>
                    <a:pt x="11571" y="477141"/>
                  </a:lnTo>
                  <a:lnTo>
                    <a:pt x="2947" y="433409"/>
                  </a:lnTo>
                  <a:lnTo>
                    <a:pt x="0" y="388143"/>
                  </a:lnTo>
                  <a:close/>
                </a:path>
              </a:pathLst>
            </a:custGeom>
            <a:ln w="12700">
              <a:solidFill>
                <a:srgbClr val="4471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731918" y="3386835"/>
            <a:ext cx="1289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Calibri"/>
                <a:cs typeface="Calibri"/>
              </a:rPr>
              <a:t>3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414702" y="3329940"/>
            <a:ext cx="18961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alibri"/>
                <a:cs typeface="Calibri"/>
              </a:rPr>
              <a:t>Calculate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number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and </a:t>
            </a:r>
            <a:r>
              <a:rPr sz="1400" spc="-10" dirty="0">
                <a:latin typeface="Calibri"/>
                <a:cs typeface="Calibri"/>
              </a:rPr>
              <a:t>occurrence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each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orbit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326312" y="3933825"/>
            <a:ext cx="3638550" cy="789305"/>
            <a:chOff x="7326312" y="3933825"/>
            <a:chExt cx="3638550" cy="789305"/>
          </a:xfrm>
        </p:grpSpPr>
        <p:sp>
          <p:nvSpPr>
            <p:cNvPr id="29" name="object 29"/>
            <p:cNvSpPr/>
            <p:nvPr/>
          </p:nvSpPr>
          <p:spPr>
            <a:xfrm>
              <a:off x="7877175" y="4071937"/>
              <a:ext cx="3081655" cy="513080"/>
            </a:xfrm>
            <a:custGeom>
              <a:avLst/>
              <a:gdLst/>
              <a:ahLst/>
              <a:cxnLst/>
              <a:rect l="l" t="t" r="r" b="b"/>
              <a:pathLst>
                <a:path w="3081654" h="513079">
                  <a:moveTo>
                    <a:pt x="3081337" y="0"/>
                  </a:moveTo>
                  <a:lnTo>
                    <a:pt x="0" y="0"/>
                  </a:lnTo>
                  <a:lnTo>
                    <a:pt x="0" y="512762"/>
                  </a:lnTo>
                  <a:lnTo>
                    <a:pt x="3081337" y="512762"/>
                  </a:lnTo>
                  <a:lnTo>
                    <a:pt x="30813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877175" y="4071937"/>
              <a:ext cx="3081655" cy="513080"/>
            </a:xfrm>
            <a:custGeom>
              <a:avLst/>
              <a:gdLst/>
              <a:ahLst/>
              <a:cxnLst/>
              <a:rect l="l" t="t" r="r" b="b"/>
              <a:pathLst>
                <a:path w="3081654" h="513079">
                  <a:moveTo>
                    <a:pt x="0" y="0"/>
                  </a:moveTo>
                  <a:lnTo>
                    <a:pt x="3081338" y="0"/>
                  </a:lnTo>
                  <a:lnTo>
                    <a:pt x="3081338" y="512762"/>
                  </a:lnTo>
                  <a:lnTo>
                    <a:pt x="0" y="51276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4471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332662" y="3940175"/>
              <a:ext cx="876300" cy="776605"/>
            </a:xfrm>
            <a:custGeom>
              <a:avLst/>
              <a:gdLst/>
              <a:ahLst/>
              <a:cxnLst/>
              <a:rect l="l" t="t" r="r" b="b"/>
              <a:pathLst>
                <a:path w="876300" h="776604">
                  <a:moveTo>
                    <a:pt x="438150" y="0"/>
                  </a:moveTo>
                  <a:lnTo>
                    <a:pt x="387052" y="2611"/>
                  </a:lnTo>
                  <a:lnTo>
                    <a:pt x="337686" y="10251"/>
                  </a:lnTo>
                  <a:lnTo>
                    <a:pt x="290380" y="22628"/>
                  </a:lnTo>
                  <a:lnTo>
                    <a:pt x="245462" y="39451"/>
                  </a:lnTo>
                  <a:lnTo>
                    <a:pt x="203263" y="60429"/>
                  </a:lnTo>
                  <a:lnTo>
                    <a:pt x="164109" y="85270"/>
                  </a:lnTo>
                  <a:lnTo>
                    <a:pt x="128331" y="113684"/>
                  </a:lnTo>
                  <a:lnTo>
                    <a:pt x="96256" y="145379"/>
                  </a:lnTo>
                  <a:lnTo>
                    <a:pt x="68214" y="180064"/>
                  </a:lnTo>
                  <a:lnTo>
                    <a:pt x="44534" y="217447"/>
                  </a:lnTo>
                  <a:lnTo>
                    <a:pt x="25543" y="257238"/>
                  </a:lnTo>
                  <a:lnTo>
                    <a:pt x="11571" y="299145"/>
                  </a:lnTo>
                  <a:lnTo>
                    <a:pt x="2947" y="342877"/>
                  </a:lnTo>
                  <a:lnTo>
                    <a:pt x="0" y="388143"/>
                  </a:lnTo>
                  <a:lnTo>
                    <a:pt x="2947" y="433409"/>
                  </a:lnTo>
                  <a:lnTo>
                    <a:pt x="11571" y="477141"/>
                  </a:lnTo>
                  <a:lnTo>
                    <a:pt x="25543" y="519048"/>
                  </a:lnTo>
                  <a:lnTo>
                    <a:pt x="44534" y="558839"/>
                  </a:lnTo>
                  <a:lnTo>
                    <a:pt x="68214" y="596223"/>
                  </a:lnTo>
                  <a:lnTo>
                    <a:pt x="96256" y="630907"/>
                  </a:lnTo>
                  <a:lnTo>
                    <a:pt x="128331" y="662602"/>
                  </a:lnTo>
                  <a:lnTo>
                    <a:pt x="164109" y="691016"/>
                  </a:lnTo>
                  <a:lnTo>
                    <a:pt x="203263" y="715858"/>
                  </a:lnTo>
                  <a:lnTo>
                    <a:pt x="245462" y="736836"/>
                  </a:lnTo>
                  <a:lnTo>
                    <a:pt x="290380" y="753659"/>
                  </a:lnTo>
                  <a:lnTo>
                    <a:pt x="337686" y="766036"/>
                  </a:lnTo>
                  <a:lnTo>
                    <a:pt x="387052" y="773676"/>
                  </a:lnTo>
                  <a:lnTo>
                    <a:pt x="438150" y="776287"/>
                  </a:lnTo>
                  <a:lnTo>
                    <a:pt x="489247" y="773676"/>
                  </a:lnTo>
                  <a:lnTo>
                    <a:pt x="538613" y="766036"/>
                  </a:lnTo>
                  <a:lnTo>
                    <a:pt x="585919" y="753659"/>
                  </a:lnTo>
                  <a:lnTo>
                    <a:pt x="630837" y="736836"/>
                  </a:lnTo>
                  <a:lnTo>
                    <a:pt x="673036" y="715858"/>
                  </a:lnTo>
                  <a:lnTo>
                    <a:pt x="712190" y="691016"/>
                  </a:lnTo>
                  <a:lnTo>
                    <a:pt x="747968" y="662602"/>
                  </a:lnTo>
                  <a:lnTo>
                    <a:pt x="780043" y="630907"/>
                  </a:lnTo>
                  <a:lnTo>
                    <a:pt x="808085" y="596223"/>
                  </a:lnTo>
                  <a:lnTo>
                    <a:pt x="831765" y="558839"/>
                  </a:lnTo>
                  <a:lnTo>
                    <a:pt x="850756" y="519048"/>
                  </a:lnTo>
                  <a:lnTo>
                    <a:pt x="864728" y="477141"/>
                  </a:lnTo>
                  <a:lnTo>
                    <a:pt x="873352" y="433409"/>
                  </a:lnTo>
                  <a:lnTo>
                    <a:pt x="876300" y="388143"/>
                  </a:lnTo>
                  <a:lnTo>
                    <a:pt x="873352" y="342877"/>
                  </a:lnTo>
                  <a:lnTo>
                    <a:pt x="864728" y="299145"/>
                  </a:lnTo>
                  <a:lnTo>
                    <a:pt x="850756" y="257238"/>
                  </a:lnTo>
                  <a:lnTo>
                    <a:pt x="831765" y="217447"/>
                  </a:lnTo>
                  <a:lnTo>
                    <a:pt x="808085" y="180064"/>
                  </a:lnTo>
                  <a:lnTo>
                    <a:pt x="780043" y="145379"/>
                  </a:lnTo>
                  <a:lnTo>
                    <a:pt x="747968" y="113684"/>
                  </a:lnTo>
                  <a:lnTo>
                    <a:pt x="712190" y="85270"/>
                  </a:lnTo>
                  <a:lnTo>
                    <a:pt x="673036" y="60429"/>
                  </a:lnTo>
                  <a:lnTo>
                    <a:pt x="630837" y="39451"/>
                  </a:lnTo>
                  <a:lnTo>
                    <a:pt x="585919" y="22628"/>
                  </a:lnTo>
                  <a:lnTo>
                    <a:pt x="538613" y="10251"/>
                  </a:lnTo>
                  <a:lnTo>
                    <a:pt x="489247" y="2611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332662" y="3940175"/>
              <a:ext cx="876300" cy="776605"/>
            </a:xfrm>
            <a:custGeom>
              <a:avLst/>
              <a:gdLst/>
              <a:ahLst/>
              <a:cxnLst/>
              <a:rect l="l" t="t" r="r" b="b"/>
              <a:pathLst>
                <a:path w="876300" h="776604">
                  <a:moveTo>
                    <a:pt x="0" y="388144"/>
                  </a:moveTo>
                  <a:lnTo>
                    <a:pt x="2947" y="342878"/>
                  </a:lnTo>
                  <a:lnTo>
                    <a:pt x="11571" y="299146"/>
                  </a:lnTo>
                  <a:lnTo>
                    <a:pt x="25543" y="257239"/>
                  </a:lnTo>
                  <a:lnTo>
                    <a:pt x="44534" y="217448"/>
                  </a:lnTo>
                  <a:lnTo>
                    <a:pt x="68214" y="180064"/>
                  </a:lnTo>
                  <a:lnTo>
                    <a:pt x="96256" y="145379"/>
                  </a:lnTo>
                  <a:lnTo>
                    <a:pt x="128331" y="113684"/>
                  </a:lnTo>
                  <a:lnTo>
                    <a:pt x="164109" y="85270"/>
                  </a:lnTo>
                  <a:lnTo>
                    <a:pt x="203262" y="60429"/>
                  </a:lnTo>
                  <a:lnTo>
                    <a:pt x="245462" y="39451"/>
                  </a:lnTo>
                  <a:lnTo>
                    <a:pt x="290380" y="22628"/>
                  </a:lnTo>
                  <a:lnTo>
                    <a:pt x="337686" y="10251"/>
                  </a:lnTo>
                  <a:lnTo>
                    <a:pt x="387052" y="2611"/>
                  </a:lnTo>
                  <a:lnTo>
                    <a:pt x="438150" y="0"/>
                  </a:lnTo>
                  <a:lnTo>
                    <a:pt x="489247" y="2611"/>
                  </a:lnTo>
                  <a:lnTo>
                    <a:pt x="538613" y="10251"/>
                  </a:lnTo>
                  <a:lnTo>
                    <a:pt x="585919" y="22628"/>
                  </a:lnTo>
                  <a:lnTo>
                    <a:pt x="630837" y="39451"/>
                  </a:lnTo>
                  <a:lnTo>
                    <a:pt x="673037" y="60429"/>
                  </a:lnTo>
                  <a:lnTo>
                    <a:pt x="712190" y="85270"/>
                  </a:lnTo>
                  <a:lnTo>
                    <a:pt x="747968" y="113684"/>
                  </a:lnTo>
                  <a:lnTo>
                    <a:pt x="780043" y="145379"/>
                  </a:lnTo>
                  <a:lnTo>
                    <a:pt x="808085" y="180064"/>
                  </a:lnTo>
                  <a:lnTo>
                    <a:pt x="831765" y="217448"/>
                  </a:lnTo>
                  <a:lnTo>
                    <a:pt x="850756" y="257239"/>
                  </a:lnTo>
                  <a:lnTo>
                    <a:pt x="864728" y="299146"/>
                  </a:lnTo>
                  <a:lnTo>
                    <a:pt x="873352" y="342878"/>
                  </a:lnTo>
                  <a:lnTo>
                    <a:pt x="876300" y="388144"/>
                  </a:lnTo>
                  <a:lnTo>
                    <a:pt x="873352" y="433409"/>
                  </a:lnTo>
                  <a:lnTo>
                    <a:pt x="864728" y="477141"/>
                  </a:lnTo>
                  <a:lnTo>
                    <a:pt x="850756" y="519048"/>
                  </a:lnTo>
                  <a:lnTo>
                    <a:pt x="831765" y="558839"/>
                  </a:lnTo>
                  <a:lnTo>
                    <a:pt x="808085" y="596223"/>
                  </a:lnTo>
                  <a:lnTo>
                    <a:pt x="780043" y="630908"/>
                  </a:lnTo>
                  <a:lnTo>
                    <a:pt x="747968" y="662603"/>
                  </a:lnTo>
                  <a:lnTo>
                    <a:pt x="712190" y="691017"/>
                  </a:lnTo>
                  <a:lnTo>
                    <a:pt x="673037" y="715858"/>
                  </a:lnTo>
                  <a:lnTo>
                    <a:pt x="630837" y="736836"/>
                  </a:lnTo>
                  <a:lnTo>
                    <a:pt x="585919" y="753659"/>
                  </a:lnTo>
                  <a:lnTo>
                    <a:pt x="538613" y="766036"/>
                  </a:lnTo>
                  <a:lnTo>
                    <a:pt x="489247" y="773676"/>
                  </a:lnTo>
                  <a:lnTo>
                    <a:pt x="438150" y="776288"/>
                  </a:lnTo>
                  <a:lnTo>
                    <a:pt x="387052" y="773676"/>
                  </a:lnTo>
                  <a:lnTo>
                    <a:pt x="337686" y="766036"/>
                  </a:lnTo>
                  <a:lnTo>
                    <a:pt x="290380" y="753659"/>
                  </a:lnTo>
                  <a:lnTo>
                    <a:pt x="245462" y="736836"/>
                  </a:lnTo>
                  <a:lnTo>
                    <a:pt x="203262" y="715858"/>
                  </a:lnTo>
                  <a:lnTo>
                    <a:pt x="164109" y="691017"/>
                  </a:lnTo>
                  <a:lnTo>
                    <a:pt x="128331" y="662603"/>
                  </a:lnTo>
                  <a:lnTo>
                    <a:pt x="96256" y="630908"/>
                  </a:lnTo>
                  <a:lnTo>
                    <a:pt x="68214" y="596223"/>
                  </a:lnTo>
                  <a:lnTo>
                    <a:pt x="44534" y="558839"/>
                  </a:lnTo>
                  <a:lnTo>
                    <a:pt x="25543" y="519048"/>
                  </a:lnTo>
                  <a:lnTo>
                    <a:pt x="11571" y="477141"/>
                  </a:lnTo>
                  <a:lnTo>
                    <a:pt x="2947" y="433409"/>
                  </a:lnTo>
                  <a:lnTo>
                    <a:pt x="0" y="388144"/>
                  </a:lnTo>
                  <a:close/>
                </a:path>
              </a:pathLst>
            </a:custGeom>
            <a:ln w="12700">
              <a:solidFill>
                <a:srgbClr val="4471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731918" y="4206748"/>
            <a:ext cx="1289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Calibri"/>
                <a:cs typeface="Calibri"/>
              </a:rPr>
              <a:t>4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7326312" y="4738687"/>
            <a:ext cx="3638550" cy="790575"/>
            <a:chOff x="7326312" y="4738687"/>
            <a:chExt cx="3638550" cy="790575"/>
          </a:xfrm>
        </p:grpSpPr>
        <p:sp>
          <p:nvSpPr>
            <p:cNvPr id="35" name="object 35"/>
            <p:cNvSpPr/>
            <p:nvPr/>
          </p:nvSpPr>
          <p:spPr>
            <a:xfrm>
              <a:off x="7877175" y="4876800"/>
              <a:ext cx="3081655" cy="514350"/>
            </a:xfrm>
            <a:custGeom>
              <a:avLst/>
              <a:gdLst/>
              <a:ahLst/>
              <a:cxnLst/>
              <a:rect l="l" t="t" r="r" b="b"/>
              <a:pathLst>
                <a:path w="3081654" h="514350">
                  <a:moveTo>
                    <a:pt x="3081337" y="0"/>
                  </a:moveTo>
                  <a:lnTo>
                    <a:pt x="0" y="0"/>
                  </a:lnTo>
                  <a:lnTo>
                    <a:pt x="0" y="514350"/>
                  </a:lnTo>
                  <a:lnTo>
                    <a:pt x="3081337" y="514350"/>
                  </a:lnTo>
                  <a:lnTo>
                    <a:pt x="30813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877175" y="4876800"/>
              <a:ext cx="3081655" cy="514350"/>
            </a:xfrm>
            <a:custGeom>
              <a:avLst/>
              <a:gdLst/>
              <a:ahLst/>
              <a:cxnLst/>
              <a:rect l="l" t="t" r="r" b="b"/>
              <a:pathLst>
                <a:path w="3081654" h="514350">
                  <a:moveTo>
                    <a:pt x="0" y="0"/>
                  </a:moveTo>
                  <a:lnTo>
                    <a:pt x="3081338" y="0"/>
                  </a:lnTo>
                  <a:lnTo>
                    <a:pt x="3081338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4471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332662" y="4745037"/>
              <a:ext cx="876300" cy="777875"/>
            </a:xfrm>
            <a:custGeom>
              <a:avLst/>
              <a:gdLst/>
              <a:ahLst/>
              <a:cxnLst/>
              <a:rect l="l" t="t" r="r" b="b"/>
              <a:pathLst>
                <a:path w="876300" h="777875">
                  <a:moveTo>
                    <a:pt x="438150" y="0"/>
                  </a:moveTo>
                  <a:lnTo>
                    <a:pt x="387052" y="2616"/>
                  </a:lnTo>
                  <a:lnTo>
                    <a:pt x="337686" y="10272"/>
                  </a:lnTo>
                  <a:lnTo>
                    <a:pt x="290380" y="22674"/>
                  </a:lnTo>
                  <a:lnTo>
                    <a:pt x="245462" y="39532"/>
                  </a:lnTo>
                  <a:lnTo>
                    <a:pt x="203263" y="60552"/>
                  </a:lnTo>
                  <a:lnTo>
                    <a:pt x="164109" y="85445"/>
                  </a:lnTo>
                  <a:lnTo>
                    <a:pt x="128331" y="113917"/>
                  </a:lnTo>
                  <a:lnTo>
                    <a:pt x="96256" y="145677"/>
                  </a:lnTo>
                  <a:lnTo>
                    <a:pt x="68214" y="180432"/>
                  </a:lnTo>
                  <a:lnTo>
                    <a:pt x="44534" y="217892"/>
                  </a:lnTo>
                  <a:lnTo>
                    <a:pt x="25543" y="257765"/>
                  </a:lnTo>
                  <a:lnTo>
                    <a:pt x="11571" y="299757"/>
                  </a:lnTo>
                  <a:lnTo>
                    <a:pt x="2947" y="343579"/>
                  </a:lnTo>
                  <a:lnTo>
                    <a:pt x="0" y="388937"/>
                  </a:lnTo>
                  <a:lnTo>
                    <a:pt x="2947" y="434295"/>
                  </a:lnTo>
                  <a:lnTo>
                    <a:pt x="11571" y="478117"/>
                  </a:lnTo>
                  <a:lnTo>
                    <a:pt x="25543" y="520109"/>
                  </a:lnTo>
                  <a:lnTo>
                    <a:pt x="44534" y="559982"/>
                  </a:lnTo>
                  <a:lnTo>
                    <a:pt x="68214" y="597442"/>
                  </a:lnTo>
                  <a:lnTo>
                    <a:pt x="96256" y="632197"/>
                  </a:lnTo>
                  <a:lnTo>
                    <a:pt x="128331" y="663957"/>
                  </a:lnTo>
                  <a:lnTo>
                    <a:pt x="164109" y="692429"/>
                  </a:lnTo>
                  <a:lnTo>
                    <a:pt x="203263" y="717322"/>
                  </a:lnTo>
                  <a:lnTo>
                    <a:pt x="245462" y="738342"/>
                  </a:lnTo>
                  <a:lnTo>
                    <a:pt x="290380" y="755200"/>
                  </a:lnTo>
                  <a:lnTo>
                    <a:pt x="337686" y="767602"/>
                  </a:lnTo>
                  <a:lnTo>
                    <a:pt x="387052" y="775258"/>
                  </a:lnTo>
                  <a:lnTo>
                    <a:pt x="438150" y="777875"/>
                  </a:lnTo>
                  <a:lnTo>
                    <a:pt x="489247" y="775258"/>
                  </a:lnTo>
                  <a:lnTo>
                    <a:pt x="538613" y="767602"/>
                  </a:lnTo>
                  <a:lnTo>
                    <a:pt x="585919" y="755200"/>
                  </a:lnTo>
                  <a:lnTo>
                    <a:pt x="630837" y="738342"/>
                  </a:lnTo>
                  <a:lnTo>
                    <a:pt x="673036" y="717322"/>
                  </a:lnTo>
                  <a:lnTo>
                    <a:pt x="712190" y="692429"/>
                  </a:lnTo>
                  <a:lnTo>
                    <a:pt x="747968" y="663957"/>
                  </a:lnTo>
                  <a:lnTo>
                    <a:pt x="780043" y="632197"/>
                  </a:lnTo>
                  <a:lnTo>
                    <a:pt x="808085" y="597442"/>
                  </a:lnTo>
                  <a:lnTo>
                    <a:pt x="831765" y="559982"/>
                  </a:lnTo>
                  <a:lnTo>
                    <a:pt x="850756" y="520109"/>
                  </a:lnTo>
                  <a:lnTo>
                    <a:pt x="864728" y="478117"/>
                  </a:lnTo>
                  <a:lnTo>
                    <a:pt x="873352" y="434295"/>
                  </a:lnTo>
                  <a:lnTo>
                    <a:pt x="876300" y="388937"/>
                  </a:lnTo>
                  <a:lnTo>
                    <a:pt x="873352" y="343579"/>
                  </a:lnTo>
                  <a:lnTo>
                    <a:pt x="864728" y="299757"/>
                  </a:lnTo>
                  <a:lnTo>
                    <a:pt x="850756" y="257765"/>
                  </a:lnTo>
                  <a:lnTo>
                    <a:pt x="831765" y="217892"/>
                  </a:lnTo>
                  <a:lnTo>
                    <a:pt x="808085" y="180432"/>
                  </a:lnTo>
                  <a:lnTo>
                    <a:pt x="780043" y="145677"/>
                  </a:lnTo>
                  <a:lnTo>
                    <a:pt x="747968" y="113917"/>
                  </a:lnTo>
                  <a:lnTo>
                    <a:pt x="712190" y="85445"/>
                  </a:lnTo>
                  <a:lnTo>
                    <a:pt x="673036" y="60552"/>
                  </a:lnTo>
                  <a:lnTo>
                    <a:pt x="630837" y="39532"/>
                  </a:lnTo>
                  <a:lnTo>
                    <a:pt x="585919" y="22674"/>
                  </a:lnTo>
                  <a:lnTo>
                    <a:pt x="538613" y="10272"/>
                  </a:lnTo>
                  <a:lnTo>
                    <a:pt x="489247" y="2616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332662" y="4745037"/>
              <a:ext cx="876300" cy="777875"/>
            </a:xfrm>
            <a:custGeom>
              <a:avLst/>
              <a:gdLst/>
              <a:ahLst/>
              <a:cxnLst/>
              <a:rect l="l" t="t" r="r" b="b"/>
              <a:pathLst>
                <a:path w="876300" h="777875">
                  <a:moveTo>
                    <a:pt x="0" y="388937"/>
                  </a:moveTo>
                  <a:lnTo>
                    <a:pt x="2947" y="343579"/>
                  </a:lnTo>
                  <a:lnTo>
                    <a:pt x="11571" y="299757"/>
                  </a:lnTo>
                  <a:lnTo>
                    <a:pt x="25543" y="257764"/>
                  </a:lnTo>
                  <a:lnTo>
                    <a:pt x="44534" y="217892"/>
                  </a:lnTo>
                  <a:lnTo>
                    <a:pt x="68214" y="180432"/>
                  </a:lnTo>
                  <a:lnTo>
                    <a:pt x="96256" y="145676"/>
                  </a:lnTo>
                  <a:lnTo>
                    <a:pt x="128331" y="113917"/>
                  </a:lnTo>
                  <a:lnTo>
                    <a:pt x="164109" y="85445"/>
                  </a:lnTo>
                  <a:lnTo>
                    <a:pt x="203262" y="60552"/>
                  </a:lnTo>
                  <a:lnTo>
                    <a:pt x="245462" y="39532"/>
                  </a:lnTo>
                  <a:lnTo>
                    <a:pt x="290380" y="22674"/>
                  </a:lnTo>
                  <a:lnTo>
                    <a:pt x="337686" y="10272"/>
                  </a:lnTo>
                  <a:lnTo>
                    <a:pt x="387052" y="2616"/>
                  </a:lnTo>
                  <a:lnTo>
                    <a:pt x="438150" y="0"/>
                  </a:lnTo>
                  <a:lnTo>
                    <a:pt x="489247" y="2616"/>
                  </a:lnTo>
                  <a:lnTo>
                    <a:pt x="538613" y="10272"/>
                  </a:lnTo>
                  <a:lnTo>
                    <a:pt x="585919" y="22674"/>
                  </a:lnTo>
                  <a:lnTo>
                    <a:pt x="630837" y="39532"/>
                  </a:lnTo>
                  <a:lnTo>
                    <a:pt x="673037" y="60552"/>
                  </a:lnTo>
                  <a:lnTo>
                    <a:pt x="712190" y="85445"/>
                  </a:lnTo>
                  <a:lnTo>
                    <a:pt x="747968" y="113917"/>
                  </a:lnTo>
                  <a:lnTo>
                    <a:pt x="780043" y="145676"/>
                  </a:lnTo>
                  <a:lnTo>
                    <a:pt x="808085" y="180432"/>
                  </a:lnTo>
                  <a:lnTo>
                    <a:pt x="831765" y="217892"/>
                  </a:lnTo>
                  <a:lnTo>
                    <a:pt x="850756" y="257764"/>
                  </a:lnTo>
                  <a:lnTo>
                    <a:pt x="864728" y="299757"/>
                  </a:lnTo>
                  <a:lnTo>
                    <a:pt x="873352" y="343579"/>
                  </a:lnTo>
                  <a:lnTo>
                    <a:pt x="876300" y="388937"/>
                  </a:lnTo>
                  <a:lnTo>
                    <a:pt x="873352" y="434295"/>
                  </a:lnTo>
                  <a:lnTo>
                    <a:pt x="864728" y="478117"/>
                  </a:lnTo>
                  <a:lnTo>
                    <a:pt x="850756" y="520110"/>
                  </a:lnTo>
                  <a:lnTo>
                    <a:pt x="831765" y="559982"/>
                  </a:lnTo>
                  <a:lnTo>
                    <a:pt x="808085" y="597442"/>
                  </a:lnTo>
                  <a:lnTo>
                    <a:pt x="780043" y="632198"/>
                  </a:lnTo>
                  <a:lnTo>
                    <a:pt x="747968" y="663957"/>
                  </a:lnTo>
                  <a:lnTo>
                    <a:pt x="712190" y="692429"/>
                  </a:lnTo>
                  <a:lnTo>
                    <a:pt x="673037" y="717322"/>
                  </a:lnTo>
                  <a:lnTo>
                    <a:pt x="630837" y="738342"/>
                  </a:lnTo>
                  <a:lnTo>
                    <a:pt x="585919" y="755200"/>
                  </a:lnTo>
                  <a:lnTo>
                    <a:pt x="538613" y="767602"/>
                  </a:lnTo>
                  <a:lnTo>
                    <a:pt x="489247" y="775258"/>
                  </a:lnTo>
                  <a:lnTo>
                    <a:pt x="438150" y="777875"/>
                  </a:lnTo>
                  <a:lnTo>
                    <a:pt x="387052" y="775258"/>
                  </a:lnTo>
                  <a:lnTo>
                    <a:pt x="337686" y="767602"/>
                  </a:lnTo>
                  <a:lnTo>
                    <a:pt x="290380" y="755200"/>
                  </a:lnTo>
                  <a:lnTo>
                    <a:pt x="245462" y="738342"/>
                  </a:lnTo>
                  <a:lnTo>
                    <a:pt x="203262" y="717322"/>
                  </a:lnTo>
                  <a:lnTo>
                    <a:pt x="164109" y="692429"/>
                  </a:lnTo>
                  <a:lnTo>
                    <a:pt x="128331" y="663957"/>
                  </a:lnTo>
                  <a:lnTo>
                    <a:pt x="96256" y="632198"/>
                  </a:lnTo>
                  <a:lnTo>
                    <a:pt x="68214" y="597442"/>
                  </a:lnTo>
                  <a:lnTo>
                    <a:pt x="44534" y="559982"/>
                  </a:lnTo>
                  <a:lnTo>
                    <a:pt x="25543" y="520110"/>
                  </a:lnTo>
                  <a:lnTo>
                    <a:pt x="11571" y="478117"/>
                  </a:lnTo>
                  <a:lnTo>
                    <a:pt x="2947" y="434295"/>
                  </a:lnTo>
                  <a:lnTo>
                    <a:pt x="0" y="388937"/>
                  </a:lnTo>
                  <a:close/>
                </a:path>
              </a:pathLst>
            </a:custGeom>
            <a:ln w="12700">
              <a:solidFill>
                <a:srgbClr val="4471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7731918" y="4983988"/>
            <a:ext cx="1289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Calibri"/>
                <a:cs typeface="Calibri"/>
              </a:rPr>
              <a:t>5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7331075" y="5545137"/>
            <a:ext cx="3638550" cy="789305"/>
            <a:chOff x="7331075" y="5545137"/>
            <a:chExt cx="3638550" cy="789305"/>
          </a:xfrm>
        </p:grpSpPr>
        <p:sp>
          <p:nvSpPr>
            <p:cNvPr id="41" name="object 41"/>
            <p:cNvSpPr/>
            <p:nvPr/>
          </p:nvSpPr>
          <p:spPr>
            <a:xfrm>
              <a:off x="7881937" y="5683250"/>
              <a:ext cx="3081655" cy="513080"/>
            </a:xfrm>
            <a:custGeom>
              <a:avLst/>
              <a:gdLst/>
              <a:ahLst/>
              <a:cxnLst/>
              <a:rect l="l" t="t" r="r" b="b"/>
              <a:pathLst>
                <a:path w="3081654" h="513079">
                  <a:moveTo>
                    <a:pt x="3081337" y="0"/>
                  </a:moveTo>
                  <a:lnTo>
                    <a:pt x="0" y="0"/>
                  </a:lnTo>
                  <a:lnTo>
                    <a:pt x="0" y="512763"/>
                  </a:lnTo>
                  <a:lnTo>
                    <a:pt x="3081337" y="512763"/>
                  </a:lnTo>
                  <a:lnTo>
                    <a:pt x="30813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881937" y="5683250"/>
              <a:ext cx="3081655" cy="513080"/>
            </a:xfrm>
            <a:custGeom>
              <a:avLst/>
              <a:gdLst/>
              <a:ahLst/>
              <a:cxnLst/>
              <a:rect l="l" t="t" r="r" b="b"/>
              <a:pathLst>
                <a:path w="3081654" h="513079">
                  <a:moveTo>
                    <a:pt x="0" y="0"/>
                  </a:moveTo>
                  <a:lnTo>
                    <a:pt x="3081337" y="0"/>
                  </a:lnTo>
                  <a:lnTo>
                    <a:pt x="3081337" y="512763"/>
                  </a:lnTo>
                  <a:lnTo>
                    <a:pt x="0" y="512763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4471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337425" y="5551487"/>
              <a:ext cx="876300" cy="776605"/>
            </a:xfrm>
            <a:custGeom>
              <a:avLst/>
              <a:gdLst/>
              <a:ahLst/>
              <a:cxnLst/>
              <a:rect l="l" t="t" r="r" b="b"/>
              <a:pathLst>
                <a:path w="876300" h="776604">
                  <a:moveTo>
                    <a:pt x="438150" y="0"/>
                  </a:moveTo>
                  <a:lnTo>
                    <a:pt x="387052" y="2611"/>
                  </a:lnTo>
                  <a:lnTo>
                    <a:pt x="337686" y="10251"/>
                  </a:lnTo>
                  <a:lnTo>
                    <a:pt x="290380" y="22628"/>
                  </a:lnTo>
                  <a:lnTo>
                    <a:pt x="245462" y="39451"/>
                  </a:lnTo>
                  <a:lnTo>
                    <a:pt x="203263" y="60429"/>
                  </a:lnTo>
                  <a:lnTo>
                    <a:pt x="164109" y="85270"/>
                  </a:lnTo>
                  <a:lnTo>
                    <a:pt x="128331" y="113684"/>
                  </a:lnTo>
                  <a:lnTo>
                    <a:pt x="96256" y="145379"/>
                  </a:lnTo>
                  <a:lnTo>
                    <a:pt x="68214" y="180064"/>
                  </a:lnTo>
                  <a:lnTo>
                    <a:pt x="44534" y="217447"/>
                  </a:lnTo>
                  <a:lnTo>
                    <a:pt x="25543" y="257238"/>
                  </a:lnTo>
                  <a:lnTo>
                    <a:pt x="11571" y="299145"/>
                  </a:lnTo>
                  <a:lnTo>
                    <a:pt x="2947" y="342877"/>
                  </a:lnTo>
                  <a:lnTo>
                    <a:pt x="0" y="388143"/>
                  </a:lnTo>
                  <a:lnTo>
                    <a:pt x="2947" y="433409"/>
                  </a:lnTo>
                  <a:lnTo>
                    <a:pt x="11571" y="477141"/>
                  </a:lnTo>
                  <a:lnTo>
                    <a:pt x="25543" y="519048"/>
                  </a:lnTo>
                  <a:lnTo>
                    <a:pt x="44534" y="558839"/>
                  </a:lnTo>
                  <a:lnTo>
                    <a:pt x="68214" y="596223"/>
                  </a:lnTo>
                  <a:lnTo>
                    <a:pt x="96256" y="630907"/>
                  </a:lnTo>
                  <a:lnTo>
                    <a:pt x="128331" y="662602"/>
                  </a:lnTo>
                  <a:lnTo>
                    <a:pt x="164109" y="691016"/>
                  </a:lnTo>
                  <a:lnTo>
                    <a:pt x="203263" y="715858"/>
                  </a:lnTo>
                  <a:lnTo>
                    <a:pt x="245462" y="736836"/>
                  </a:lnTo>
                  <a:lnTo>
                    <a:pt x="290380" y="753659"/>
                  </a:lnTo>
                  <a:lnTo>
                    <a:pt x="337686" y="766036"/>
                  </a:lnTo>
                  <a:lnTo>
                    <a:pt x="387052" y="773676"/>
                  </a:lnTo>
                  <a:lnTo>
                    <a:pt x="438150" y="776287"/>
                  </a:lnTo>
                  <a:lnTo>
                    <a:pt x="489247" y="773676"/>
                  </a:lnTo>
                  <a:lnTo>
                    <a:pt x="538613" y="766036"/>
                  </a:lnTo>
                  <a:lnTo>
                    <a:pt x="585919" y="753659"/>
                  </a:lnTo>
                  <a:lnTo>
                    <a:pt x="630837" y="736836"/>
                  </a:lnTo>
                  <a:lnTo>
                    <a:pt x="673036" y="715858"/>
                  </a:lnTo>
                  <a:lnTo>
                    <a:pt x="712190" y="691016"/>
                  </a:lnTo>
                  <a:lnTo>
                    <a:pt x="747968" y="662602"/>
                  </a:lnTo>
                  <a:lnTo>
                    <a:pt x="780043" y="630907"/>
                  </a:lnTo>
                  <a:lnTo>
                    <a:pt x="808085" y="596223"/>
                  </a:lnTo>
                  <a:lnTo>
                    <a:pt x="831765" y="558839"/>
                  </a:lnTo>
                  <a:lnTo>
                    <a:pt x="850756" y="519048"/>
                  </a:lnTo>
                  <a:lnTo>
                    <a:pt x="864728" y="477141"/>
                  </a:lnTo>
                  <a:lnTo>
                    <a:pt x="873352" y="433409"/>
                  </a:lnTo>
                  <a:lnTo>
                    <a:pt x="876300" y="388143"/>
                  </a:lnTo>
                  <a:lnTo>
                    <a:pt x="873352" y="342877"/>
                  </a:lnTo>
                  <a:lnTo>
                    <a:pt x="864728" y="299145"/>
                  </a:lnTo>
                  <a:lnTo>
                    <a:pt x="850756" y="257238"/>
                  </a:lnTo>
                  <a:lnTo>
                    <a:pt x="831765" y="217447"/>
                  </a:lnTo>
                  <a:lnTo>
                    <a:pt x="808085" y="180064"/>
                  </a:lnTo>
                  <a:lnTo>
                    <a:pt x="780043" y="145379"/>
                  </a:lnTo>
                  <a:lnTo>
                    <a:pt x="747968" y="113684"/>
                  </a:lnTo>
                  <a:lnTo>
                    <a:pt x="712190" y="85270"/>
                  </a:lnTo>
                  <a:lnTo>
                    <a:pt x="673036" y="60429"/>
                  </a:lnTo>
                  <a:lnTo>
                    <a:pt x="630837" y="39451"/>
                  </a:lnTo>
                  <a:lnTo>
                    <a:pt x="585919" y="22628"/>
                  </a:lnTo>
                  <a:lnTo>
                    <a:pt x="538613" y="10251"/>
                  </a:lnTo>
                  <a:lnTo>
                    <a:pt x="489247" y="2611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337425" y="5551487"/>
              <a:ext cx="876300" cy="776605"/>
            </a:xfrm>
            <a:custGeom>
              <a:avLst/>
              <a:gdLst/>
              <a:ahLst/>
              <a:cxnLst/>
              <a:rect l="l" t="t" r="r" b="b"/>
              <a:pathLst>
                <a:path w="876300" h="776604">
                  <a:moveTo>
                    <a:pt x="0" y="388143"/>
                  </a:moveTo>
                  <a:lnTo>
                    <a:pt x="2947" y="342877"/>
                  </a:lnTo>
                  <a:lnTo>
                    <a:pt x="11571" y="299145"/>
                  </a:lnTo>
                  <a:lnTo>
                    <a:pt x="25543" y="257238"/>
                  </a:lnTo>
                  <a:lnTo>
                    <a:pt x="44534" y="217447"/>
                  </a:lnTo>
                  <a:lnTo>
                    <a:pt x="68214" y="180064"/>
                  </a:lnTo>
                  <a:lnTo>
                    <a:pt x="96256" y="145379"/>
                  </a:lnTo>
                  <a:lnTo>
                    <a:pt x="128331" y="113684"/>
                  </a:lnTo>
                  <a:lnTo>
                    <a:pt x="164109" y="85270"/>
                  </a:lnTo>
                  <a:lnTo>
                    <a:pt x="203262" y="60429"/>
                  </a:lnTo>
                  <a:lnTo>
                    <a:pt x="245462" y="39451"/>
                  </a:lnTo>
                  <a:lnTo>
                    <a:pt x="290380" y="22628"/>
                  </a:lnTo>
                  <a:lnTo>
                    <a:pt x="337686" y="10251"/>
                  </a:lnTo>
                  <a:lnTo>
                    <a:pt x="387052" y="2611"/>
                  </a:lnTo>
                  <a:lnTo>
                    <a:pt x="438150" y="0"/>
                  </a:lnTo>
                  <a:lnTo>
                    <a:pt x="489247" y="2611"/>
                  </a:lnTo>
                  <a:lnTo>
                    <a:pt x="538613" y="10251"/>
                  </a:lnTo>
                  <a:lnTo>
                    <a:pt x="585919" y="22628"/>
                  </a:lnTo>
                  <a:lnTo>
                    <a:pt x="630837" y="39451"/>
                  </a:lnTo>
                  <a:lnTo>
                    <a:pt x="673037" y="60429"/>
                  </a:lnTo>
                  <a:lnTo>
                    <a:pt x="712190" y="85270"/>
                  </a:lnTo>
                  <a:lnTo>
                    <a:pt x="747968" y="113684"/>
                  </a:lnTo>
                  <a:lnTo>
                    <a:pt x="780043" y="145379"/>
                  </a:lnTo>
                  <a:lnTo>
                    <a:pt x="808085" y="180064"/>
                  </a:lnTo>
                  <a:lnTo>
                    <a:pt x="831765" y="217447"/>
                  </a:lnTo>
                  <a:lnTo>
                    <a:pt x="850756" y="257238"/>
                  </a:lnTo>
                  <a:lnTo>
                    <a:pt x="864728" y="299145"/>
                  </a:lnTo>
                  <a:lnTo>
                    <a:pt x="873352" y="342877"/>
                  </a:lnTo>
                  <a:lnTo>
                    <a:pt x="876300" y="388143"/>
                  </a:lnTo>
                  <a:lnTo>
                    <a:pt x="873352" y="433409"/>
                  </a:lnTo>
                  <a:lnTo>
                    <a:pt x="864728" y="477141"/>
                  </a:lnTo>
                  <a:lnTo>
                    <a:pt x="850756" y="519048"/>
                  </a:lnTo>
                  <a:lnTo>
                    <a:pt x="831765" y="558839"/>
                  </a:lnTo>
                  <a:lnTo>
                    <a:pt x="808085" y="596222"/>
                  </a:lnTo>
                  <a:lnTo>
                    <a:pt x="780043" y="630907"/>
                  </a:lnTo>
                  <a:lnTo>
                    <a:pt x="747968" y="662602"/>
                  </a:lnTo>
                  <a:lnTo>
                    <a:pt x="712190" y="691016"/>
                  </a:lnTo>
                  <a:lnTo>
                    <a:pt x="673037" y="715857"/>
                  </a:lnTo>
                  <a:lnTo>
                    <a:pt x="630837" y="736835"/>
                  </a:lnTo>
                  <a:lnTo>
                    <a:pt x="585919" y="753658"/>
                  </a:lnTo>
                  <a:lnTo>
                    <a:pt x="538613" y="766035"/>
                  </a:lnTo>
                  <a:lnTo>
                    <a:pt x="489247" y="773675"/>
                  </a:lnTo>
                  <a:lnTo>
                    <a:pt x="438150" y="776287"/>
                  </a:lnTo>
                  <a:lnTo>
                    <a:pt x="387052" y="773675"/>
                  </a:lnTo>
                  <a:lnTo>
                    <a:pt x="337686" y="766035"/>
                  </a:lnTo>
                  <a:lnTo>
                    <a:pt x="290380" y="753658"/>
                  </a:lnTo>
                  <a:lnTo>
                    <a:pt x="245462" y="736835"/>
                  </a:lnTo>
                  <a:lnTo>
                    <a:pt x="203262" y="715857"/>
                  </a:lnTo>
                  <a:lnTo>
                    <a:pt x="164109" y="691016"/>
                  </a:lnTo>
                  <a:lnTo>
                    <a:pt x="128331" y="662602"/>
                  </a:lnTo>
                  <a:lnTo>
                    <a:pt x="96256" y="630907"/>
                  </a:lnTo>
                  <a:lnTo>
                    <a:pt x="68214" y="596222"/>
                  </a:lnTo>
                  <a:lnTo>
                    <a:pt x="44534" y="558839"/>
                  </a:lnTo>
                  <a:lnTo>
                    <a:pt x="25543" y="519048"/>
                  </a:lnTo>
                  <a:lnTo>
                    <a:pt x="11571" y="477141"/>
                  </a:lnTo>
                  <a:lnTo>
                    <a:pt x="2947" y="433409"/>
                  </a:lnTo>
                  <a:lnTo>
                    <a:pt x="0" y="388143"/>
                  </a:lnTo>
                  <a:close/>
                </a:path>
              </a:pathLst>
            </a:custGeom>
            <a:ln w="12700">
              <a:solidFill>
                <a:srgbClr val="4471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4368006" y="5206491"/>
            <a:ext cx="1289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46" name="object 46"/>
          <p:cNvSpPr txBox="1"/>
          <p:nvPr/>
        </p:nvSpPr>
        <p:spPr>
          <a:xfrm>
            <a:off x="8340090" y="4080255"/>
            <a:ext cx="2553335" cy="42799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3099"/>
              </a:lnSpc>
              <a:spcBef>
                <a:spcPts val="50"/>
              </a:spcBef>
            </a:pPr>
            <a:r>
              <a:rPr sz="1300" dirty="0">
                <a:latin typeface="Calibri"/>
                <a:cs typeface="Calibri"/>
              </a:rPr>
              <a:t>Calculate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number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and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occurrence </a:t>
            </a:r>
            <a:r>
              <a:rPr sz="1300" dirty="0">
                <a:latin typeface="Calibri"/>
                <a:cs typeface="Calibri"/>
              </a:rPr>
              <a:t>of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mission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outcome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per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orbit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type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286115" y="4893564"/>
            <a:ext cx="22701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alibri"/>
                <a:cs typeface="Calibri"/>
              </a:rPr>
              <a:t>Create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landing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outcome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label </a:t>
            </a:r>
            <a:r>
              <a:rPr sz="1400" dirty="0">
                <a:latin typeface="Calibri"/>
                <a:cs typeface="Calibri"/>
              </a:rPr>
              <a:t>from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Outcome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column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370252" y="5786628"/>
            <a:ext cx="18707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Exporting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data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CSV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719218" y="5788660"/>
            <a:ext cx="1289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Calibri"/>
                <a:cs typeface="Calibri"/>
              </a:rPr>
              <a:t>6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46790" y="6078220"/>
            <a:ext cx="23177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1A7CD9"/>
                </a:solidFill>
                <a:latin typeface="Calibri"/>
                <a:cs typeface="Calibri"/>
              </a:rPr>
              <a:t>12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8678" y="1834388"/>
            <a:ext cx="9349105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716915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0" dirty="0">
                <a:latin typeface="Calibri"/>
                <a:cs typeface="Calibri"/>
              </a:rPr>
              <a:t>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explore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scatterplots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barplots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were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visualize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spc="-10" dirty="0">
                <a:latin typeface="Calibri"/>
                <a:cs typeface="Calibri"/>
              </a:rPr>
              <a:t>relationship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pair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features: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Calibri"/>
                <a:cs typeface="Calibri"/>
              </a:rPr>
              <a:t>Payload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Mass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X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Flight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Number,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Launch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Site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X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Flight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Number,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Launch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Site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X 	</a:t>
            </a:r>
            <a:r>
              <a:rPr sz="2400" spc="-10" dirty="0">
                <a:latin typeface="Calibri"/>
                <a:cs typeface="Calibri"/>
              </a:rPr>
              <a:t>Payload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Mass,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Orbit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Flight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Number,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Payload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Orbit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8678" y="5834379"/>
            <a:ext cx="8702675" cy="690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ts val="2615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GitHub</a:t>
            </a:r>
            <a:r>
              <a:rPr sz="2200" spc="-4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URL:</a:t>
            </a:r>
            <a:r>
              <a:rPr sz="2200" spc="-3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u="sng" spc="-10" dirty="0">
                <a:solidFill>
                  <a:srgbClr val="0363C0"/>
                </a:solidFill>
                <a:uFill>
                  <a:solidFill>
                    <a:srgbClr val="0363C0"/>
                  </a:solidFill>
                </a:uFill>
                <a:latin typeface="Calibri"/>
                <a:cs typeface="Calibri"/>
                <a:hlinkClick r:id="rId2"/>
              </a:rPr>
              <a:t>http://localhost:8888/lab/tree/Desktop/IBM/Week%202%20-</a:t>
            </a:r>
            <a:endParaRPr sz="2200">
              <a:latin typeface="Calibri"/>
              <a:cs typeface="Calibri"/>
            </a:endParaRPr>
          </a:p>
          <a:p>
            <a:pPr marL="241300">
              <a:lnSpc>
                <a:spcPts val="2615"/>
              </a:lnSpc>
            </a:pPr>
            <a:r>
              <a:rPr sz="2200" u="sng" spc="-20" dirty="0">
                <a:solidFill>
                  <a:srgbClr val="0363C0"/>
                </a:solidFill>
                <a:uFill>
                  <a:solidFill>
                    <a:srgbClr val="0363C0"/>
                  </a:solidFill>
                </a:uFill>
                <a:latin typeface="Calibri"/>
                <a:cs typeface="Calibri"/>
              </a:rPr>
              <a:t>%20EDA/5.EDA-</a:t>
            </a:r>
            <a:r>
              <a:rPr sz="2200" u="sng" spc="-10" dirty="0">
                <a:solidFill>
                  <a:srgbClr val="0363C0"/>
                </a:solidFill>
                <a:uFill>
                  <a:solidFill>
                    <a:srgbClr val="0363C0"/>
                  </a:solidFill>
                </a:uFill>
                <a:latin typeface="Calibri"/>
                <a:cs typeface="Calibri"/>
              </a:rPr>
              <a:t>with-Visaulization.ipynb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EDA</a:t>
            </a:r>
            <a:r>
              <a:rPr spc="-90" dirty="0"/>
              <a:t> </a:t>
            </a:r>
            <a:r>
              <a:rPr dirty="0"/>
              <a:t>with</a:t>
            </a:r>
            <a:r>
              <a:rPr spc="-80" dirty="0"/>
              <a:t> </a:t>
            </a:r>
            <a:r>
              <a:rPr dirty="0"/>
              <a:t>Data</a:t>
            </a:r>
            <a:r>
              <a:rPr spc="-85" dirty="0"/>
              <a:t> </a:t>
            </a:r>
            <a:r>
              <a:rPr spc="-10" dirty="0"/>
              <a:t>Visualization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9160" y="3624071"/>
            <a:ext cx="10561320" cy="20330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46790" y="6078220"/>
            <a:ext cx="23177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1A7CD9"/>
                </a:solidFill>
                <a:latin typeface="Calibri"/>
                <a:cs typeface="Calibri"/>
              </a:rPr>
              <a:t>13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8678" y="1525523"/>
            <a:ext cx="9582785" cy="436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sz="1400" dirty="0">
                <a:latin typeface="Calibri"/>
                <a:cs typeface="Calibri"/>
              </a:rPr>
              <a:t>The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following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SQL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queries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were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performed:</a:t>
            </a:r>
            <a:endParaRPr sz="1400">
              <a:latin typeface="Calibri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697865" algn="l"/>
              </a:tabLst>
            </a:pPr>
            <a:r>
              <a:rPr sz="1400" dirty="0">
                <a:latin typeface="Calibri"/>
                <a:cs typeface="Calibri"/>
              </a:rPr>
              <a:t>Names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unique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launch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sites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space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mission;</a:t>
            </a:r>
            <a:endParaRPr sz="1400">
              <a:latin typeface="Calibri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1415"/>
              </a:spcBef>
              <a:buFont typeface="Arial MT"/>
              <a:buChar char="•"/>
              <a:tabLst>
                <a:tab pos="697865" algn="l"/>
              </a:tabLst>
            </a:pPr>
            <a:r>
              <a:rPr sz="1400" spc="-40" dirty="0">
                <a:latin typeface="Calibri"/>
                <a:cs typeface="Calibri"/>
              </a:rPr>
              <a:t>Top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5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launch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sites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whose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name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begin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with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string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'CCA’;</a:t>
            </a:r>
            <a:endParaRPr sz="1400">
              <a:latin typeface="Calibri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1415"/>
              </a:spcBef>
              <a:buFont typeface="Arial MT"/>
              <a:buChar char="•"/>
              <a:tabLst>
                <a:tab pos="697865" algn="l"/>
              </a:tabLst>
            </a:pPr>
            <a:r>
              <a:rPr sz="1400" spc="-30" dirty="0">
                <a:latin typeface="Calibri"/>
                <a:cs typeface="Calibri"/>
              </a:rPr>
              <a:t>Total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payload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mass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carried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by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boosters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launched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by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NASA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(CRS);</a:t>
            </a:r>
            <a:endParaRPr sz="1400">
              <a:latin typeface="Calibri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1320"/>
              </a:spcBef>
              <a:buFont typeface="Arial MT"/>
              <a:buChar char="•"/>
              <a:tabLst>
                <a:tab pos="697865" algn="l"/>
              </a:tabLst>
            </a:pPr>
            <a:r>
              <a:rPr sz="1400" spc="-10" dirty="0">
                <a:latin typeface="Calibri"/>
                <a:cs typeface="Calibri"/>
              </a:rPr>
              <a:t>Average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payload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mass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carried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by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booster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version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F9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v1.1;</a:t>
            </a:r>
            <a:endParaRPr sz="1400">
              <a:latin typeface="Calibri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1415"/>
              </a:spcBef>
              <a:buFont typeface="Arial MT"/>
              <a:buChar char="•"/>
              <a:tabLst>
                <a:tab pos="697865" algn="l"/>
              </a:tabLst>
            </a:pPr>
            <a:r>
              <a:rPr sz="1400" dirty="0">
                <a:latin typeface="Calibri"/>
                <a:cs typeface="Calibri"/>
              </a:rPr>
              <a:t>Date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when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first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successful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landing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outcome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ground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pad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was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achieved;</a:t>
            </a:r>
            <a:endParaRPr sz="1400">
              <a:latin typeface="Calibri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1420"/>
              </a:spcBef>
              <a:buFont typeface="Arial MT"/>
              <a:buChar char="•"/>
              <a:tabLst>
                <a:tab pos="697865" algn="l"/>
              </a:tabLst>
            </a:pPr>
            <a:r>
              <a:rPr sz="1400" dirty="0">
                <a:latin typeface="Calibri"/>
                <a:cs typeface="Calibri"/>
              </a:rPr>
              <a:t>Names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boosters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which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have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success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drone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ship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have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payload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mass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between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4000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6000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kg;</a:t>
            </a:r>
            <a:endParaRPr sz="1400">
              <a:latin typeface="Calibri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1415"/>
              </a:spcBef>
              <a:buFont typeface="Arial MT"/>
              <a:buChar char="•"/>
              <a:tabLst>
                <a:tab pos="697865" algn="l"/>
              </a:tabLst>
            </a:pPr>
            <a:r>
              <a:rPr sz="1400" spc="-30" dirty="0">
                <a:latin typeface="Calibri"/>
                <a:cs typeface="Calibri"/>
              </a:rPr>
              <a:t>Total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number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successful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failure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mission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outcomes;</a:t>
            </a:r>
            <a:endParaRPr sz="1400">
              <a:latin typeface="Calibri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697865" algn="l"/>
              </a:tabLst>
            </a:pPr>
            <a:r>
              <a:rPr sz="1400" dirty="0">
                <a:latin typeface="Calibri"/>
                <a:cs typeface="Calibri"/>
              </a:rPr>
              <a:t>Names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booster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versions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which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have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carried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maximum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payload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mass;</a:t>
            </a:r>
            <a:endParaRPr sz="1400">
              <a:latin typeface="Calibri"/>
              <a:cs typeface="Calibri"/>
            </a:endParaRPr>
          </a:p>
          <a:p>
            <a:pPr marL="737870" lvl="1" indent="-268605">
              <a:lnSpc>
                <a:spcPct val="100000"/>
              </a:lnSpc>
              <a:spcBef>
                <a:spcPts val="1320"/>
              </a:spcBef>
              <a:buFont typeface="Arial MT"/>
              <a:buChar char="•"/>
              <a:tabLst>
                <a:tab pos="737870" algn="l"/>
              </a:tabLst>
            </a:pPr>
            <a:r>
              <a:rPr sz="1400" spc="-10" dirty="0">
                <a:latin typeface="Calibri"/>
                <a:cs typeface="Calibri"/>
              </a:rPr>
              <a:t>Failed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landing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outcomes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drone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ship,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their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booster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versions,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launch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site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names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year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2015;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and</a:t>
            </a:r>
            <a:endParaRPr sz="1400">
              <a:latin typeface="Calibri"/>
              <a:cs typeface="Calibri"/>
            </a:endParaRPr>
          </a:p>
          <a:p>
            <a:pPr marL="697865" marR="5080" lvl="1" indent="-228600">
              <a:lnSpc>
                <a:spcPct val="101400"/>
              </a:lnSpc>
              <a:spcBef>
                <a:spcPts val="1390"/>
              </a:spcBef>
              <a:buFont typeface="Arial MT"/>
              <a:buChar char="•"/>
              <a:tabLst>
                <a:tab pos="697865" algn="l"/>
              </a:tabLst>
            </a:pPr>
            <a:r>
              <a:rPr sz="1400" dirty="0">
                <a:latin typeface="Calibri"/>
                <a:cs typeface="Calibri"/>
              </a:rPr>
              <a:t>Rank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count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landing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outcomes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(such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Failure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(drone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ship)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or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Success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(ground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pad))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between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date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2010-06-</a:t>
            </a:r>
            <a:r>
              <a:rPr sz="1400" spc="-25" dirty="0">
                <a:latin typeface="Calibri"/>
                <a:cs typeface="Calibri"/>
              </a:rPr>
              <a:t>04 </a:t>
            </a:r>
            <a:r>
              <a:rPr sz="1400" dirty="0">
                <a:latin typeface="Calibri"/>
                <a:cs typeface="Calibri"/>
              </a:rPr>
              <a:t>and </a:t>
            </a:r>
            <a:r>
              <a:rPr sz="1400" spc="-10" dirty="0">
                <a:latin typeface="Calibri"/>
                <a:cs typeface="Calibri"/>
              </a:rPr>
              <a:t>2017-03-</a:t>
            </a:r>
            <a:r>
              <a:rPr sz="1400" spc="-25" dirty="0">
                <a:latin typeface="Calibri"/>
                <a:cs typeface="Calibri"/>
              </a:rPr>
              <a:t>20.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8678" y="6047740"/>
            <a:ext cx="93960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sz="1600" dirty="0">
                <a:solidFill>
                  <a:srgbClr val="272727"/>
                </a:solidFill>
                <a:latin typeface="Calibri"/>
                <a:cs typeface="Calibri"/>
              </a:rPr>
              <a:t>GitHub</a:t>
            </a:r>
            <a:r>
              <a:rPr sz="1600" spc="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72727"/>
                </a:solidFill>
                <a:latin typeface="Calibri"/>
                <a:cs typeface="Calibri"/>
              </a:rPr>
              <a:t>URL:</a:t>
            </a:r>
            <a:r>
              <a:rPr sz="1600" spc="47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1600" u="sng" spc="-10" dirty="0">
                <a:solidFill>
                  <a:srgbClr val="0363C0"/>
                </a:solidFill>
                <a:uFill>
                  <a:solidFill>
                    <a:srgbClr val="0363C0"/>
                  </a:solidFill>
                </a:uFill>
                <a:latin typeface="Calibri"/>
                <a:cs typeface="Calibri"/>
              </a:rPr>
              <a:t>https://github.com/Moheid/IBM-</a:t>
            </a:r>
            <a:r>
              <a:rPr sz="1600" u="sng" spc="-25" dirty="0">
                <a:solidFill>
                  <a:srgbClr val="0363C0"/>
                </a:solidFill>
                <a:uFill>
                  <a:solidFill>
                    <a:srgbClr val="0363C0"/>
                  </a:solidFill>
                </a:uFill>
                <a:latin typeface="Calibri"/>
                <a:cs typeface="Calibri"/>
              </a:rPr>
              <a:t>SpaceY-</a:t>
            </a:r>
            <a:r>
              <a:rPr sz="1600" u="sng" spc="-10" dirty="0">
                <a:solidFill>
                  <a:srgbClr val="0363C0"/>
                </a:solidFill>
                <a:uFill>
                  <a:solidFill>
                    <a:srgbClr val="0363C0"/>
                  </a:solidFill>
                </a:uFill>
                <a:latin typeface="Calibri"/>
                <a:cs typeface="Calibri"/>
              </a:rPr>
              <a:t>DS-Capstone/blob/main/4.%20Complete-</a:t>
            </a:r>
            <a:r>
              <a:rPr sz="1600" u="sng" spc="-20" dirty="0">
                <a:solidFill>
                  <a:srgbClr val="0363C0"/>
                </a:solidFill>
                <a:uFill>
                  <a:solidFill>
                    <a:srgbClr val="0363C0"/>
                  </a:solidFill>
                </a:uFill>
                <a:latin typeface="Calibri"/>
                <a:cs typeface="Calibri"/>
              </a:rPr>
              <a:t>EDA-</a:t>
            </a:r>
            <a:r>
              <a:rPr sz="1600" u="sng" spc="-10" dirty="0">
                <a:solidFill>
                  <a:srgbClr val="0363C0"/>
                </a:solidFill>
                <a:uFill>
                  <a:solidFill>
                    <a:srgbClr val="0363C0"/>
                  </a:solidFill>
                </a:uFill>
                <a:latin typeface="Calibri"/>
                <a:cs typeface="Calibri"/>
              </a:rPr>
              <a:t>SQL.ipynb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EDA</a:t>
            </a:r>
            <a:r>
              <a:rPr spc="-85" dirty="0"/>
              <a:t> </a:t>
            </a:r>
            <a:r>
              <a:rPr dirty="0"/>
              <a:t>with</a:t>
            </a:r>
            <a:r>
              <a:rPr spc="-75" dirty="0"/>
              <a:t> </a:t>
            </a:r>
            <a:r>
              <a:rPr spc="-25" dirty="0"/>
              <a:t>SQL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832355"/>
            <a:ext cx="10068560" cy="406209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241300" marR="5080" indent="-228600">
              <a:lnSpc>
                <a:spcPct val="79500"/>
              </a:lnSpc>
              <a:spcBef>
                <a:spcPts val="64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b="1" spc="-10" dirty="0">
                <a:latin typeface="Calibri"/>
                <a:cs typeface="Calibri"/>
              </a:rPr>
              <a:t>Markers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of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all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Launch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Sites: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-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Added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Marker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Circle,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Popup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Label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Text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Label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of </a:t>
            </a:r>
            <a:r>
              <a:rPr sz="2200" dirty="0">
                <a:latin typeface="Calibri"/>
                <a:cs typeface="Calibri"/>
              </a:rPr>
              <a:t>NASA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Johnson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Space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Center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using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latitude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longitude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coordinates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start </a:t>
            </a:r>
            <a:r>
              <a:rPr sz="2200" dirty="0">
                <a:latin typeface="Calibri"/>
                <a:cs typeface="Calibri"/>
              </a:rPr>
              <a:t>location.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-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Added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Markers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Circle,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Popup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Label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50" dirty="0">
                <a:latin typeface="Calibri"/>
                <a:cs typeface="Calibri"/>
              </a:rPr>
              <a:t> Text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Label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all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Launch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Sites </a:t>
            </a:r>
            <a:r>
              <a:rPr sz="2200" dirty="0">
                <a:latin typeface="Calibri"/>
                <a:cs typeface="Calibri"/>
              </a:rPr>
              <a:t>using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their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latitude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longitude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coordinates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show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their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geographical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locations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and </a:t>
            </a:r>
            <a:r>
              <a:rPr sz="2200" spc="-10" dirty="0">
                <a:latin typeface="Calibri"/>
                <a:cs typeface="Calibri"/>
              </a:rPr>
              <a:t>proximity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Equator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coasts.</a:t>
            </a:r>
            <a:endParaRPr sz="2200">
              <a:latin typeface="Calibri"/>
              <a:cs typeface="Calibri"/>
            </a:endParaRPr>
          </a:p>
          <a:p>
            <a:pPr marL="241300" marR="213360" indent="-228600">
              <a:lnSpc>
                <a:spcPct val="81400"/>
              </a:lnSpc>
              <a:spcBef>
                <a:spcPts val="135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b="1" dirty="0">
                <a:latin typeface="Calibri"/>
                <a:cs typeface="Calibri"/>
              </a:rPr>
              <a:t>Coloured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Markers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of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the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launch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outcomes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for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each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Launch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Site: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-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Added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coloured Markers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success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(Green)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failed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(Red)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launches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using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Marker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Cluster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identify </a:t>
            </a:r>
            <a:r>
              <a:rPr sz="2200" dirty="0">
                <a:latin typeface="Calibri"/>
                <a:cs typeface="Calibri"/>
              </a:rPr>
              <a:t>which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launch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sites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have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relatively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high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success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rates.</a:t>
            </a:r>
            <a:endParaRPr sz="2200">
              <a:latin typeface="Calibri"/>
              <a:cs typeface="Calibri"/>
            </a:endParaRPr>
          </a:p>
          <a:p>
            <a:pPr marL="241300" marR="132715" indent="-228600">
              <a:lnSpc>
                <a:spcPct val="79500"/>
              </a:lnSpc>
              <a:spcBef>
                <a:spcPts val="140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b="1" dirty="0">
                <a:latin typeface="Calibri"/>
                <a:cs typeface="Calibri"/>
              </a:rPr>
              <a:t>Distances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between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Launch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Site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to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its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proximities: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-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Added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coloured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Lines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show </a:t>
            </a:r>
            <a:r>
              <a:rPr sz="2200" dirty="0">
                <a:latin typeface="Calibri"/>
                <a:cs typeface="Calibri"/>
              </a:rPr>
              <a:t>distances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between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Launch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Site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KSC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30" dirty="0">
                <a:latin typeface="Calibri"/>
                <a:cs typeface="Calibri"/>
              </a:rPr>
              <a:t>LC-</a:t>
            </a:r>
            <a:r>
              <a:rPr sz="2200" dirty="0">
                <a:latin typeface="Calibri"/>
                <a:cs typeface="Calibri"/>
              </a:rPr>
              <a:t>39A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(as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example)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proximities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like </a:t>
            </a:r>
            <a:r>
              <a:rPr sz="2200" spc="-25" dirty="0">
                <a:latin typeface="Calibri"/>
                <a:cs typeface="Calibri"/>
              </a:rPr>
              <a:t>Railway,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30" dirty="0">
                <a:latin typeface="Calibri"/>
                <a:cs typeface="Calibri"/>
              </a:rPr>
              <a:t>Highway,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Coastline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Closest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City</a:t>
            </a:r>
            <a:endParaRPr sz="2200">
              <a:latin typeface="Calibri"/>
              <a:cs typeface="Calibri"/>
            </a:endParaRPr>
          </a:p>
          <a:p>
            <a:pPr marL="241300" marR="161290" indent="-228600">
              <a:lnSpc>
                <a:spcPct val="79000"/>
              </a:lnSpc>
              <a:spcBef>
                <a:spcPts val="145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b="1" dirty="0">
                <a:solidFill>
                  <a:srgbClr val="272727"/>
                </a:solidFill>
                <a:latin typeface="Calibri"/>
                <a:cs typeface="Calibri"/>
              </a:rPr>
              <a:t>GitHub</a:t>
            </a:r>
            <a:r>
              <a:rPr sz="2000" b="1" spc="204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72727"/>
                </a:solidFill>
                <a:latin typeface="Calibri"/>
                <a:cs typeface="Calibri"/>
              </a:rPr>
              <a:t>URL:</a:t>
            </a:r>
            <a:r>
              <a:rPr sz="2000" b="1" spc="21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000" b="1" u="sng" spc="-20" dirty="0">
                <a:solidFill>
                  <a:srgbClr val="0363C0"/>
                </a:solidFill>
                <a:uFill>
                  <a:solidFill>
                    <a:srgbClr val="0363C0"/>
                  </a:solidFill>
                </a:uFill>
                <a:latin typeface="Calibri"/>
                <a:cs typeface="Calibri"/>
              </a:rPr>
              <a:t>https://github.com/Moheid/IBM-</a:t>
            </a:r>
            <a:r>
              <a:rPr sz="2000" b="1" u="sng" spc="-30" dirty="0">
                <a:solidFill>
                  <a:srgbClr val="0363C0"/>
                </a:solidFill>
                <a:uFill>
                  <a:solidFill>
                    <a:srgbClr val="0363C0"/>
                  </a:solidFill>
                </a:uFill>
                <a:latin typeface="Calibri"/>
                <a:cs typeface="Calibri"/>
              </a:rPr>
              <a:t>SpaceY-</a:t>
            </a:r>
            <a:r>
              <a:rPr sz="2000" b="1" u="sng" spc="-20" dirty="0">
                <a:solidFill>
                  <a:srgbClr val="0363C0"/>
                </a:solidFill>
                <a:uFill>
                  <a:solidFill>
                    <a:srgbClr val="0363C0"/>
                  </a:solidFill>
                </a:uFill>
                <a:latin typeface="Calibri"/>
                <a:cs typeface="Calibri"/>
              </a:rPr>
              <a:t>DS-Capstone/blob/main/5.EDA-</a:t>
            </a:r>
            <a:r>
              <a:rPr sz="2000" b="1" u="sng" spc="-10" dirty="0">
                <a:solidFill>
                  <a:srgbClr val="0363C0"/>
                </a:solidFill>
                <a:uFill>
                  <a:solidFill>
                    <a:srgbClr val="0363C0"/>
                  </a:solidFill>
                </a:uFill>
                <a:latin typeface="Calibri"/>
                <a:cs typeface="Calibri"/>
              </a:rPr>
              <a:t>with-</a:t>
            </a:r>
            <a:r>
              <a:rPr sz="2000" b="1" spc="-10" dirty="0">
                <a:solidFill>
                  <a:srgbClr val="0363C0"/>
                </a:solidFill>
                <a:latin typeface="Calibri"/>
                <a:cs typeface="Calibri"/>
              </a:rPr>
              <a:t> </a:t>
            </a:r>
            <a:r>
              <a:rPr sz="2000" b="1" u="sng" spc="-10" dirty="0">
                <a:solidFill>
                  <a:srgbClr val="0363C0"/>
                </a:solidFill>
                <a:uFill>
                  <a:solidFill>
                    <a:srgbClr val="0363C0"/>
                  </a:solidFill>
                </a:uFill>
                <a:latin typeface="Calibri"/>
                <a:cs typeface="Calibri"/>
              </a:rPr>
              <a:t>Visaulization.ipynb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Build</a:t>
            </a:r>
            <a:r>
              <a:rPr spc="-70" dirty="0"/>
              <a:t> </a:t>
            </a:r>
            <a:r>
              <a:rPr dirty="0"/>
              <a:t>an</a:t>
            </a:r>
            <a:r>
              <a:rPr spc="-65" dirty="0"/>
              <a:t> </a:t>
            </a:r>
            <a:r>
              <a:rPr spc="-10" dirty="0"/>
              <a:t>Interactive</a:t>
            </a:r>
            <a:r>
              <a:rPr spc="-75" dirty="0"/>
              <a:t> </a:t>
            </a:r>
            <a:r>
              <a:rPr dirty="0"/>
              <a:t>Map</a:t>
            </a:r>
            <a:r>
              <a:rPr spc="-65" dirty="0"/>
              <a:t> </a:t>
            </a:r>
            <a:r>
              <a:rPr dirty="0"/>
              <a:t>with</a:t>
            </a:r>
            <a:r>
              <a:rPr spc="-65" dirty="0"/>
              <a:t> </a:t>
            </a:r>
            <a:r>
              <a:rPr spc="-10" dirty="0"/>
              <a:t>Folium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678" y="1807971"/>
            <a:ext cx="9563100" cy="403796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marR="868680" indent="-228600">
              <a:lnSpc>
                <a:spcPts val="2400"/>
              </a:lnSpc>
              <a:spcBef>
                <a:spcPts val="38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Launch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Sites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Dropdown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List: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-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Added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dropdown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list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enable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Launch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Site </a:t>
            </a:r>
            <a:r>
              <a:rPr sz="2200" spc="-10" dirty="0">
                <a:latin typeface="Calibri"/>
                <a:cs typeface="Calibri"/>
              </a:rPr>
              <a:t>selection.</a:t>
            </a:r>
            <a:endParaRPr sz="2200">
              <a:latin typeface="Calibri"/>
              <a:cs typeface="Calibri"/>
            </a:endParaRPr>
          </a:p>
          <a:p>
            <a:pPr marL="241300" marR="106680" indent="-228600">
              <a:lnSpc>
                <a:spcPts val="2400"/>
              </a:lnSpc>
              <a:spcBef>
                <a:spcPts val="129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Pie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Chart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showing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Success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Launches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(All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Sites/Certain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Site):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-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Added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pie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chart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to </a:t>
            </a:r>
            <a:r>
              <a:rPr sz="2200" dirty="0">
                <a:latin typeface="Calibri"/>
                <a:cs typeface="Calibri"/>
              </a:rPr>
              <a:t>show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total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successful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launches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count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all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sites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Success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vs.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Failed </a:t>
            </a:r>
            <a:r>
              <a:rPr sz="2200" dirty="0">
                <a:latin typeface="Calibri"/>
                <a:cs typeface="Calibri"/>
              </a:rPr>
              <a:t>counts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site,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if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specific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Launch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Site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was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selected.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11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latin typeface="Calibri"/>
                <a:cs typeface="Calibri"/>
              </a:rPr>
              <a:t>Slider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Payload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Mass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Range: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-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Added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slider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select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Payload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range.</a:t>
            </a:r>
            <a:endParaRPr sz="2200">
              <a:latin typeface="Calibri"/>
              <a:cs typeface="Calibri"/>
            </a:endParaRPr>
          </a:p>
          <a:p>
            <a:pPr marL="241300" marR="5080" indent="-228600">
              <a:lnSpc>
                <a:spcPct val="89100"/>
              </a:lnSpc>
              <a:spcBef>
                <a:spcPts val="146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spc="-10" dirty="0">
                <a:latin typeface="Calibri"/>
                <a:cs typeface="Calibri"/>
              </a:rPr>
              <a:t>Scatter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Chart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Payload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Mass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vs.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Success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Rate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different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Booster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Versions:</a:t>
            </a:r>
            <a:r>
              <a:rPr sz="2200" spc="-50" dirty="0">
                <a:latin typeface="Calibri"/>
                <a:cs typeface="Calibri"/>
              </a:rPr>
              <a:t> - </a:t>
            </a:r>
            <a:r>
              <a:rPr sz="2200" dirty="0">
                <a:latin typeface="Calibri"/>
                <a:cs typeface="Calibri"/>
              </a:rPr>
              <a:t>Added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scatter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chart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show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correlation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between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Payload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Launch Success</a:t>
            </a:r>
            <a:endParaRPr sz="2200">
              <a:latin typeface="Calibri"/>
              <a:cs typeface="Calibri"/>
            </a:endParaRPr>
          </a:p>
          <a:p>
            <a:pPr marL="241300" marR="3332479" indent="-228600">
              <a:lnSpc>
                <a:spcPts val="2180"/>
              </a:lnSpc>
              <a:spcBef>
                <a:spcPts val="141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272727"/>
                </a:solidFill>
                <a:latin typeface="Calibri"/>
                <a:cs typeface="Calibri"/>
              </a:rPr>
              <a:t>GitHub</a:t>
            </a:r>
            <a:r>
              <a:rPr sz="2000" spc="7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72727"/>
                </a:solidFill>
                <a:latin typeface="Calibri"/>
                <a:cs typeface="Calibri"/>
              </a:rPr>
              <a:t>URL:</a:t>
            </a:r>
            <a:r>
              <a:rPr sz="2000" spc="80" dirty="0">
                <a:solidFill>
                  <a:srgbClr val="272727"/>
                </a:solidFill>
                <a:latin typeface="Calibri"/>
                <a:cs typeface="Calibri"/>
              </a:rPr>
              <a:t>  </a:t>
            </a:r>
            <a:r>
              <a:rPr sz="2000" u="sng" spc="-20" dirty="0">
                <a:solidFill>
                  <a:srgbClr val="0363C0"/>
                </a:solidFill>
                <a:uFill>
                  <a:solidFill>
                    <a:srgbClr val="0363C0"/>
                  </a:solidFill>
                </a:uFill>
                <a:latin typeface="Calibri"/>
                <a:cs typeface="Calibri"/>
              </a:rPr>
              <a:t>https://github.com/Moheid/IBM-</a:t>
            </a:r>
            <a:r>
              <a:rPr sz="2000" u="sng" spc="-30" dirty="0">
                <a:solidFill>
                  <a:srgbClr val="0363C0"/>
                </a:solidFill>
                <a:uFill>
                  <a:solidFill>
                    <a:srgbClr val="0363C0"/>
                  </a:solidFill>
                </a:uFill>
                <a:latin typeface="Calibri"/>
                <a:cs typeface="Calibri"/>
              </a:rPr>
              <a:t>SpaceY-</a:t>
            </a:r>
            <a:r>
              <a:rPr sz="2000" u="sng" spc="-25" dirty="0">
                <a:solidFill>
                  <a:srgbClr val="0363C0"/>
                </a:solidFill>
                <a:uFill>
                  <a:solidFill>
                    <a:srgbClr val="0363C0"/>
                  </a:solidFill>
                </a:uFill>
                <a:latin typeface="Calibri"/>
                <a:cs typeface="Calibri"/>
              </a:rPr>
              <a:t>DS-</a:t>
            </a:r>
            <a:r>
              <a:rPr sz="2000" spc="-25" dirty="0">
                <a:solidFill>
                  <a:srgbClr val="0363C0"/>
                </a:solidFill>
                <a:latin typeface="Calibri"/>
                <a:cs typeface="Calibri"/>
              </a:rPr>
              <a:t> </a:t>
            </a:r>
            <a:r>
              <a:rPr sz="2000" u="sng" spc="-10" dirty="0">
                <a:solidFill>
                  <a:srgbClr val="0363C0"/>
                </a:solidFill>
                <a:uFill>
                  <a:solidFill>
                    <a:srgbClr val="0363C0"/>
                  </a:solidFill>
                </a:uFill>
                <a:latin typeface="Calibri"/>
                <a:cs typeface="Calibri"/>
              </a:rPr>
              <a:t>Capstone/blob/main/7.spacex_dash.ipynb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Build</a:t>
            </a:r>
            <a:r>
              <a:rPr spc="-70" dirty="0"/>
              <a:t> </a:t>
            </a:r>
            <a:r>
              <a:rPr dirty="0"/>
              <a:t>a</a:t>
            </a:r>
            <a:r>
              <a:rPr spc="-75" dirty="0"/>
              <a:t> </a:t>
            </a:r>
            <a:r>
              <a:rPr dirty="0"/>
              <a:t>Dashboard</a:t>
            </a:r>
            <a:r>
              <a:rPr spc="-65" dirty="0"/>
              <a:t> </a:t>
            </a:r>
            <a:r>
              <a:rPr dirty="0"/>
              <a:t>with</a:t>
            </a:r>
            <a:r>
              <a:rPr spc="-70" dirty="0"/>
              <a:t> </a:t>
            </a:r>
            <a:r>
              <a:rPr dirty="0"/>
              <a:t>Plotly</a:t>
            </a:r>
            <a:r>
              <a:rPr spc="-70" dirty="0"/>
              <a:t> </a:t>
            </a:r>
            <a:r>
              <a:rPr spc="-20" dirty="0"/>
              <a:t>Dash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9478" y="1820164"/>
            <a:ext cx="4446905" cy="33966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41300" marR="168910" indent="-228600">
              <a:lnSpc>
                <a:spcPct val="98600"/>
              </a:lnSpc>
              <a:spcBef>
                <a:spcPts val="13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spc="-90" dirty="0">
                <a:solidFill>
                  <a:srgbClr val="272727"/>
                </a:solidFill>
                <a:latin typeface="Calibri"/>
                <a:cs typeface="Calibri"/>
              </a:rPr>
              <a:t>To</a:t>
            </a:r>
            <a:r>
              <a:rPr sz="2200" spc="-3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make</a:t>
            </a:r>
            <a:r>
              <a:rPr sz="2200" spc="-6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72727"/>
                </a:solidFill>
                <a:latin typeface="Calibri"/>
                <a:cs typeface="Calibri"/>
              </a:rPr>
              <a:t>predication</a:t>
            </a:r>
            <a:r>
              <a:rPr sz="22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we</a:t>
            </a:r>
            <a:r>
              <a:rPr sz="2200" spc="-4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will</a:t>
            </a:r>
            <a:r>
              <a:rPr sz="2200" spc="-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72727"/>
                </a:solidFill>
                <a:latin typeface="Calibri"/>
                <a:cs typeface="Calibri"/>
              </a:rPr>
              <a:t>follow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the</a:t>
            </a:r>
            <a:r>
              <a:rPr sz="2200" spc="-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scientific</a:t>
            </a:r>
            <a:r>
              <a:rPr sz="22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72727"/>
                </a:solidFill>
                <a:latin typeface="Calibri"/>
                <a:cs typeface="Calibri"/>
              </a:rPr>
              <a:t>procedure</a:t>
            </a:r>
            <a:r>
              <a:rPr sz="2200" spc="-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that</a:t>
            </a:r>
            <a:r>
              <a:rPr sz="2200" spc="-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we</a:t>
            </a:r>
            <a:r>
              <a:rPr sz="2200" spc="-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272727"/>
                </a:solidFill>
                <a:latin typeface="Calibri"/>
                <a:cs typeface="Calibri"/>
              </a:rPr>
              <a:t>are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going</a:t>
            </a:r>
            <a:r>
              <a:rPr sz="2200" spc="-4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to</a:t>
            </a:r>
            <a:r>
              <a:rPr sz="2200" spc="-4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build</a:t>
            </a:r>
            <a:r>
              <a:rPr sz="2200" spc="-4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the</a:t>
            </a:r>
            <a:r>
              <a:rPr sz="2200" spc="-4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72727"/>
                </a:solidFill>
                <a:latin typeface="Calibri"/>
                <a:cs typeface="Calibri"/>
              </a:rPr>
              <a:t>modles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6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solidFill>
                  <a:srgbClr val="272727"/>
                </a:solidFill>
                <a:latin typeface="Calibri"/>
                <a:cs typeface="Calibri"/>
              </a:rPr>
              <a:t>Refer</a:t>
            </a:r>
            <a:r>
              <a:rPr sz="2200" spc="-6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to</a:t>
            </a:r>
            <a:r>
              <a:rPr sz="2200" spc="-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my</a:t>
            </a:r>
            <a:r>
              <a:rPr sz="2200" spc="-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GitHub</a:t>
            </a:r>
            <a:r>
              <a:rPr sz="2200" spc="-6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URL</a:t>
            </a:r>
            <a:r>
              <a:rPr sz="22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72727"/>
                </a:solidFill>
                <a:latin typeface="Calibri"/>
                <a:cs typeface="Calibri"/>
              </a:rPr>
              <a:t>notebook:</a:t>
            </a:r>
            <a:endParaRPr sz="2200">
              <a:latin typeface="Calibri"/>
              <a:cs typeface="Calibri"/>
            </a:endParaRPr>
          </a:p>
          <a:p>
            <a:pPr marL="241300" marR="5080" indent="-228600">
              <a:lnSpc>
                <a:spcPct val="99700"/>
              </a:lnSpc>
              <a:spcBef>
                <a:spcPts val="1350"/>
              </a:spcBef>
              <a:buClr>
                <a:srgbClr val="272727"/>
              </a:buClr>
              <a:buFont typeface="Arial MT"/>
              <a:buChar char="•"/>
              <a:tabLst>
                <a:tab pos="241300" algn="l"/>
              </a:tabLst>
            </a:pPr>
            <a:r>
              <a:rPr sz="2200" u="dash" spc="-10" dirty="0">
                <a:solidFill>
                  <a:srgbClr val="0363C0"/>
                </a:solidFill>
                <a:uFill>
                  <a:solidFill>
                    <a:srgbClr val="0363C0"/>
                  </a:solidFill>
                </a:uFill>
                <a:latin typeface="Calibri"/>
                <a:cs typeface="Calibri"/>
              </a:rPr>
              <a:t>https://github.com/Moheid/IBM-</a:t>
            </a:r>
            <a:r>
              <a:rPr sz="2200" spc="-10" dirty="0">
                <a:solidFill>
                  <a:srgbClr val="0363C0"/>
                </a:solidFill>
                <a:latin typeface="Calibri"/>
                <a:cs typeface="Calibri"/>
              </a:rPr>
              <a:t> </a:t>
            </a:r>
            <a:r>
              <a:rPr sz="2200" u="dash" spc="-30" dirty="0">
                <a:solidFill>
                  <a:srgbClr val="0363C0"/>
                </a:solidFill>
                <a:uFill>
                  <a:solidFill>
                    <a:srgbClr val="0363C0"/>
                  </a:solidFill>
                </a:uFill>
                <a:latin typeface="Calibri"/>
                <a:cs typeface="Calibri"/>
              </a:rPr>
              <a:t>SpaceY-</a:t>
            </a:r>
            <a:r>
              <a:rPr sz="2200" u="dash" spc="-25" dirty="0">
                <a:solidFill>
                  <a:srgbClr val="0363C0"/>
                </a:solidFill>
                <a:uFill>
                  <a:solidFill>
                    <a:srgbClr val="0363C0"/>
                  </a:solidFill>
                </a:uFill>
                <a:latin typeface="Calibri"/>
                <a:cs typeface="Calibri"/>
              </a:rPr>
              <a:t>DS-</a:t>
            </a:r>
            <a:r>
              <a:rPr sz="2200" spc="-25" dirty="0">
                <a:solidFill>
                  <a:srgbClr val="0363C0"/>
                </a:solidFill>
                <a:latin typeface="Calibri"/>
                <a:cs typeface="Calibri"/>
              </a:rPr>
              <a:t> </a:t>
            </a:r>
            <a:r>
              <a:rPr sz="2200" u="dash" spc="-10" dirty="0">
                <a:solidFill>
                  <a:srgbClr val="0363C0"/>
                </a:solidFill>
                <a:uFill>
                  <a:solidFill>
                    <a:srgbClr val="0363C0"/>
                  </a:solidFill>
                </a:uFill>
                <a:latin typeface="Calibri"/>
                <a:cs typeface="Calibri"/>
              </a:rPr>
              <a:t>Capstone/blob/main/8.SpaceX_Mac</a:t>
            </a:r>
            <a:r>
              <a:rPr sz="2200" spc="-10" dirty="0">
                <a:solidFill>
                  <a:srgbClr val="0363C0"/>
                </a:solidFill>
                <a:latin typeface="Calibri"/>
                <a:cs typeface="Calibri"/>
              </a:rPr>
              <a:t> </a:t>
            </a:r>
            <a:r>
              <a:rPr sz="2200" u="dash" spc="-10" dirty="0">
                <a:solidFill>
                  <a:srgbClr val="0363C0"/>
                </a:solidFill>
                <a:uFill>
                  <a:solidFill>
                    <a:srgbClr val="0363C0"/>
                  </a:solidFill>
                </a:uFill>
                <a:latin typeface="Calibri"/>
                <a:cs typeface="Calibri"/>
              </a:rPr>
              <a:t>hine%20Learning%20Prediction_Part</a:t>
            </a:r>
            <a:endParaRPr sz="22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75"/>
              </a:spcBef>
            </a:pPr>
            <a:r>
              <a:rPr sz="2200" u="dash" spc="-10" dirty="0">
                <a:solidFill>
                  <a:srgbClr val="0363C0"/>
                </a:solidFill>
                <a:uFill>
                  <a:solidFill>
                    <a:srgbClr val="0363C0"/>
                  </a:solidFill>
                </a:uFill>
                <a:latin typeface="Calibri"/>
                <a:cs typeface="Calibri"/>
              </a:rPr>
              <a:t>_5.ipynb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Predictive</a:t>
            </a:r>
            <a:r>
              <a:rPr spc="-160" dirty="0"/>
              <a:t> </a:t>
            </a:r>
            <a:r>
              <a:rPr dirty="0"/>
              <a:t>Analysis</a:t>
            </a:r>
            <a:r>
              <a:rPr spc="-155" dirty="0"/>
              <a:t> </a:t>
            </a:r>
            <a:r>
              <a:rPr spc="-10" dirty="0"/>
              <a:t>(Classification)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900737" y="1781968"/>
          <a:ext cx="5556250" cy="4205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04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9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0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3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8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58875">
                <a:tc>
                  <a:txBody>
                    <a:bodyPr/>
                    <a:lstStyle/>
                    <a:p>
                      <a:pPr marL="105410" marR="97790" algn="ctr">
                        <a:lnSpc>
                          <a:spcPct val="101400"/>
                        </a:lnSpc>
                        <a:spcBef>
                          <a:spcPts val="1019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Creating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NumPy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array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column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“Class”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in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data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29539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2700">
                      <a:solidFill>
                        <a:srgbClr val="4471C3"/>
                      </a:solidFill>
                      <a:prstDash val="solid"/>
                    </a:lnR>
                    <a:lnT w="19050">
                      <a:solidFill>
                        <a:srgbClr val="4471C3"/>
                      </a:solidFill>
                      <a:prstDash val="solid"/>
                    </a:lnT>
                    <a:lnB w="12700">
                      <a:solidFill>
                        <a:srgbClr val="4471C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2700">
                      <a:solidFill>
                        <a:srgbClr val="4471C3"/>
                      </a:solidFill>
                      <a:prstDash val="solid"/>
                    </a:lnR>
                    <a:lnT w="12700">
                      <a:solidFill>
                        <a:srgbClr val="0B47C9"/>
                      </a:solidFill>
                      <a:prstDash val="sysDash"/>
                    </a:lnT>
                  </a:tcPr>
                </a:tc>
                <a:tc>
                  <a:txBody>
                    <a:bodyPr/>
                    <a:lstStyle/>
                    <a:p>
                      <a:pPr marL="121920" marR="114300" algn="ctr">
                        <a:lnSpc>
                          <a:spcPct val="99600"/>
                        </a:lnSpc>
                        <a:spcBef>
                          <a:spcPts val="31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Standardizing</a:t>
                      </a:r>
                      <a:r>
                        <a:rPr sz="1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4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with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StandardScaler,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then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fitting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transforming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it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2700">
                      <a:solidFill>
                        <a:srgbClr val="4471C3"/>
                      </a:solidFill>
                      <a:prstDash val="solid"/>
                    </a:lnR>
                    <a:lnT w="28575">
                      <a:solidFill>
                        <a:srgbClr val="4471C3"/>
                      </a:solidFill>
                      <a:prstDash val="solid"/>
                    </a:lnT>
                    <a:lnB w="12700">
                      <a:solidFill>
                        <a:srgbClr val="4471C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2700">
                      <a:solidFill>
                        <a:srgbClr val="4471C3"/>
                      </a:solidFill>
                      <a:prstDash val="solid"/>
                    </a:lnR>
                    <a:lnT w="12700">
                      <a:solidFill>
                        <a:srgbClr val="0B47C9"/>
                      </a:solidFill>
                      <a:prstDash val="sysDash"/>
                    </a:lnT>
                  </a:tcPr>
                </a:tc>
                <a:tc>
                  <a:txBody>
                    <a:bodyPr/>
                    <a:lstStyle/>
                    <a:p>
                      <a:pPr marL="139700" marR="121920" algn="ctr">
                        <a:lnSpc>
                          <a:spcPct val="99600"/>
                        </a:lnSpc>
                        <a:spcBef>
                          <a:spcPts val="43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Splitting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data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into</a:t>
                      </a:r>
                      <a:r>
                        <a:rPr sz="14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training</a:t>
                      </a:r>
                      <a:r>
                        <a:rPr sz="1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testing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sets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with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train_test_split function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9050">
                      <a:solidFill>
                        <a:srgbClr val="4471C3"/>
                      </a:solidFill>
                      <a:prstDash val="solid"/>
                    </a:lnR>
                    <a:lnT w="12700">
                      <a:solidFill>
                        <a:srgbClr val="4471C3"/>
                      </a:solidFill>
                      <a:prstDash val="solid"/>
                    </a:lnT>
                    <a:lnB w="12700">
                      <a:solidFill>
                        <a:srgbClr val="4471C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665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B47C9"/>
                      </a:solidFill>
                      <a:prstDash val="sysDash"/>
                    </a:lnL>
                    <a:lnR w="12700">
                      <a:solidFill>
                        <a:srgbClr val="0B47C9"/>
                      </a:solidFill>
                      <a:prstDash val="sysDash"/>
                    </a:lnR>
                    <a:lnT w="12700" cap="flat" cmpd="sng" algn="ctr">
                      <a:solidFill>
                        <a:srgbClr val="447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2525">
                <a:tc>
                  <a:txBody>
                    <a:bodyPr/>
                    <a:lstStyle/>
                    <a:p>
                      <a:pPr marL="170815" marR="162560" algn="ctr">
                        <a:lnSpc>
                          <a:spcPct val="100400"/>
                        </a:lnSpc>
                        <a:spcBef>
                          <a:spcPts val="59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Examining</a:t>
                      </a:r>
                      <a:r>
                        <a:rPr sz="16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confusion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matrix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all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models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75565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2700">
                      <a:solidFill>
                        <a:srgbClr val="4471C3"/>
                      </a:solidFill>
                      <a:prstDash val="solid"/>
                    </a:lnR>
                    <a:lnB w="12700">
                      <a:solidFill>
                        <a:srgbClr val="4471C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2700">
                      <a:solidFill>
                        <a:srgbClr val="4471C3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31445" marR="123189" indent="-1270" algn="ctr">
                        <a:lnSpc>
                          <a:spcPct val="100800"/>
                        </a:lnSpc>
                        <a:spcBef>
                          <a:spcPts val="82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Calculating</a:t>
                      </a:r>
                      <a:r>
                        <a:rPr sz="12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accuracy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test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using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method</a:t>
                      </a:r>
                      <a:r>
                        <a:rPr sz="12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.score()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for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all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models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2700">
                      <a:solidFill>
                        <a:srgbClr val="4471C3"/>
                      </a:solidFill>
                      <a:prstDash val="solid"/>
                    </a:lnR>
                    <a:lnT w="12700">
                      <a:solidFill>
                        <a:srgbClr val="4471C3"/>
                      </a:solidFill>
                      <a:prstDash val="solid"/>
                    </a:lnT>
                    <a:lnB w="12700">
                      <a:solidFill>
                        <a:srgbClr val="4471C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2700">
                      <a:solidFill>
                        <a:srgbClr val="4471C3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58115" marR="162560" indent="-635" algn="ctr">
                        <a:lnSpc>
                          <a:spcPct val="99600"/>
                        </a:lnSpc>
                        <a:spcBef>
                          <a:spcPts val="23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Creating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a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GridSearchCV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object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cv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=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10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find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the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best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parameters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9050">
                      <a:solidFill>
                        <a:srgbClr val="4471C3"/>
                      </a:solidFill>
                      <a:prstDash val="solid"/>
                    </a:lnR>
                    <a:lnT w="12700">
                      <a:solidFill>
                        <a:srgbClr val="4471C3"/>
                      </a:solidFill>
                      <a:prstDash val="solid"/>
                    </a:lnT>
                    <a:lnB w="12700">
                      <a:solidFill>
                        <a:srgbClr val="4471C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015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B47C9"/>
                      </a:solidFill>
                      <a:prstDash val="sysDash"/>
                    </a:lnL>
                    <a:lnR w="12700">
                      <a:solidFill>
                        <a:srgbClr val="0B47C9"/>
                      </a:solidFill>
                      <a:prstDash val="sysDash"/>
                    </a:lnR>
                    <a:lnT w="12700" cap="flat" cmpd="sng" algn="ctr">
                      <a:solidFill>
                        <a:srgbClr val="447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2525">
                <a:tc>
                  <a:txBody>
                    <a:bodyPr/>
                    <a:lstStyle/>
                    <a:p>
                      <a:pPr marR="635" algn="ctr">
                        <a:lnSpc>
                          <a:spcPts val="1315"/>
                        </a:lnSpc>
                      </a:pPr>
                      <a:r>
                        <a:rPr sz="1300" dirty="0">
                          <a:latin typeface="Calibri"/>
                          <a:cs typeface="Calibri"/>
                        </a:rPr>
                        <a:t>Finding</a:t>
                      </a:r>
                      <a:r>
                        <a:rPr sz="13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25" dirty="0">
                          <a:latin typeface="Calibri"/>
                          <a:cs typeface="Calibri"/>
                        </a:rPr>
                        <a:t>the</a:t>
                      </a:r>
                      <a:endParaRPr sz="1300">
                        <a:latin typeface="Calibri"/>
                        <a:cs typeface="Calibri"/>
                      </a:endParaRPr>
                    </a:p>
                    <a:p>
                      <a:pPr marL="140970" marR="140970" indent="-1905" algn="ctr">
                        <a:lnSpc>
                          <a:spcPct val="99200"/>
                        </a:lnSpc>
                      </a:pPr>
                      <a:r>
                        <a:rPr sz="1300" dirty="0">
                          <a:latin typeface="Calibri"/>
                          <a:cs typeface="Calibri"/>
                        </a:rPr>
                        <a:t>method</a:t>
                      </a:r>
                      <a:r>
                        <a:rPr sz="13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10" dirty="0">
                          <a:latin typeface="Calibri"/>
                          <a:cs typeface="Calibri"/>
                        </a:rPr>
                        <a:t>performs </a:t>
                      </a:r>
                      <a:r>
                        <a:rPr sz="1300" dirty="0">
                          <a:latin typeface="Calibri"/>
                          <a:cs typeface="Calibri"/>
                        </a:rPr>
                        <a:t>best</a:t>
                      </a:r>
                      <a:r>
                        <a:rPr sz="13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13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10" dirty="0">
                          <a:latin typeface="Calibri"/>
                          <a:cs typeface="Calibri"/>
                        </a:rPr>
                        <a:t>examining </a:t>
                      </a:r>
                      <a:r>
                        <a:rPr sz="13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300" spc="-10" dirty="0">
                          <a:latin typeface="Calibri"/>
                          <a:cs typeface="Calibri"/>
                        </a:rPr>
                        <a:t> Jaccard_score </a:t>
                      </a:r>
                      <a:r>
                        <a:rPr sz="13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300" spc="-10" dirty="0">
                          <a:latin typeface="Calibri"/>
                          <a:cs typeface="Calibri"/>
                        </a:rPr>
                        <a:t> F1_score metrics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4471C3"/>
                      </a:solidFill>
                      <a:prstDash val="solid"/>
                    </a:lnL>
                    <a:lnR w="12700">
                      <a:solidFill>
                        <a:srgbClr val="4471C3"/>
                      </a:solidFill>
                      <a:prstDash val="solid"/>
                    </a:lnR>
                    <a:lnB w="12700">
                      <a:solidFill>
                        <a:srgbClr val="4471C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471C3"/>
                      </a:solidFill>
                      <a:prstDash val="solid"/>
                    </a:lnL>
                    <a:lnR w="12700">
                      <a:solidFill>
                        <a:srgbClr val="0B47C9"/>
                      </a:solidFill>
                      <a:prstDash val="sysDash"/>
                    </a:lnR>
                    <a:lnB w="12700">
                      <a:solidFill>
                        <a:srgbClr val="0B47C9"/>
                      </a:solidFill>
                      <a:prstDash val="sysDash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7418387" y="2262187"/>
            <a:ext cx="476250" cy="260350"/>
            <a:chOff x="7418387" y="2262187"/>
            <a:chExt cx="476250" cy="260350"/>
          </a:xfrm>
        </p:grpSpPr>
        <p:sp>
          <p:nvSpPr>
            <p:cNvPr id="6" name="object 6"/>
            <p:cNvSpPr/>
            <p:nvPr/>
          </p:nvSpPr>
          <p:spPr>
            <a:xfrm>
              <a:off x="7424737" y="2268537"/>
              <a:ext cx="463550" cy="247650"/>
            </a:xfrm>
            <a:custGeom>
              <a:avLst/>
              <a:gdLst/>
              <a:ahLst/>
              <a:cxnLst/>
              <a:rect l="l" t="t" r="r" b="b"/>
              <a:pathLst>
                <a:path w="463550" h="247650">
                  <a:moveTo>
                    <a:pt x="339726" y="0"/>
                  </a:moveTo>
                  <a:lnTo>
                    <a:pt x="339726" y="61912"/>
                  </a:lnTo>
                  <a:lnTo>
                    <a:pt x="0" y="61912"/>
                  </a:lnTo>
                  <a:lnTo>
                    <a:pt x="0" y="185737"/>
                  </a:lnTo>
                  <a:lnTo>
                    <a:pt x="339726" y="185737"/>
                  </a:lnTo>
                  <a:lnTo>
                    <a:pt x="339726" y="247650"/>
                  </a:lnTo>
                  <a:lnTo>
                    <a:pt x="463550" y="123826"/>
                  </a:lnTo>
                  <a:lnTo>
                    <a:pt x="339726" y="0"/>
                  </a:lnTo>
                  <a:close/>
                </a:path>
              </a:pathLst>
            </a:custGeom>
            <a:solidFill>
              <a:srgbClr val="4471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424737" y="2268537"/>
              <a:ext cx="463550" cy="247650"/>
            </a:xfrm>
            <a:custGeom>
              <a:avLst/>
              <a:gdLst/>
              <a:ahLst/>
              <a:cxnLst/>
              <a:rect l="l" t="t" r="r" b="b"/>
              <a:pathLst>
                <a:path w="463550" h="247650">
                  <a:moveTo>
                    <a:pt x="0" y="61912"/>
                  </a:moveTo>
                  <a:lnTo>
                    <a:pt x="339725" y="61912"/>
                  </a:lnTo>
                  <a:lnTo>
                    <a:pt x="339725" y="0"/>
                  </a:lnTo>
                  <a:lnTo>
                    <a:pt x="463550" y="123825"/>
                  </a:lnTo>
                  <a:lnTo>
                    <a:pt x="339725" y="247650"/>
                  </a:lnTo>
                  <a:lnTo>
                    <a:pt x="339725" y="185737"/>
                  </a:lnTo>
                  <a:lnTo>
                    <a:pt x="0" y="185737"/>
                  </a:lnTo>
                  <a:lnTo>
                    <a:pt x="0" y="61912"/>
                  </a:lnTo>
                  <a:close/>
                </a:path>
              </a:pathLst>
            </a:custGeom>
            <a:ln w="12700">
              <a:solidFill>
                <a:srgbClr val="2E51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9388475" y="2262187"/>
            <a:ext cx="474980" cy="260350"/>
            <a:chOff x="9388475" y="2262187"/>
            <a:chExt cx="474980" cy="260350"/>
          </a:xfrm>
        </p:grpSpPr>
        <p:sp>
          <p:nvSpPr>
            <p:cNvPr id="9" name="object 9"/>
            <p:cNvSpPr/>
            <p:nvPr/>
          </p:nvSpPr>
          <p:spPr>
            <a:xfrm>
              <a:off x="9394825" y="2268537"/>
              <a:ext cx="462280" cy="247650"/>
            </a:xfrm>
            <a:custGeom>
              <a:avLst/>
              <a:gdLst/>
              <a:ahLst/>
              <a:cxnLst/>
              <a:rect l="l" t="t" r="r" b="b"/>
              <a:pathLst>
                <a:path w="462279" h="247650">
                  <a:moveTo>
                    <a:pt x="338138" y="0"/>
                  </a:moveTo>
                  <a:lnTo>
                    <a:pt x="338138" y="61912"/>
                  </a:lnTo>
                  <a:lnTo>
                    <a:pt x="0" y="61912"/>
                  </a:lnTo>
                  <a:lnTo>
                    <a:pt x="0" y="185737"/>
                  </a:lnTo>
                  <a:lnTo>
                    <a:pt x="338138" y="185737"/>
                  </a:lnTo>
                  <a:lnTo>
                    <a:pt x="338138" y="247650"/>
                  </a:lnTo>
                  <a:lnTo>
                    <a:pt x="461962" y="123826"/>
                  </a:lnTo>
                  <a:lnTo>
                    <a:pt x="338138" y="0"/>
                  </a:lnTo>
                  <a:close/>
                </a:path>
              </a:pathLst>
            </a:custGeom>
            <a:solidFill>
              <a:srgbClr val="4471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394825" y="2268537"/>
              <a:ext cx="462280" cy="247650"/>
            </a:xfrm>
            <a:custGeom>
              <a:avLst/>
              <a:gdLst/>
              <a:ahLst/>
              <a:cxnLst/>
              <a:rect l="l" t="t" r="r" b="b"/>
              <a:pathLst>
                <a:path w="462279" h="247650">
                  <a:moveTo>
                    <a:pt x="0" y="61912"/>
                  </a:moveTo>
                  <a:lnTo>
                    <a:pt x="338138" y="61912"/>
                  </a:lnTo>
                  <a:lnTo>
                    <a:pt x="338138" y="0"/>
                  </a:lnTo>
                  <a:lnTo>
                    <a:pt x="461963" y="123825"/>
                  </a:lnTo>
                  <a:lnTo>
                    <a:pt x="338138" y="247650"/>
                  </a:lnTo>
                  <a:lnTo>
                    <a:pt x="338138" y="185737"/>
                  </a:lnTo>
                  <a:lnTo>
                    <a:pt x="0" y="185737"/>
                  </a:lnTo>
                  <a:lnTo>
                    <a:pt x="0" y="61912"/>
                  </a:lnTo>
                  <a:close/>
                </a:path>
              </a:pathLst>
            </a:custGeom>
            <a:ln w="12700">
              <a:solidFill>
                <a:srgbClr val="2E51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9382124" y="3765550"/>
            <a:ext cx="474980" cy="260350"/>
            <a:chOff x="9382124" y="3765550"/>
            <a:chExt cx="474980" cy="260350"/>
          </a:xfrm>
        </p:grpSpPr>
        <p:sp>
          <p:nvSpPr>
            <p:cNvPr id="12" name="object 12"/>
            <p:cNvSpPr/>
            <p:nvPr/>
          </p:nvSpPr>
          <p:spPr>
            <a:xfrm>
              <a:off x="9388474" y="3771900"/>
              <a:ext cx="462280" cy="247650"/>
            </a:xfrm>
            <a:custGeom>
              <a:avLst/>
              <a:gdLst/>
              <a:ahLst/>
              <a:cxnLst/>
              <a:rect l="l" t="t" r="r" b="b"/>
              <a:pathLst>
                <a:path w="462279" h="247650">
                  <a:moveTo>
                    <a:pt x="123825" y="0"/>
                  </a:moveTo>
                  <a:lnTo>
                    <a:pt x="0" y="123825"/>
                  </a:lnTo>
                  <a:lnTo>
                    <a:pt x="123825" y="247650"/>
                  </a:lnTo>
                  <a:lnTo>
                    <a:pt x="123825" y="185737"/>
                  </a:lnTo>
                  <a:lnTo>
                    <a:pt x="461962" y="185737"/>
                  </a:lnTo>
                  <a:lnTo>
                    <a:pt x="461962" y="61912"/>
                  </a:lnTo>
                  <a:lnTo>
                    <a:pt x="123825" y="61912"/>
                  </a:lnTo>
                  <a:lnTo>
                    <a:pt x="123825" y="0"/>
                  </a:lnTo>
                  <a:close/>
                </a:path>
              </a:pathLst>
            </a:custGeom>
            <a:solidFill>
              <a:srgbClr val="4471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388474" y="3771900"/>
              <a:ext cx="462280" cy="247650"/>
            </a:xfrm>
            <a:custGeom>
              <a:avLst/>
              <a:gdLst/>
              <a:ahLst/>
              <a:cxnLst/>
              <a:rect l="l" t="t" r="r" b="b"/>
              <a:pathLst>
                <a:path w="462279" h="247650">
                  <a:moveTo>
                    <a:pt x="461963" y="185737"/>
                  </a:moveTo>
                  <a:lnTo>
                    <a:pt x="123824" y="185737"/>
                  </a:lnTo>
                  <a:lnTo>
                    <a:pt x="123824" y="247650"/>
                  </a:lnTo>
                  <a:lnTo>
                    <a:pt x="0" y="123824"/>
                  </a:lnTo>
                  <a:lnTo>
                    <a:pt x="123824" y="0"/>
                  </a:lnTo>
                  <a:lnTo>
                    <a:pt x="123824" y="61912"/>
                  </a:lnTo>
                  <a:lnTo>
                    <a:pt x="461963" y="61912"/>
                  </a:lnTo>
                  <a:lnTo>
                    <a:pt x="461963" y="185737"/>
                  </a:lnTo>
                  <a:close/>
                </a:path>
              </a:pathLst>
            </a:custGeom>
            <a:ln w="12700">
              <a:solidFill>
                <a:srgbClr val="2E51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7415213" y="3763962"/>
            <a:ext cx="474980" cy="260350"/>
            <a:chOff x="7415213" y="3763962"/>
            <a:chExt cx="474980" cy="260350"/>
          </a:xfrm>
        </p:grpSpPr>
        <p:sp>
          <p:nvSpPr>
            <p:cNvPr id="15" name="object 15"/>
            <p:cNvSpPr/>
            <p:nvPr/>
          </p:nvSpPr>
          <p:spPr>
            <a:xfrm>
              <a:off x="7421562" y="3770313"/>
              <a:ext cx="462280" cy="247650"/>
            </a:xfrm>
            <a:custGeom>
              <a:avLst/>
              <a:gdLst/>
              <a:ahLst/>
              <a:cxnLst/>
              <a:rect l="l" t="t" r="r" b="b"/>
              <a:pathLst>
                <a:path w="462279" h="247650">
                  <a:moveTo>
                    <a:pt x="123825" y="0"/>
                  </a:moveTo>
                  <a:lnTo>
                    <a:pt x="0" y="123823"/>
                  </a:lnTo>
                  <a:lnTo>
                    <a:pt x="123825" y="247648"/>
                  </a:lnTo>
                  <a:lnTo>
                    <a:pt x="123825" y="185737"/>
                  </a:lnTo>
                  <a:lnTo>
                    <a:pt x="461962" y="185737"/>
                  </a:lnTo>
                  <a:lnTo>
                    <a:pt x="461962" y="61912"/>
                  </a:lnTo>
                  <a:lnTo>
                    <a:pt x="123825" y="61912"/>
                  </a:lnTo>
                  <a:lnTo>
                    <a:pt x="123825" y="0"/>
                  </a:lnTo>
                  <a:close/>
                </a:path>
              </a:pathLst>
            </a:custGeom>
            <a:solidFill>
              <a:srgbClr val="4471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421563" y="3770312"/>
              <a:ext cx="462280" cy="247650"/>
            </a:xfrm>
            <a:custGeom>
              <a:avLst/>
              <a:gdLst/>
              <a:ahLst/>
              <a:cxnLst/>
              <a:rect l="l" t="t" r="r" b="b"/>
              <a:pathLst>
                <a:path w="462279" h="247650">
                  <a:moveTo>
                    <a:pt x="461962" y="185737"/>
                  </a:moveTo>
                  <a:lnTo>
                    <a:pt x="123824" y="185737"/>
                  </a:lnTo>
                  <a:lnTo>
                    <a:pt x="123824" y="247649"/>
                  </a:lnTo>
                  <a:lnTo>
                    <a:pt x="0" y="123824"/>
                  </a:lnTo>
                  <a:lnTo>
                    <a:pt x="123824" y="0"/>
                  </a:lnTo>
                  <a:lnTo>
                    <a:pt x="123824" y="61912"/>
                  </a:lnTo>
                  <a:lnTo>
                    <a:pt x="461962" y="61912"/>
                  </a:lnTo>
                  <a:lnTo>
                    <a:pt x="461962" y="185737"/>
                  </a:lnTo>
                  <a:close/>
                </a:path>
              </a:pathLst>
            </a:custGeom>
            <a:ln w="12700">
              <a:solidFill>
                <a:srgbClr val="2E51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10482263" y="2947987"/>
            <a:ext cx="271780" cy="392430"/>
            <a:chOff x="10482263" y="2947987"/>
            <a:chExt cx="271780" cy="392430"/>
          </a:xfrm>
        </p:grpSpPr>
        <p:sp>
          <p:nvSpPr>
            <p:cNvPr id="18" name="object 18"/>
            <p:cNvSpPr/>
            <p:nvPr/>
          </p:nvSpPr>
          <p:spPr>
            <a:xfrm>
              <a:off x="10488612" y="2954337"/>
              <a:ext cx="259079" cy="379730"/>
            </a:xfrm>
            <a:custGeom>
              <a:avLst/>
              <a:gdLst/>
              <a:ahLst/>
              <a:cxnLst/>
              <a:rect l="l" t="t" r="r" b="b"/>
              <a:pathLst>
                <a:path w="259079" h="379729">
                  <a:moveTo>
                    <a:pt x="194072" y="0"/>
                  </a:moveTo>
                  <a:lnTo>
                    <a:pt x="64691" y="0"/>
                  </a:lnTo>
                  <a:lnTo>
                    <a:pt x="64691" y="250031"/>
                  </a:lnTo>
                  <a:lnTo>
                    <a:pt x="0" y="250031"/>
                  </a:lnTo>
                  <a:lnTo>
                    <a:pt x="129381" y="379412"/>
                  </a:lnTo>
                  <a:lnTo>
                    <a:pt x="258762" y="250031"/>
                  </a:lnTo>
                  <a:lnTo>
                    <a:pt x="194072" y="250031"/>
                  </a:lnTo>
                  <a:lnTo>
                    <a:pt x="194072" y="0"/>
                  </a:lnTo>
                  <a:close/>
                </a:path>
              </a:pathLst>
            </a:custGeom>
            <a:solidFill>
              <a:srgbClr val="4471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488613" y="2954337"/>
              <a:ext cx="259079" cy="379730"/>
            </a:xfrm>
            <a:custGeom>
              <a:avLst/>
              <a:gdLst/>
              <a:ahLst/>
              <a:cxnLst/>
              <a:rect l="l" t="t" r="r" b="b"/>
              <a:pathLst>
                <a:path w="259079" h="379729">
                  <a:moveTo>
                    <a:pt x="194071" y="0"/>
                  </a:moveTo>
                  <a:lnTo>
                    <a:pt x="194071" y="250031"/>
                  </a:lnTo>
                  <a:lnTo>
                    <a:pt x="258762" y="250031"/>
                  </a:lnTo>
                  <a:lnTo>
                    <a:pt x="129381" y="379412"/>
                  </a:lnTo>
                  <a:lnTo>
                    <a:pt x="0" y="250031"/>
                  </a:lnTo>
                  <a:lnTo>
                    <a:pt x="64690" y="250031"/>
                  </a:lnTo>
                  <a:lnTo>
                    <a:pt x="64690" y="0"/>
                  </a:lnTo>
                  <a:lnTo>
                    <a:pt x="194071" y="0"/>
                  </a:lnTo>
                  <a:close/>
                </a:path>
              </a:pathLst>
            </a:custGeom>
            <a:ln w="12700">
              <a:solidFill>
                <a:srgbClr val="2E51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6523038" y="4483100"/>
            <a:ext cx="271780" cy="390525"/>
            <a:chOff x="6523038" y="4483100"/>
            <a:chExt cx="271780" cy="390525"/>
          </a:xfrm>
        </p:grpSpPr>
        <p:sp>
          <p:nvSpPr>
            <p:cNvPr id="21" name="object 21"/>
            <p:cNvSpPr/>
            <p:nvPr/>
          </p:nvSpPr>
          <p:spPr>
            <a:xfrm>
              <a:off x="6529387" y="4489450"/>
              <a:ext cx="259079" cy="377825"/>
            </a:xfrm>
            <a:custGeom>
              <a:avLst/>
              <a:gdLst/>
              <a:ahLst/>
              <a:cxnLst/>
              <a:rect l="l" t="t" r="r" b="b"/>
              <a:pathLst>
                <a:path w="259079" h="377825">
                  <a:moveTo>
                    <a:pt x="194071" y="0"/>
                  </a:moveTo>
                  <a:lnTo>
                    <a:pt x="64691" y="0"/>
                  </a:lnTo>
                  <a:lnTo>
                    <a:pt x="64691" y="248445"/>
                  </a:lnTo>
                  <a:lnTo>
                    <a:pt x="0" y="248445"/>
                  </a:lnTo>
                  <a:lnTo>
                    <a:pt x="129381" y="377825"/>
                  </a:lnTo>
                  <a:lnTo>
                    <a:pt x="258762" y="248445"/>
                  </a:lnTo>
                  <a:lnTo>
                    <a:pt x="194071" y="248445"/>
                  </a:lnTo>
                  <a:lnTo>
                    <a:pt x="194071" y="0"/>
                  </a:lnTo>
                  <a:close/>
                </a:path>
              </a:pathLst>
            </a:custGeom>
            <a:solidFill>
              <a:srgbClr val="4471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529388" y="4489450"/>
              <a:ext cx="259079" cy="377825"/>
            </a:xfrm>
            <a:custGeom>
              <a:avLst/>
              <a:gdLst/>
              <a:ahLst/>
              <a:cxnLst/>
              <a:rect l="l" t="t" r="r" b="b"/>
              <a:pathLst>
                <a:path w="259079" h="377825">
                  <a:moveTo>
                    <a:pt x="194071" y="0"/>
                  </a:moveTo>
                  <a:lnTo>
                    <a:pt x="194071" y="248444"/>
                  </a:lnTo>
                  <a:lnTo>
                    <a:pt x="258762" y="248444"/>
                  </a:lnTo>
                  <a:lnTo>
                    <a:pt x="129380" y="377825"/>
                  </a:lnTo>
                  <a:lnTo>
                    <a:pt x="0" y="248444"/>
                  </a:lnTo>
                  <a:lnTo>
                    <a:pt x="64690" y="248444"/>
                  </a:lnTo>
                  <a:lnTo>
                    <a:pt x="64690" y="0"/>
                  </a:lnTo>
                  <a:lnTo>
                    <a:pt x="194071" y="0"/>
                  </a:lnTo>
                  <a:close/>
                </a:path>
              </a:pathLst>
            </a:custGeom>
            <a:ln w="12700">
              <a:solidFill>
                <a:srgbClr val="2E51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678" y="1844547"/>
            <a:ext cx="9200515" cy="239395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241300" marR="5080" indent="-228600">
              <a:lnSpc>
                <a:spcPts val="2620"/>
              </a:lnSpc>
              <a:spcBef>
                <a:spcPts val="20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Summarize</a:t>
            </a:r>
            <a:r>
              <a:rPr sz="22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how</a:t>
            </a:r>
            <a:r>
              <a:rPr sz="2200" spc="-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you</a:t>
            </a:r>
            <a:r>
              <a:rPr sz="2200" spc="-6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built,</a:t>
            </a:r>
            <a:r>
              <a:rPr sz="22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72727"/>
                </a:solidFill>
                <a:latin typeface="Calibri"/>
                <a:cs typeface="Calibri"/>
              </a:rPr>
              <a:t>evaluated,</a:t>
            </a:r>
            <a:r>
              <a:rPr sz="22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72727"/>
                </a:solidFill>
                <a:latin typeface="Calibri"/>
                <a:cs typeface="Calibri"/>
              </a:rPr>
              <a:t>improved,</a:t>
            </a:r>
            <a:r>
              <a:rPr sz="22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and</a:t>
            </a:r>
            <a:r>
              <a:rPr sz="2200" spc="-6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found</a:t>
            </a:r>
            <a:r>
              <a:rPr sz="2200" spc="-6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the</a:t>
            </a:r>
            <a:r>
              <a:rPr sz="22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best</a:t>
            </a:r>
            <a:r>
              <a:rPr sz="22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72727"/>
                </a:solidFill>
                <a:latin typeface="Calibri"/>
                <a:cs typeface="Calibri"/>
              </a:rPr>
              <a:t>performing classification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272727"/>
                </a:solidFill>
                <a:latin typeface="Calibri"/>
                <a:cs typeface="Calibri"/>
              </a:rPr>
              <a:t>model</a:t>
            </a:r>
            <a:endParaRPr sz="2200">
              <a:latin typeface="Calibri"/>
              <a:cs typeface="Calibri"/>
            </a:endParaRPr>
          </a:p>
          <a:p>
            <a:pPr marL="241300" marR="588010" indent="-228600">
              <a:lnSpc>
                <a:spcPct val="102699"/>
              </a:lnSpc>
              <a:spcBef>
                <a:spcPts val="118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spc="-40" dirty="0">
                <a:solidFill>
                  <a:srgbClr val="272727"/>
                </a:solidFill>
                <a:latin typeface="Calibri"/>
                <a:cs typeface="Calibri"/>
              </a:rPr>
              <a:t>You</a:t>
            </a:r>
            <a:r>
              <a:rPr sz="2200" spc="-7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need</a:t>
            </a:r>
            <a:r>
              <a:rPr sz="2200" spc="-7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present</a:t>
            </a:r>
            <a:r>
              <a:rPr sz="2200" spc="-7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your</a:t>
            </a:r>
            <a:r>
              <a:rPr sz="2200" spc="-7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model</a:t>
            </a:r>
            <a:r>
              <a:rPr sz="2200" spc="-7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72727"/>
                </a:solidFill>
                <a:latin typeface="Calibri"/>
                <a:cs typeface="Calibri"/>
              </a:rPr>
              <a:t>development</a:t>
            </a:r>
            <a:r>
              <a:rPr sz="2200" spc="-7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process</a:t>
            </a:r>
            <a:r>
              <a:rPr sz="2200" spc="-6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using</a:t>
            </a:r>
            <a:r>
              <a:rPr sz="2200" spc="-7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key</a:t>
            </a:r>
            <a:r>
              <a:rPr sz="2200" spc="-6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phrases</a:t>
            </a:r>
            <a:r>
              <a:rPr sz="2200" spc="-7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272727"/>
                </a:solidFill>
                <a:latin typeface="Calibri"/>
                <a:cs typeface="Calibri"/>
              </a:rPr>
              <a:t>and </a:t>
            </a:r>
            <a:r>
              <a:rPr sz="2200" spc="-10" dirty="0">
                <a:solidFill>
                  <a:srgbClr val="272727"/>
                </a:solidFill>
                <a:latin typeface="Calibri"/>
                <a:cs typeface="Calibri"/>
              </a:rPr>
              <a:t>flowchart</a:t>
            </a:r>
            <a:endParaRPr sz="2200">
              <a:latin typeface="Calibri"/>
              <a:cs typeface="Calibri"/>
            </a:endParaRPr>
          </a:p>
          <a:p>
            <a:pPr marL="241300" marR="276860" indent="-228600">
              <a:lnSpc>
                <a:spcPct val="101800"/>
              </a:lnSpc>
              <a:spcBef>
                <a:spcPts val="132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Add</a:t>
            </a:r>
            <a:r>
              <a:rPr sz="2200" spc="-4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the</a:t>
            </a:r>
            <a:r>
              <a:rPr sz="2200" spc="-4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GitHub</a:t>
            </a:r>
            <a:r>
              <a:rPr sz="2200" spc="-4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URL</a:t>
            </a:r>
            <a:r>
              <a:rPr sz="2200" spc="-4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of</a:t>
            </a:r>
            <a:r>
              <a:rPr sz="2200" spc="-3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your</a:t>
            </a:r>
            <a:r>
              <a:rPr sz="2200" spc="-4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72727"/>
                </a:solidFill>
                <a:latin typeface="Calibri"/>
                <a:cs typeface="Calibri"/>
              </a:rPr>
              <a:t>completed</a:t>
            </a:r>
            <a:r>
              <a:rPr sz="2200" spc="-4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predictive</a:t>
            </a:r>
            <a:r>
              <a:rPr sz="2200" spc="-3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analysis</a:t>
            </a:r>
            <a:r>
              <a:rPr sz="2200" spc="-4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lab,</a:t>
            </a:r>
            <a:r>
              <a:rPr sz="2200" spc="-4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as</a:t>
            </a:r>
            <a:r>
              <a:rPr sz="2200" spc="-4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an</a:t>
            </a:r>
            <a:r>
              <a:rPr sz="2200" spc="-4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72727"/>
                </a:solidFill>
                <a:latin typeface="Calibri"/>
                <a:cs typeface="Calibri"/>
              </a:rPr>
              <a:t>external </a:t>
            </a:r>
            <a:r>
              <a:rPr sz="2200" spc="-20" dirty="0">
                <a:solidFill>
                  <a:srgbClr val="272727"/>
                </a:solidFill>
                <a:latin typeface="Calibri"/>
                <a:cs typeface="Calibri"/>
              </a:rPr>
              <a:t>reference</a:t>
            </a:r>
            <a:r>
              <a:rPr sz="2200" spc="-3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and</a:t>
            </a:r>
            <a:r>
              <a:rPr sz="2200" spc="-3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spc="-30" dirty="0">
                <a:solidFill>
                  <a:srgbClr val="272727"/>
                </a:solidFill>
                <a:latin typeface="Calibri"/>
                <a:cs typeface="Calibri"/>
              </a:rPr>
              <a:t>peer-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review</a:t>
            </a:r>
            <a:r>
              <a:rPr sz="2200" spc="-3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72727"/>
                </a:solidFill>
                <a:latin typeface="Calibri"/>
                <a:cs typeface="Calibri"/>
              </a:rPr>
              <a:t>purpose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Predictive</a:t>
            </a:r>
            <a:r>
              <a:rPr spc="-160" dirty="0"/>
              <a:t> </a:t>
            </a:r>
            <a:r>
              <a:rPr dirty="0"/>
              <a:t>Analysis</a:t>
            </a:r>
            <a:r>
              <a:rPr spc="-155" dirty="0"/>
              <a:t> </a:t>
            </a:r>
            <a:r>
              <a:rPr spc="-10" dirty="0"/>
              <a:t>(Classification)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0114" y="1652523"/>
            <a:ext cx="4918710" cy="1552575"/>
          </a:xfrm>
          <a:prstGeom prst="rect">
            <a:avLst/>
          </a:prstGeom>
        </p:spPr>
        <p:txBody>
          <a:bodyPr vert="horz" wrap="square" lIns="0" tIns="18605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46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solidFill>
                  <a:srgbClr val="272727"/>
                </a:solidFill>
                <a:latin typeface="Calibri"/>
                <a:cs typeface="Calibri"/>
              </a:rPr>
              <a:t>Exploratory</a:t>
            </a:r>
            <a:r>
              <a:rPr sz="2200" spc="-6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data</a:t>
            </a:r>
            <a:r>
              <a:rPr sz="2200" spc="-6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analysis</a:t>
            </a:r>
            <a:r>
              <a:rPr sz="2200" spc="-7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72727"/>
                </a:solidFill>
                <a:latin typeface="Calibri"/>
                <a:cs typeface="Calibri"/>
              </a:rPr>
              <a:t>results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37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solidFill>
                  <a:srgbClr val="272727"/>
                </a:solidFill>
                <a:latin typeface="Calibri"/>
                <a:cs typeface="Calibri"/>
              </a:rPr>
              <a:t>Interactive</a:t>
            </a:r>
            <a:r>
              <a:rPr sz="2200" spc="-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analytics</a:t>
            </a:r>
            <a:r>
              <a:rPr sz="2200" spc="-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demo</a:t>
            </a:r>
            <a:r>
              <a:rPr sz="2200" spc="-5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in</a:t>
            </a:r>
            <a:r>
              <a:rPr sz="22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72727"/>
                </a:solidFill>
                <a:latin typeface="Calibri"/>
                <a:cs typeface="Calibri"/>
              </a:rPr>
              <a:t>screenshots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37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Predictive</a:t>
            </a:r>
            <a:r>
              <a:rPr sz="2200" spc="-9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analysis</a:t>
            </a:r>
            <a:r>
              <a:rPr sz="2200" spc="-10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72727"/>
                </a:solidFill>
                <a:latin typeface="Calibri"/>
                <a:cs typeface="Calibri"/>
              </a:rPr>
              <a:t>results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Results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98512" y="2530475"/>
            <a:ext cx="1057275" cy="368300"/>
          </a:xfrm>
          <a:custGeom>
            <a:avLst/>
            <a:gdLst/>
            <a:ahLst/>
            <a:cxnLst/>
            <a:rect l="l" t="t" r="r" b="b"/>
            <a:pathLst>
              <a:path w="1057275" h="368300">
                <a:moveTo>
                  <a:pt x="1057274" y="0"/>
                </a:moveTo>
                <a:lnTo>
                  <a:pt x="0" y="0"/>
                </a:lnTo>
                <a:lnTo>
                  <a:pt x="0" y="368300"/>
                </a:lnTo>
                <a:lnTo>
                  <a:pt x="1057274" y="368300"/>
                </a:lnTo>
                <a:lnTo>
                  <a:pt x="1057274" y="0"/>
                </a:lnTo>
                <a:close/>
              </a:path>
            </a:pathLst>
          </a:custGeom>
          <a:solidFill>
            <a:srgbClr val="0947C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77253" y="2550667"/>
            <a:ext cx="880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Section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2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15414" y="3434588"/>
            <a:ext cx="8728710" cy="2207895"/>
          </a:xfrm>
          <a:prstGeom prst="rect">
            <a:avLst/>
          </a:prstGeom>
        </p:spPr>
        <p:txBody>
          <a:bodyPr vert="horz" wrap="square" lIns="0" tIns="19240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51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earliest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flights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failed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while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latest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flights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succeeded.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41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CCAFS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SLC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40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launch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site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about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half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launches.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41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alibri"/>
                <a:cs typeface="Calibri"/>
              </a:rPr>
              <a:t>VAFB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SLC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4E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KSC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LC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39A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higher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success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rates.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41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assumed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new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launch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higher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rate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success.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Flight</a:t>
            </a:r>
            <a:r>
              <a:rPr spc="-65" dirty="0"/>
              <a:t> </a:t>
            </a:r>
            <a:r>
              <a:rPr dirty="0"/>
              <a:t>Number</a:t>
            </a:r>
            <a:r>
              <a:rPr spc="-60" dirty="0"/>
              <a:t> </a:t>
            </a:r>
            <a:r>
              <a:rPr dirty="0"/>
              <a:t>vs.</a:t>
            </a:r>
            <a:r>
              <a:rPr spc="-55" dirty="0"/>
              <a:t> </a:t>
            </a:r>
            <a:r>
              <a:rPr dirty="0"/>
              <a:t>Launch</a:t>
            </a:r>
            <a:r>
              <a:rPr spc="-65" dirty="0"/>
              <a:t> </a:t>
            </a:r>
            <a:r>
              <a:rPr spc="-20" dirty="0"/>
              <a:t>Site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095" y="1085088"/>
            <a:ext cx="10692384" cy="232867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8214" y="3665220"/>
            <a:ext cx="10022840" cy="197040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241300" marR="5080" indent="-228600">
              <a:lnSpc>
                <a:spcPct val="102299"/>
              </a:lnSpc>
              <a:spcBef>
                <a:spcPts val="2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For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every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launch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site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higher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payload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mass,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higher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success rate.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39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Most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launches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payload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mass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over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7000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kg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were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successful.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36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KSC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LC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39A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has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100%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success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rate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payload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mass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under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5500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kg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too.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Payload</a:t>
            </a:r>
            <a:r>
              <a:rPr spc="-110" dirty="0"/>
              <a:t> </a:t>
            </a:r>
            <a:r>
              <a:rPr dirty="0"/>
              <a:t>vs.</a:t>
            </a:r>
            <a:r>
              <a:rPr spc="-110" dirty="0"/>
              <a:t> </a:t>
            </a:r>
            <a:r>
              <a:rPr dirty="0"/>
              <a:t>Launch</a:t>
            </a:r>
            <a:r>
              <a:rPr spc="-110" dirty="0"/>
              <a:t> </a:t>
            </a:r>
            <a:r>
              <a:rPr spc="-20" dirty="0"/>
              <a:t>Site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7824" y="1414272"/>
            <a:ext cx="10408920" cy="224332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678" y="2090420"/>
            <a:ext cx="3709670" cy="29425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40029" marR="19050" indent="-227329">
              <a:lnSpc>
                <a:spcPct val="100800"/>
              </a:lnSpc>
              <a:spcBef>
                <a:spcPts val="7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Orbits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100%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success 	rate: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-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ES-</a:t>
            </a:r>
            <a:r>
              <a:rPr sz="2400" dirty="0">
                <a:latin typeface="Calibri"/>
                <a:cs typeface="Calibri"/>
              </a:rPr>
              <a:t>L1,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GEO,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HEO,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SSO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41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Orbits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0%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success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rate: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25"/>
              </a:spcBef>
            </a:pPr>
            <a:r>
              <a:rPr sz="2400" dirty="0">
                <a:latin typeface="Calibri"/>
                <a:cs typeface="Calibri"/>
              </a:rPr>
              <a:t>-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SO</a:t>
            </a:r>
            <a:endParaRPr sz="2400">
              <a:latin typeface="Calibri"/>
              <a:cs typeface="Calibri"/>
            </a:endParaRPr>
          </a:p>
          <a:p>
            <a:pPr marL="240029" marR="401955" indent="-227329">
              <a:lnSpc>
                <a:spcPct val="98700"/>
              </a:lnSpc>
              <a:spcBef>
                <a:spcPts val="145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Orbits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success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rate 	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50%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85%: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- 	</a:t>
            </a:r>
            <a:r>
              <a:rPr sz="2400" spc="-10" dirty="0">
                <a:latin typeface="Calibri"/>
                <a:cs typeface="Calibri"/>
              </a:rPr>
              <a:t>GTO,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ISS,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LEO,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MEO,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PO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Success</a:t>
            </a:r>
            <a:r>
              <a:rPr spc="-70" dirty="0"/>
              <a:t> </a:t>
            </a:r>
            <a:r>
              <a:rPr dirty="0"/>
              <a:t>Rate</a:t>
            </a:r>
            <a:r>
              <a:rPr spc="-70" dirty="0"/>
              <a:t> </a:t>
            </a:r>
            <a:r>
              <a:rPr dirty="0"/>
              <a:t>vs.</a:t>
            </a:r>
            <a:r>
              <a:rPr spc="-65" dirty="0"/>
              <a:t> </a:t>
            </a:r>
            <a:r>
              <a:rPr dirty="0"/>
              <a:t>Orbit</a:t>
            </a:r>
            <a:r>
              <a:rPr spc="-70" dirty="0"/>
              <a:t> </a:t>
            </a:r>
            <a:r>
              <a:rPr spc="-20" dirty="0"/>
              <a:t>Type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99303" y="1484375"/>
            <a:ext cx="6361176" cy="391058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678" y="2078228"/>
            <a:ext cx="3681729" cy="25888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marR="5080" indent="-227329">
              <a:lnSpc>
                <a:spcPct val="100099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orbit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Success 	</a:t>
            </a:r>
            <a:r>
              <a:rPr sz="2400" dirty="0">
                <a:latin typeface="Calibri"/>
                <a:cs typeface="Calibri"/>
              </a:rPr>
              <a:t>appears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related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flights;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other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hand,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seems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 	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relationship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between 	</a:t>
            </a:r>
            <a:r>
              <a:rPr sz="2400" dirty="0">
                <a:latin typeface="Calibri"/>
                <a:cs typeface="Calibri"/>
              </a:rPr>
              <a:t>flight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GTO 	</a:t>
            </a:r>
            <a:r>
              <a:rPr sz="2400" spc="-10" dirty="0">
                <a:latin typeface="Calibri"/>
                <a:cs typeface="Calibri"/>
              </a:rPr>
              <a:t>orbit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Flight</a:t>
            </a:r>
            <a:r>
              <a:rPr spc="-50" dirty="0"/>
              <a:t> </a:t>
            </a:r>
            <a:r>
              <a:rPr dirty="0"/>
              <a:t>Number</a:t>
            </a:r>
            <a:r>
              <a:rPr spc="-45" dirty="0"/>
              <a:t> </a:t>
            </a:r>
            <a:r>
              <a:rPr dirty="0"/>
              <a:t>vs.</a:t>
            </a:r>
            <a:r>
              <a:rPr spc="-40" dirty="0"/>
              <a:t> </a:t>
            </a:r>
            <a:r>
              <a:rPr dirty="0"/>
              <a:t>Orbit</a:t>
            </a:r>
            <a:r>
              <a:rPr spc="-45" dirty="0"/>
              <a:t> </a:t>
            </a:r>
            <a:r>
              <a:rPr spc="-20" dirty="0"/>
              <a:t>Type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00015" y="1749551"/>
            <a:ext cx="6760464" cy="383743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678" y="1964436"/>
            <a:ext cx="3556635" cy="1537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265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With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heavy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payloads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the</a:t>
            </a:r>
            <a:endParaRPr sz="2600">
              <a:latin typeface="Calibri"/>
              <a:cs typeface="Calibri"/>
            </a:endParaRPr>
          </a:p>
          <a:p>
            <a:pPr marL="241300">
              <a:lnSpc>
                <a:spcPts val="2195"/>
              </a:lnSpc>
            </a:pPr>
            <a:r>
              <a:rPr sz="2600" dirty="0">
                <a:latin typeface="Calibri"/>
                <a:cs typeface="Calibri"/>
              </a:rPr>
              <a:t>successful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landing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or</a:t>
            </a:r>
            <a:endParaRPr sz="2600">
              <a:latin typeface="Calibri"/>
              <a:cs typeface="Calibri"/>
            </a:endParaRPr>
          </a:p>
          <a:p>
            <a:pPr marL="241300">
              <a:lnSpc>
                <a:spcPts val="2210"/>
              </a:lnSpc>
            </a:pPr>
            <a:r>
              <a:rPr sz="2600" dirty="0">
                <a:latin typeface="Calibri"/>
                <a:cs typeface="Calibri"/>
              </a:rPr>
              <a:t>positive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landing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rate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are</a:t>
            </a:r>
            <a:endParaRPr sz="2600">
              <a:latin typeface="Calibri"/>
              <a:cs typeface="Calibri"/>
            </a:endParaRPr>
          </a:p>
          <a:p>
            <a:pPr marL="241300" marR="149860">
              <a:lnSpc>
                <a:spcPct val="70000"/>
              </a:lnSpc>
              <a:spcBef>
                <a:spcPts val="480"/>
              </a:spcBef>
            </a:pPr>
            <a:r>
              <a:rPr sz="2600" dirty="0">
                <a:latin typeface="Calibri"/>
                <a:cs typeface="Calibri"/>
              </a:rPr>
              <a:t>more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40" dirty="0">
                <a:latin typeface="Calibri"/>
                <a:cs typeface="Calibri"/>
              </a:rPr>
              <a:t>Polar,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LEO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and </a:t>
            </a:r>
            <a:r>
              <a:rPr sz="2600" spc="-20" dirty="0">
                <a:latin typeface="Calibri"/>
                <a:cs typeface="Calibri"/>
              </a:rPr>
              <a:t>ISS.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8678" y="3488435"/>
            <a:ext cx="30365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However</a:t>
            </a:r>
            <a:r>
              <a:rPr sz="2600" spc="-114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114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GTO</a:t>
            </a:r>
            <a:r>
              <a:rPr sz="2600" spc="-114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we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77278" y="3753611"/>
            <a:ext cx="303276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latin typeface="Calibri"/>
                <a:cs typeface="Calibri"/>
              </a:rPr>
              <a:t>cannot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distinguish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this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7278" y="4034028"/>
            <a:ext cx="3415665" cy="1537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650"/>
              </a:lnSpc>
              <a:spcBef>
                <a:spcPts val="100"/>
              </a:spcBef>
            </a:pPr>
            <a:r>
              <a:rPr sz="2600" dirty="0">
                <a:latin typeface="Calibri"/>
                <a:cs typeface="Calibri"/>
              </a:rPr>
              <a:t>well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both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positive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ts val="2195"/>
              </a:lnSpc>
            </a:pPr>
            <a:r>
              <a:rPr sz="2600" dirty="0">
                <a:latin typeface="Calibri"/>
                <a:cs typeface="Calibri"/>
              </a:rPr>
              <a:t>landing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rate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negative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ts val="2210"/>
              </a:lnSpc>
            </a:pPr>
            <a:r>
              <a:rPr sz="2600" spc="-10" dirty="0">
                <a:latin typeface="Calibri"/>
                <a:cs typeface="Calibri"/>
              </a:rPr>
              <a:t>landing(unsuccessful</a:t>
            </a:r>
            <a:endParaRPr sz="2600">
              <a:latin typeface="Calibri"/>
              <a:cs typeface="Calibri"/>
            </a:endParaRPr>
          </a:p>
          <a:p>
            <a:pPr marL="12700" marR="260985">
              <a:lnSpc>
                <a:spcPct val="70000"/>
              </a:lnSpc>
              <a:spcBef>
                <a:spcPts val="480"/>
              </a:spcBef>
            </a:pPr>
            <a:r>
              <a:rPr sz="2600" dirty="0">
                <a:latin typeface="Calibri"/>
                <a:cs typeface="Calibri"/>
              </a:rPr>
              <a:t>mission)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both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there </a:t>
            </a:r>
            <a:r>
              <a:rPr sz="2600" spc="-10" dirty="0">
                <a:latin typeface="Calibri"/>
                <a:cs typeface="Calibri"/>
              </a:rPr>
              <a:t>here.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Payload</a:t>
            </a:r>
            <a:r>
              <a:rPr spc="-90" dirty="0"/>
              <a:t> </a:t>
            </a:r>
            <a:r>
              <a:rPr dirty="0"/>
              <a:t>vs.</a:t>
            </a:r>
            <a:r>
              <a:rPr spc="-95" dirty="0"/>
              <a:t> </a:t>
            </a:r>
            <a:r>
              <a:rPr dirty="0"/>
              <a:t>Orbit</a:t>
            </a:r>
            <a:r>
              <a:rPr spc="-100" dirty="0"/>
              <a:t> </a:t>
            </a:r>
            <a:r>
              <a:rPr spc="-20" dirty="0"/>
              <a:t>Type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85359" y="1612391"/>
            <a:ext cx="6675120" cy="3767328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678" y="2623820"/>
            <a:ext cx="3735070" cy="112903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40029" marR="5080" indent="-227329">
              <a:lnSpc>
                <a:spcPct val="100800"/>
              </a:lnSpc>
              <a:spcBef>
                <a:spcPts val="7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you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observe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success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rate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since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2013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kept 	</a:t>
            </a:r>
            <a:r>
              <a:rPr sz="2400" dirty="0">
                <a:latin typeface="Calibri"/>
                <a:cs typeface="Calibri"/>
              </a:rPr>
              <a:t>increasing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till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2020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8678" y="413511"/>
            <a:ext cx="5392420" cy="589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Launch</a:t>
            </a:r>
            <a:r>
              <a:rPr spc="-95" dirty="0"/>
              <a:t> </a:t>
            </a:r>
            <a:r>
              <a:rPr dirty="0"/>
              <a:t>Success</a:t>
            </a:r>
            <a:r>
              <a:rPr spc="-95" dirty="0"/>
              <a:t> </a:t>
            </a:r>
            <a:r>
              <a:rPr spc="-25" dirty="0"/>
              <a:t>Yearly</a:t>
            </a:r>
            <a:r>
              <a:rPr spc="-95" dirty="0"/>
              <a:t> </a:t>
            </a:r>
            <a:r>
              <a:rPr spc="-20" dirty="0"/>
              <a:t>Trend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37759" y="1395983"/>
            <a:ext cx="6348984" cy="440131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678" y="5263896"/>
            <a:ext cx="9177020" cy="70548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8600" algn="just">
              <a:lnSpc>
                <a:spcPct val="8120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1700" dirty="0">
                <a:latin typeface="Calibri"/>
                <a:cs typeface="Calibri"/>
              </a:rPr>
              <a:t>Above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coordinates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are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just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plain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numbers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that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can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not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give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you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any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intuitive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insights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about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where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are </a:t>
            </a:r>
            <a:r>
              <a:rPr sz="1700" dirty="0">
                <a:latin typeface="Calibri"/>
                <a:cs typeface="Calibri"/>
              </a:rPr>
              <a:t>those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launch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sites.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If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you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are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very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good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at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geography,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you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can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interpret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those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numbers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directly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in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-20" dirty="0">
                <a:latin typeface="Calibri"/>
                <a:cs typeface="Calibri"/>
              </a:rPr>
              <a:t>your </a:t>
            </a:r>
            <a:r>
              <a:rPr sz="1700" dirty="0">
                <a:latin typeface="Calibri"/>
                <a:cs typeface="Calibri"/>
              </a:rPr>
              <a:t>mind.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If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not,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that's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fine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too.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Let's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visualize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those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locations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by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pinning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them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on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spc="-20" dirty="0">
                <a:latin typeface="Calibri"/>
                <a:cs typeface="Calibri"/>
              </a:rPr>
              <a:t>map.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All</a:t>
            </a:r>
            <a:r>
              <a:rPr spc="-50" dirty="0"/>
              <a:t> </a:t>
            </a:r>
            <a:r>
              <a:rPr dirty="0"/>
              <a:t>Launch</a:t>
            </a:r>
            <a:r>
              <a:rPr spc="-40" dirty="0"/>
              <a:t> </a:t>
            </a:r>
            <a:r>
              <a:rPr dirty="0"/>
              <a:t>Site</a:t>
            </a:r>
            <a:r>
              <a:rPr spc="-55" dirty="0"/>
              <a:t> </a:t>
            </a:r>
            <a:r>
              <a:rPr spc="-10" dirty="0"/>
              <a:t>Names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095" y="1600200"/>
            <a:ext cx="9957816" cy="341680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678" y="5440171"/>
            <a:ext cx="84969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Displaying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5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records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where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launch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sites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begin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string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'CCA'.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Launch</a:t>
            </a:r>
            <a:r>
              <a:rPr spc="-55" dirty="0"/>
              <a:t> </a:t>
            </a:r>
            <a:r>
              <a:rPr dirty="0"/>
              <a:t>Site</a:t>
            </a:r>
            <a:r>
              <a:rPr spc="-60" dirty="0"/>
              <a:t> </a:t>
            </a:r>
            <a:r>
              <a:rPr dirty="0"/>
              <a:t>Names</a:t>
            </a:r>
            <a:r>
              <a:rPr spc="-55" dirty="0"/>
              <a:t> </a:t>
            </a:r>
            <a:r>
              <a:rPr dirty="0"/>
              <a:t>Begin</a:t>
            </a:r>
            <a:r>
              <a:rPr spc="-55" dirty="0"/>
              <a:t> </a:t>
            </a:r>
            <a:r>
              <a:rPr dirty="0"/>
              <a:t>with</a:t>
            </a:r>
            <a:r>
              <a:rPr spc="-55" dirty="0"/>
              <a:t> </a:t>
            </a:r>
            <a:r>
              <a:rPr spc="-10" dirty="0"/>
              <a:t>'CCA'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095" y="2334767"/>
            <a:ext cx="10552176" cy="210311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678" y="4964683"/>
            <a:ext cx="9137650" cy="7600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40029" marR="5080" indent="-227329">
              <a:lnSpc>
                <a:spcPct val="100800"/>
              </a:lnSpc>
              <a:spcBef>
                <a:spcPts val="7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Displaying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total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payload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mass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carried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boosters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launched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NASA 	</a:t>
            </a:r>
            <a:r>
              <a:rPr sz="2400" spc="-10" dirty="0">
                <a:latin typeface="Calibri"/>
                <a:cs typeface="Calibri"/>
              </a:rPr>
              <a:t>(CRS).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Total</a:t>
            </a:r>
            <a:r>
              <a:rPr spc="-150" dirty="0"/>
              <a:t> </a:t>
            </a:r>
            <a:r>
              <a:rPr spc="-10" dirty="0"/>
              <a:t>Payload</a:t>
            </a:r>
            <a:r>
              <a:rPr spc="-160" dirty="0"/>
              <a:t> </a:t>
            </a:r>
            <a:r>
              <a:rPr spc="-20" dirty="0"/>
              <a:t>Mass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4191" y="2532888"/>
            <a:ext cx="10421112" cy="175564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678" y="4327652"/>
            <a:ext cx="8605520" cy="1116965"/>
          </a:xfrm>
          <a:prstGeom prst="rect">
            <a:avLst/>
          </a:prstGeom>
        </p:spPr>
        <p:txBody>
          <a:bodyPr vert="horz" wrap="square" lIns="0" tIns="19240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51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alibri"/>
                <a:cs typeface="Calibri"/>
              </a:rPr>
              <a:t>Explanation: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41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Displaying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average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payload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mass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carried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booster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version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F9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v1.1.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Average</a:t>
            </a:r>
            <a:r>
              <a:rPr spc="-90" dirty="0"/>
              <a:t> </a:t>
            </a:r>
            <a:r>
              <a:rPr spc="-10" dirty="0"/>
              <a:t>Payload</a:t>
            </a:r>
            <a:r>
              <a:rPr spc="-85" dirty="0"/>
              <a:t> </a:t>
            </a:r>
            <a:r>
              <a:rPr dirty="0"/>
              <a:t>Mass</a:t>
            </a:r>
            <a:r>
              <a:rPr spc="-85" dirty="0"/>
              <a:t> </a:t>
            </a:r>
            <a:r>
              <a:rPr dirty="0"/>
              <a:t>by</a:t>
            </a:r>
            <a:r>
              <a:rPr spc="-85" dirty="0"/>
              <a:t> </a:t>
            </a:r>
            <a:r>
              <a:rPr dirty="0"/>
              <a:t>F9</a:t>
            </a:r>
            <a:r>
              <a:rPr spc="-85" dirty="0"/>
              <a:t> </a:t>
            </a:r>
            <a:r>
              <a:rPr spc="-20" dirty="0"/>
              <a:t>v1.1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095" y="2307335"/>
            <a:ext cx="10137648" cy="164287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678" y="4979923"/>
            <a:ext cx="9186545" cy="7600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40029" marR="5080" indent="-227329">
              <a:lnSpc>
                <a:spcPct val="100800"/>
              </a:lnSpc>
              <a:spcBef>
                <a:spcPts val="7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Listing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first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successful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landing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outcome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ground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pad 	</a:t>
            </a:r>
            <a:r>
              <a:rPr sz="2400" dirty="0">
                <a:latin typeface="Calibri"/>
                <a:cs typeface="Calibri"/>
              </a:rPr>
              <a:t>was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achieved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First</a:t>
            </a:r>
            <a:r>
              <a:rPr spc="-130" dirty="0"/>
              <a:t> </a:t>
            </a:r>
            <a:r>
              <a:rPr dirty="0"/>
              <a:t>Successful</a:t>
            </a:r>
            <a:r>
              <a:rPr spc="-125" dirty="0"/>
              <a:t> </a:t>
            </a:r>
            <a:r>
              <a:rPr dirty="0"/>
              <a:t>Ground</a:t>
            </a:r>
            <a:r>
              <a:rPr spc="-120" dirty="0"/>
              <a:t> </a:t>
            </a:r>
            <a:r>
              <a:rPr dirty="0"/>
              <a:t>Landing</a:t>
            </a:r>
            <a:r>
              <a:rPr spc="-130" dirty="0"/>
              <a:t> </a:t>
            </a:r>
            <a:r>
              <a:rPr spc="-20" dirty="0"/>
              <a:t>Date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095" y="2139695"/>
            <a:ext cx="10143744" cy="214579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678" y="4775707"/>
            <a:ext cx="9024620" cy="7600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40029" marR="5080" indent="-227329">
              <a:lnSpc>
                <a:spcPct val="100800"/>
              </a:lnSpc>
              <a:spcBef>
                <a:spcPts val="7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Listing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names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boosters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success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drone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ship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 	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payload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mass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greater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4000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less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6000.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80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Successful</a:t>
            </a:r>
            <a:r>
              <a:rPr sz="2800" spc="-75" dirty="0"/>
              <a:t> </a:t>
            </a:r>
            <a:r>
              <a:rPr sz="2800" dirty="0"/>
              <a:t>Drone</a:t>
            </a:r>
            <a:r>
              <a:rPr sz="2800" spc="-75" dirty="0"/>
              <a:t> </a:t>
            </a:r>
            <a:r>
              <a:rPr sz="2800" dirty="0"/>
              <a:t>Ship</a:t>
            </a:r>
            <a:r>
              <a:rPr sz="2800" spc="-70" dirty="0"/>
              <a:t> </a:t>
            </a:r>
            <a:r>
              <a:rPr sz="2800" dirty="0"/>
              <a:t>Landing</a:t>
            </a:r>
            <a:r>
              <a:rPr sz="2800" spc="-75" dirty="0"/>
              <a:t> </a:t>
            </a:r>
            <a:r>
              <a:rPr sz="2800" dirty="0"/>
              <a:t>with</a:t>
            </a:r>
            <a:r>
              <a:rPr sz="2800" spc="-65" dirty="0"/>
              <a:t> </a:t>
            </a:r>
            <a:r>
              <a:rPr sz="2800" spc="-10" dirty="0"/>
              <a:t>Payload</a:t>
            </a:r>
            <a:r>
              <a:rPr sz="2800" spc="-70" dirty="0"/>
              <a:t> </a:t>
            </a:r>
            <a:r>
              <a:rPr sz="2800" dirty="0"/>
              <a:t>between</a:t>
            </a:r>
            <a:r>
              <a:rPr sz="2800" spc="-65" dirty="0"/>
              <a:t> </a:t>
            </a:r>
            <a:r>
              <a:rPr sz="2800" dirty="0"/>
              <a:t>4000</a:t>
            </a:r>
            <a:r>
              <a:rPr sz="2800" spc="-65" dirty="0"/>
              <a:t> </a:t>
            </a:r>
            <a:r>
              <a:rPr sz="2800" dirty="0"/>
              <a:t>and</a:t>
            </a:r>
            <a:r>
              <a:rPr sz="2800" spc="-70" dirty="0"/>
              <a:t> </a:t>
            </a:r>
            <a:r>
              <a:rPr sz="2800" spc="-20" dirty="0"/>
              <a:t>6000</a:t>
            </a:r>
            <a:endParaRPr sz="28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095" y="2313432"/>
            <a:ext cx="10518648" cy="192328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678" y="4995164"/>
            <a:ext cx="86220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Listing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total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successful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failure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mission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outcomes.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9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60" dirty="0"/>
              <a:t>Total</a:t>
            </a:r>
            <a:r>
              <a:rPr sz="3400" spc="-90" dirty="0"/>
              <a:t> </a:t>
            </a:r>
            <a:r>
              <a:rPr sz="3400" dirty="0"/>
              <a:t>Number</a:t>
            </a:r>
            <a:r>
              <a:rPr sz="3400" spc="-85" dirty="0"/>
              <a:t> </a:t>
            </a:r>
            <a:r>
              <a:rPr sz="3400" dirty="0"/>
              <a:t>of</a:t>
            </a:r>
            <a:r>
              <a:rPr sz="3400" spc="-80" dirty="0"/>
              <a:t> </a:t>
            </a:r>
            <a:r>
              <a:rPr sz="3400" dirty="0"/>
              <a:t>Successful</a:t>
            </a:r>
            <a:r>
              <a:rPr sz="3400" spc="-90" dirty="0"/>
              <a:t> </a:t>
            </a:r>
            <a:r>
              <a:rPr sz="3400" dirty="0"/>
              <a:t>and</a:t>
            </a:r>
            <a:r>
              <a:rPr sz="3400" spc="-75" dirty="0"/>
              <a:t> </a:t>
            </a:r>
            <a:r>
              <a:rPr sz="3400" spc="-10" dirty="0"/>
              <a:t>Failure</a:t>
            </a:r>
            <a:r>
              <a:rPr sz="3400" spc="-105" dirty="0"/>
              <a:t> </a:t>
            </a:r>
            <a:r>
              <a:rPr sz="3400" dirty="0"/>
              <a:t>Mission</a:t>
            </a:r>
            <a:r>
              <a:rPr sz="3400" spc="-75" dirty="0"/>
              <a:t> </a:t>
            </a:r>
            <a:r>
              <a:rPr sz="3400" spc="-10" dirty="0"/>
              <a:t>Outcomes</a:t>
            </a:r>
            <a:endParaRPr sz="34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7408" y="2075688"/>
            <a:ext cx="10817352" cy="266090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678" y="5239003"/>
            <a:ext cx="9509760" cy="7600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40029" marR="5080" indent="-227329">
              <a:lnSpc>
                <a:spcPct val="100800"/>
              </a:lnSpc>
              <a:spcBef>
                <a:spcPts val="7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Listing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names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booster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versions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carried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maximum 	</a:t>
            </a:r>
            <a:r>
              <a:rPr sz="2400" dirty="0">
                <a:latin typeface="Calibri"/>
                <a:cs typeface="Calibri"/>
              </a:rPr>
              <a:t>payload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mass.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Boosters</a:t>
            </a:r>
            <a:r>
              <a:rPr spc="-114" dirty="0"/>
              <a:t> </a:t>
            </a:r>
            <a:r>
              <a:rPr dirty="0"/>
              <a:t>Carried</a:t>
            </a:r>
            <a:r>
              <a:rPr spc="-110" dirty="0"/>
              <a:t> </a:t>
            </a:r>
            <a:r>
              <a:rPr dirty="0"/>
              <a:t>Maximum</a:t>
            </a:r>
            <a:r>
              <a:rPr spc="-120" dirty="0"/>
              <a:t> </a:t>
            </a:r>
            <a:r>
              <a:rPr spc="-10" dirty="0"/>
              <a:t>Payload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0327" y="1691639"/>
            <a:ext cx="10186416" cy="354177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678" y="4736083"/>
            <a:ext cx="9067800" cy="7600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40029" marR="5080" indent="-227329">
              <a:lnSpc>
                <a:spcPct val="100800"/>
              </a:lnSpc>
              <a:spcBef>
                <a:spcPts val="7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Listing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failed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landing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outcomes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drone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ship,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their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booster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versions 	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launch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site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names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months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year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2015.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2015</a:t>
            </a:r>
            <a:r>
              <a:rPr spc="-50" dirty="0"/>
              <a:t> </a:t>
            </a:r>
            <a:r>
              <a:rPr dirty="0"/>
              <a:t>Launch</a:t>
            </a:r>
            <a:r>
              <a:rPr spc="-45" dirty="0"/>
              <a:t> </a:t>
            </a:r>
            <a:r>
              <a:rPr spc="-10" dirty="0"/>
              <a:t>Records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8848" y="2142744"/>
            <a:ext cx="10183368" cy="208483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678" y="4905755"/>
            <a:ext cx="923988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Ranking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count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landing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outcomes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(such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Failure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(drone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ship)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Success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(ground </a:t>
            </a:r>
            <a:r>
              <a:rPr sz="2000" dirty="0">
                <a:latin typeface="Calibri"/>
                <a:cs typeface="Calibri"/>
              </a:rPr>
              <a:t>pad))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between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2010-06-</a:t>
            </a:r>
            <a:r>
              <a:rPr sz="2000" dirty="0">
                <a:latin typeface="Calibri"/>
                <a:cs typeface="Calibri"/>
              </a:rPr>
              <a:t>04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2017-03-</a:t>
            </a:r>
            <a:r>
              <a:rPr sz="2000" dirty="0">
                <a:latin typeface="Calibri"/>
                <a:cs typeface="Calibri"/>
              </a:rPr>
              <a:t>20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descending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order.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280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dirty="0"/>
              <a:t>Rank</a:t>
            </a:r>
            <a:r>
              <a:rPr sz="3100" spc="-50" dirty="0"/>
              <a:t> </a:t>
            </a:r>
            <a:r>
              <a:rPr sz="3100" dirty="0"/>
              <a:t>Landing</a:t>
            </a:r>
            <a:r>
              <a:rPr sz="3100" spc="-45" dirty="0"/>
              <a:t> </a:t>
            </a:r>
            <a:r>
              <a:rPr sz="3100" dirty="0"/>
              <a:t>Outcomes</a:t>
            </a:r>
            <a:r>
              <a:rPr sz="3100" spc="-60" dirty="0"/>
              <a:t> </a:t>
            </a:r>
            <a:r>
              <a:rPr sz="3100" dirty="0"/>
              <a:t>Between</a:t>
            </a:r>
            <a:r>
              <a:rPr sz="3100" spc="-55" dirty="0"/>
              <a:t> </a:t>
            </a:r>
            <a:r>
              <a:rPr sz="3100" spc="-25" dirty="0"/>
              <a:t>2010-</a:t>
            </a:r>
            <a:r>
              <a:rPr sz="3100" spc="-20" dirty="0"/>
              <a:t>06-</a:t>
            </a:r>
            <a:r>
              <a:rPr sz="3100" dirty="0"/>
              <a:t>04</a:t>
            </a:r>
            <a:r>
              <a:rPr sz="3100" spc="-45" dirty="0"/>
              <a:t> </a:t>
            </a:r>
            <a:r>
              <a:rPr sz="3100" dirty="0"/>
              <a:t>and</a:t>
            </a:r>
            <a:r>
              <a:rPr sz="3100" spc="-50" dirty="0"/>
              <a:t> </a:t>
            </a:r>
            <a:r>
              <a:rPr sz="3100" spc="-20" dirty="0"/>
              <a:t>2017-03-</a:t>
            </a:r>
            <a:r>
              <a:rPr sz="3100" spc="-25" dirty="0"/>
              <a:t>20</a:t>
            </a:r>
            <a:endParaRPr sz="31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6176" y="1624583"/>
            <a:ext cx="10783824" cy="240792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98512" y="2530475"/>
            <a:ext cx="1057275" cy="368300"/>
          </a:xfrm>
          <a:custGeom>
            <a:avLst/>
            <a:gdLst/>
            <a:ahLst/>
            <a:cxnLst/>
            <a:rect l="l" t="t" r="r" b="b"/>
            <a:pathLst>
              <a:path w="1057275" h="368300">
                <a:moveTo>
                  <a:pt x="1057274" y="0"/>
                </a:moveTo>
                <a:lnTo>
                  <a:pt x="0" y="0"/>
                </a:lnTo>
                <a:lnTo>
                  <a:pt x="0" y="368300"/>
                </a:lnTo>
                <a:lnTo>
                  <a:pt x="1057274" y="368300"/>
                </a:lnTo>
                <a:lnTo>
                  <a:pt x="1057274" y="0"/>
                </a:lnTo>
                <a:close/>
              </a:path>
            </a:pathLst>
          </a:custGeom>
          <a:solidFill>
            <a:srgbClr val="0947C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77253" y="2550667"/>
            <a:ext cx="880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Section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3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678" y="1781555"/>
            <a:ext cx="4859655" cy="416814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241300" marR="5080" indent="-228600">
              <a:lnSpc>
                <a:spcPct val="80400"/>
              </a:lnSpc>
              <a:spcBef>
                <a:spcPts val="57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Most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Launch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sites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proximity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Equator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line.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land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moving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faster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</a:t>
            </a:r>
            <a:r>
              <a:rPr sz="2000" dirty="0">
                <a:latin typeface="Calibri"/>
                <a:cs typeface="Calibri"/>
              </a:rPr>
              <a:t>equator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other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place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surface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Earth.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Anything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surface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</a:t>
            </a:r>
            <a:r>
              <a:rPr sz="2000" dirty="0">
                <a:latin typeface="Calibri"/>
                <a:cs typeface="Calibri"/>
              </a:rPr>
              <a:t>Earth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equator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already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moving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at </a:t>
            </a:r>
            <a:r>
              <a:rPr sz="2000" dirty="0">
                <a:latin typeface="Calibri"/>
                <a:cs typeface="Calibri"/>
              </a:rPr>
              <a:t>1670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km/hour.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ship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launched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</a:t>
            </a:r>
            <a:r>
              <a:rPr sz="2000" dirty="0">
                <a:latin typeface="Calibri"/>
                <a:cs typeface="Calibri"/>
              </a:rPr>
              <a:t>equator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goes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up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space,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also </a:t>
            </a:r>
            <a:r>
              <a:rPr sz="2000" dirty="0">
                <a:latin typeface="Calibri"/>
                <a:cs typeface="Calibri"/>
              </a:rPr>
              <a:t>moving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around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Earth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same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speed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was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moving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before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launching.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is </a:t>
            </a:r>
            <a:r>
              <a:rPr sz="2000" dirty="0">
                <a:latin typeface="Calibri"/>
                <a:cs typeface="Calibri"/>
              </a:rPr>
              <a:t>because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inertia.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speed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will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help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spacecraft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keep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up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good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enough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speed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to </a:t>
            </a:r>
            <a:r>
              <a:rPr sz="2000" dirty="0">
                <a:latin typeface="Calibri"/>
                <a:cs typeface="Calibri"/>
              </a:rPr>
              <a:t>stay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orbit.</a:t>
            </a:r>
            <a:endParaRPr sz="2000">
              <a:latin typeface="Calibri"/>
              <a:cs typeface="Calibri"/>
            </a:endParaRPr>
          </a:p>
          <a:p>
            <a:pPr marL="241300" marR="31750" indent="-228600">
              <a:lnSpc>
                <a:spcPct val="79300"/>
              </a:lnSpc>
              <a:spcBef>
                <a:spcPts val="138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All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launch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sites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very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close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proximity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to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coast,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while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launching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rockets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towards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ocean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minimises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risk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having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any </a:t>
            </a:r>
            <a:r>
              <a:rPr sz="2000" dirty="0">
                <a:latin typeface="Calibri"/>
                <a:cs typeface="Calibri"/>
              </a:rPr>
              <a:t>debris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dropping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exploding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near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people.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All</a:t>
            </a:r>
            <a:r>
              <a:rPr spc="-85" dirty="0"/>
              <a:t> </a:t>
            </a:r>
            <a:r>
              <a:rPr dirty="0"/>
              <a:t>Launch</a:t>
            </a:r>
            <a:r>
              <a:rPr spc="-80" dirty="0"/>
              <a:t> </a:t>
            </a:r>
            <a:r>
              <a:rPr dirty="0"/>
              <a:t>Sites’</a:t>
            </a:r>
            <a:r>
              <a:rPr spc="-85" dirty="0"/>
              <a:t> </a:t>
            </a:r>
            <a:r>
              <a:rPr dirty="0"/>
              <a:t>Location</a:t>
            </a:r>
            <a:r>
              <a:rPr spc="-80" dirty="0"/>
              <a:t> </a:t>
            </a:r>
            <a:r>
              <a:rPr spc="-10" dirty="0"/>
              <a:t>Markers</a:t>
            </a:r>
            <a:r>
              <a:rPr spc="-85" dirty="0"/>
              <a:t> </a:t>
            </a:r>
            <a:r>
              <a:rPr dirty="0"/>
              <a:t>on</a:t>
            </a:r>
            <a:r>
              <a:rPr spc="-80" dirty="0"/>
              <a:t> </a:t>
            </a:r>
            <a:r>
              <a:rPr dirty="0"/>
              <a:t>a</a:t>
            </a:r>
            <a:r>
              <a:rPr spc="-85" dirty="0"/>
              <a:t> </a:t>
            </a:r>
            <a:r>
              <a:rPr dirty="0"/>
              <a:t>Global</a:t>
            </a:r>
            <a:r>
              <a:rPr spc="-85" dirty="0"/>
              <a:t> </a:t>
            </a:r>
            <a:r>
              <a:rPr spc="-25" dirty="0"/>
              <a:t>Map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9047" y="2093976"/>
            <a:ext cx="5187696" cy="272186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678" y="1834388"/>
            <a:ext cx="4293235" cy="336296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240029" marR="5080" indent="-227329">
              <a:lnSpc>
                <a:spcPct val="100600"/>
              </a:lnSpc>
              <a:spcBef>
                <a:spcPts val="8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From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colour-</a:t>
            </a:r>
            <a:r>
              <a:rPr sz="2400" dirty="0">
                <a:latin typeface="Calibri"/>
                <a:cs typeface="Calibri"/>
              </a:rPr>
              <a:t>labeled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markers 	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should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able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easily 	</a:t>
            </a:r>
            <a:r>
              <a:rPr sz="2400" dirty="0">
                <a:latin typeface="Calibri"/>
                <a:cs typeface="Calibri"/>
              </a:rPr>
              <a:t>identify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launch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sites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have 	</a:t>
            </a:r>
            <a:r>
              <a:rPr sz="2400" spc="-10" dirty="0">
                <a:latin typeface="Calibri"/>
                <a:cs typeface="Calibri"/>
              </a:rPr>
              <a:t>relatively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high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success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rates.</a:t>
            </a:r>
            <a:endParaRPr sz="2400">
              <a:latin typeface="Calibri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1435"/>
              </a:spcBef>
              <a:buFont typeface="Arial MT"/>
              <a:buChar char="•"/>
              <a:tabLst>
                <a:tab pos="697865" algn="l"/>
              </a:tabLst>
            </a:pPr>
            <a:r>
              <a:rPr sz="2000" b="1" dirty="0">
                <a:solidFill>
                  <a:srgbClr val="00AF4F"/>
                </a:solidFill>
                <a:latin typeface="Calibri"/>
                <a:cs typeface="Calibri"/>
              </a:rPr>
              <a:t>Green</a:t>
            </a:r>
            <a:r>
              <a:rPr sz="2000" b="1" spc="-60" dirty="0">
                <a:solidFill>
                  <a:srgbClr val="00AF4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Marker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Successful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Launch</a:t>
            </a:r>
            <a:endParaRPr sz="2000">
              <a:latin typeface="Calibri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1390"/>
              </a:spcBef>
              <a:buFont typeface="Arial MT"/>
              <a:buChar char="•"/>
              <a:tabLst>
                <a:tab pos="697865" algn="l"/>
              </a:tabLst>
            </a:pP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Red</a:t>
            </a:r>
            <a:r>
              <a:rPr sz="20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Marker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Failed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Launch</a:t>
            </a:r>
            <a:endParaRPr sz="2000">
              <a:latin typeface="Calibri"/>
              <a:cs typeface="Calibri"/>
            </a:endParaRPr>
          </a:p>
          <a:p>
            <a:pPr marL="240029" marR="463550" indent="-227329">
              <a:lnSpc>
                <a:spcPts val="2810"/>
              </a:lnSpc>
              <a:spcBef>
                <a:spcPts val="155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Launch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Site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KSC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LC-</a:t>
            </a:r>
            <a:r>
              <a:rPr sz="2400" dirty="0">
                <a:latin typeface="Calibri"/>
                <a:cs typeface="Calibri"/>
              </a:rPr>
              <a:t>39A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	</a:t>
            </a:r>
            <a:r>
              <a:rPr sz="2400" dirty="0">
                <a:latin typeface="Calibri"/>
                <a:cs typeface="Calibri"/>
              </a:rPr>
              <a:t>very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high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Success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Rate.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Colour-</a:t>
            </a:r>
            <a:r>
              <a:rPr dirty="0"/>
              <a:t>labeled</a:t>
            </a:r>
            <a:r>
              <a:rPr spc="-65" dirty="0"/>
              <a:t> </a:t>
            </a:r>
            <a:r>
              <a:rPr dirty="0"/>
              <a:t>launch</a:t>
            </a:r>
            <a:r>
              <a:rPr spc="-65" dirty="0"/>
              <a:t> </a:t>
            </a:r>
            <a:r>
              <a:rPr dirty="0"/>
              <a:t>records</a:t>
            </a:r>
            <a:r>
              <a:rPr spc="-65" dirty="0"/>
              <a:t> </a:t>
            </a:r>
            <a:r>
              <a:rPr dirty="0"/>
              <a:t>on</a:t>
            </a:r>
            <a:r>
              <a:rPr spc="-65" dirty="0"/>
              <a:t> </a:t>
            </a:r>
            <a:r>
              <a:rPr dirty="0"/>
              <a:t>the</a:t>
            </a:r>
            <a:r>
              <a:rPr spc="-75" dirty="0"/>
              <a:t> </a:t>
            </a:r>
            <a:r>
              <a:rPr spc="-25" dirty="0"/>
              <a:t>map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79720" y="1822704"/>
            <a:ext cx="6080760" cy="338937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678" y="1710435"/>
            <a:ext cx="5273040" cy="407035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41300" marR="26034" indent="-228600">
              <a:lnSpc>
                <a:spcPct val="99500"/>
              </a:lnSpc>
              <a:spcBef>
                <a:spcPts val="11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From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visual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analysis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launch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site </a:t>
            </a:r>
            <a:r>
              <a:rPr sz="2200" dirty="0">
                <a:latin typeface="Calibri"/>
                <a:cs typeface="Calibri"/>
              </a:rPr>
              <a:t>KSC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LC-</a:t>
            </a:r>
            <a:r>
              <a:rPr sz="2200" dirty="0">
                <a:latin typeface="Calibri"/>
                <a:cs typeface="Calibri"/>
              </a:rPr>
              <a:t>39A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can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clearly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is: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- </a:t>
            </a:r>
            <a:r>
              <a:rPr sz="2200" spc="-10" dirty="0">
                <a:latin typeface="Calibri"/>
                <a:cs typeface="Calibri"/>
              </a:rPr>
              <a:t>relative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close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railway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(15.23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km)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-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relative </a:t>
            </a:r>
            <a:r>
              <a:rPr sz="2200" dirty="0">
                <a:latin typeface="Calibri"/>
                <a:cs typeface="Calibri"/>
              </a:rPr>
              <a:t>close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highway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(20.28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km)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-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relative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close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coastline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(14.99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km).</a:t>
            </a:r>
            <a:endParaRPr sz="2200">
              <a:latin typeface="Calibri"/>
              <a:cs typeface="Calibri"/>
            </a:endParaRPr>
          </a:p>
          <a:p>
            <a:pPr marL="241300" marR="89535" indent="-228600">
              <a:lnSpc>
                <a:spcPts val="2590"/>
              </a:lnSpc>
              <a:spcBef>
                <a:spcPts val="159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Also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launch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site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KSC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LC-</a:t>
            </a:r>
            <a:r>
              <a:rPr sz="2200" dirty="0">
                <a:latin typeface="Calibri"/>
                <a:cs typeface="Calibri"/>
              </a:rPr>
              <a:t>39A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relative </a:t>
            </a:r>
            <a:r>
              <a:rPr sz="2200" dirty="0">
                <a:latin typeface="Calibri"/>
                <a:cs typeface="Calibri"/>
              </a:rPr>
              <a:t>close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closest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city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Titusville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(16.32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km).</a:t>
            </a:r>
            <a:endParaRPr sz="2200">
              <a:latin typeface="Calibri"/>
              <a:cs typeface="Calibri"/>
            </a:endParaRPr>
          </a:p>
          <a:p>
            <a:pPr marL="241300" marR="5080" indent="-228600">
              <a:lnSpc>
                <a:spcPct val="100899"/>
              </a:lnSpc>
              <a:spcBef>
                <a:spcPts val="126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Failed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rocket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high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speed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cover </a:t>
            </a:r>
            <a:r>
              <a:rPr sz="2200" dirty="0">
                <a:latin typeface="Calibri"/>
                <a:cs typeface="Calibri"/>
              </a:rPr>
              <a:t>distances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like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15-</a:t>
            </a:r>
            <a:r>
              <a:rPr sz="2200" dirty="0">
                <a:latin typeface="Calibri"/>
                <a:cs typeface="Calibri"/>
              </a:rPr>
              <a:t>20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km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few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seconds.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It </a:t>
            </a:r>
            <a:r>
              <a:rPr sz="2200" dirty="0">
                <a:latin typeface="Calibri"/>
                <a:cs typeface="Calibri"/>
              </a:rPr>
              <a:t>could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potentially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dangerous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populated areas.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9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dirty="0"/>
              <a:t>Distance</a:t>
            </a:r>
            <a:r>
              <a:rPr sz="3400" spc="-65" dirty="0"/>
              <a:t> </a:t>
            </a:r>
            <a:r>
              <a:rPr sz="3400" dirty="0"/>
              <a:t>from</a:t>
            </a:r>
            <a:r>
              <a:rPr sz="3400" spc="-60" dirty="0"/>
              <a:t> </a:t>
            </a:r>
            <a:r>
              <a:rPr sz="3400" dirty="0"/>
              <a:t>the</a:t>
            </a:r>
            <a:r>
              <a:rPr sz="3400" spc="-65" dirty="0"/>
              <a:t> </a:t>
            </a:r>
            <a:r>
              <a:rPr sz="3400" dirty="0"/>
              <a:t>launch</a:t>
            </a:r>
            <a:r>
              <a:rPr sz="3400" spc="-55" dirty="0"/>
              <a:t> </a:t>
            </a:r>
            <a:r>
              <a:rPr sz="3400" dirty="0"/>
              <a:t>site</a:t>
            </a:r>
            <a:r>
              <a:rPr sz="3400" spc="-65" dirty="0"/>
              <a:t> </a:t>
            </a:r>
            <a:r>
              <a:rPr sz="3400" dirty="0"/>
              <a:t>KSC</a:t>
            </a:r>
            <a:r>
              <a:rPr sz="3400" spc="-60" dirty="0"/>
              <a:t> </a:t>
            </a:r>
            <a:r>
              <a:rPr sz="3400" spc="-25" dirty="0"/>
              <a:t>LC-</a:t>
            </a:r>
            <a:r>
              <a:rPr sz="3400" dirty="0"/>
              <a:t>39A</a:t>
            </a:r>
            <a:r>
              <a:rPr sz="3400" spc="-60" dirty="0"/>
              <a:t> </a:t>
            </a:r>
            <a:r>
              <a:rPr sz="3400" dirty="0"/>
              <a:t>to</a:t>
            </a:r>
            <a:r>
              <a:rPr sz="3400" spc="-60" dirty="0"/>
              <a:t> </a:t>
            </a:r>
            <a:r>
              <a:rPr sz="3400" dirty="0"/>
              <a:t>its</a:t>
            </a:r>
            <a:r>
              <a:rPr sz="3400" spc="-65" dirty="0"/>
              <a:t> </a:t>
            </a:r>
            <a:r>
              <a:rPr sz="3400" spc="-10" dirty="0"/>
              <a:t>proximities</a:t>
            </a:r>
            <a:endParaRPr sz="34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78296" y="1688592"/>
            <a:ext cx="5108448" cy="335889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98512" y="2530475"/>
            <a:ext cx="1057275" cy="368300"/>
          </a:xfrm>
          <a:custGeom>
            <a:avLst/>
            <a:gdLst/>
            <a:ahLst/>
            <a:cxnLst/>
            <a:rect l="l" t="t" r="r" b="b"/>
            <a:pathLst>
              <a:path w="1057275" h="368300">
                <a:moveTo>
                  <a:pt x="1057274" y="0"/>
                </a:moveTo>
                <a:lnTo>
                  <a:pt x="0" y="0"/>
                </a:lnTo>
                <a:lnTo>
                  <a:pt x="0" y="368300"/>
                </a:lnTo>
                <a:lnTo>
                  <a:pt x="1057274" y="368300"/>
                </a:lnTo>
                <a:lnTo>
                  <a:pt x="1057274" y="0"/>
                </a:lnTo>
                <a:close/>
              </a:path>
            </a:pathLst>
          </a:custGeom>
          <a:solidFill>
            <a:srgbClr val="0947C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77253" y="2550667"/>
            <a:ext cx="880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Section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4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678" y="5065267"/>
            <a:ext cx="9053830" cy="7600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40029" marR="5080" indent="-227329">
              <a:lnSpc>
                <a:spcPct val="100800"/>
              </a:lnSpc>
              <a:spcBef>
                <a:spcPts val="7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chart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clearly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shows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sites,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KSC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LC-</a:t>
            </a:r>
            <a:r>
              <a:rPr sz="2400" dirty="0">
                <a:latin typeface="Calibri"/>
                <a:cs typeface="Calibri"/>
              </a:rPr>
              <a:t>39A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most 	</a:t>
            </a:r>
            <a:r>
              <a:rPr sz="2400" dirty="0">
                <a:latin typeface="Calibri"/>
                <a:cs typeface="Calibri"/>
              </a:rPr>
              <a:t>successful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launches.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Launch</a:t>
            </a:r>
            <a:r>
              <a:rPr spc="-80" dirty="0"/>
              <a:t> </a:t>
            </a:r>
            <a:r>
              <a:rPr dirty="0"/>
              <a:t>success</a:t>
            </a:r>
            <a:r>
              <a:rPr spc="-75" dirty="0"/>
              <a:t> </a:t>
            </a:r>
            <a:r>
              <a:rPr dirty="0"/>
              <a:t>count</a:t>
            </a:r>
            <a:r>
              <a:rPr spc="-85" dirty="0"/>
              <a:t> </a:t>
            </a:r>
            <a:r>
              <a:rPr dirty="0"/>
              <a:t>for</a:t>
            </a:r>
            <a:r>
              <a:rPr spc="-85" dirty="0"/>
              <a:t> </a:t>
            </a:r>
            <a:r>
              <a:rPr dirty="0"/>
              <a:t>all</a:t>
            </a:r>
            <a:r>
              <a:rPr spc="-80" dirty="0"/>
              <a:t> </a:t>
            </a:r>
            <a:r>
              <a:rPr spc="-10" dirty="0"/>
              <a:t>sites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8592" y="1441703"/>
            <a:ext cx="8677656" cy="361797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41</a:t>
            </a:fld>
            <a:endParaRPr spc="-2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2165" y="5193283"/>
            <a:ext cx="9897745" cy="7600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40029" marR="5080" indent="-227329">
              <a:lnSpc>
                <a:spcPct val="100800"/>
              </a:lnSpc>
              <a:spcBef>
                <a:spcPts val="7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KSC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LC-</a:t>
            </a:r>
            <a:r>
              <a:rPr sz="2400" dirty="0">
                <a:latin typeface="Calibri"/>
                <a:cs typeface="Calibri"/>
              </a:rPr>
              <a:t>39A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highest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launch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success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rate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(73.1%)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10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successful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 	</a:t>
            </a:r>
            <a:r>
              <a:rPr sz="2400" dirty="0">
                <a:latin typeface="Calibri"/>
                <a:cs typeface="Calibri"/>
              </a:rPr>
              <a:t>only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failed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landings.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Launch</a:t>
            </a:r>
            <a:r>
              <a:rPr spc="-75" dirty="0"/>
              <a:t> </a:t>
            </a:r>
            <a:r>
              <a:rPr dirty="0"/>
              <a:t>site</a:t>
            </a:r>
            <a:r>
              <a:rPr spc="-80" dirty="0"/>
              <a:t> </a:t>
            </a:r>
            <a:r>
              <a:rPr dirty="0"/>
              <a:t>with</a:t>
            </a:r>
            <a:r>
              <a:rPr spc="-75" dirty="0"/>
              <a:t> </a:t>
            </a:r>
            <a:r>
              <a:rPr dirty="0"/>
              <a:t>highest</a:t>
            </a:r>
            <a:r>
              <a:rPr spc="-80" dirty="0"/>
              <a:t> </a:t>
            </a:r>
            <a:r>
              <a:rPr dirty="0"/>
              <a:t>launch</a:t>
            </a:r>
            <a:r>
              <a:rPr spc="-75" dirty="0"/>
              <a:t> </a:t>
            </a:r>
            <a:r>
              <a:rPr dirty="0"/>
              <a:t>success</a:t>
            </a:r>
            <a:r>
              <a:rPr spc="-75" dirty="0"/>
              <a:t> </a:t>
            </a:r>
            <a:r>
              <a:rPr spc="-10" dirty="0"/>
              <a:t>ratio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3079" y="1447800"/>
            <a:ext cx="8488680" cy="338023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42</a:t>
            </a:fld>
            <a:endParaRPr spc="-25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678" y="1834388"/>
            <a:ext cx="4008754" cy="112585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40029" marR="5080" indent="-227329">
              <a:lnSpc>
                <a:spcPct val="100400"/>
              </a:lnSpc>
              <a:spcBef>
                <a:spcPts val="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charts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show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payloads 	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2000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5500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kg 	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highest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success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rate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Payload</a:t>
            </a:r>
            <a:r>
              <a:rPr spc="-85" dirty="0"/>
              <a:t> </a:t>
            </a:r>
            <a:r>
              <a:rPr dirty="0"/>
              <a:t>Mass</a:t>
            </a:r>
            <a:r>
              <a:rPr spc="-90" dirty="0"/>
              <a:t> </a:t>
            </a:r>
            <a:r>
              <a:rPr dirty="0"/>
              <a:t>vs.</a:t>
            </a:r>
            <a:r>
              <a:rPr spc="-85" dirty="0"/>
              <a:t> </a:t>
            </a:r>
            <a:r>
              <a:rPr dirty="0"/>
              <a:t>Launch</a:t>
            </a:r>
            <a:r>
              <a:rPr spc="-85" dirty="0"/>
              <a:t> </a:t>
            </a:r>
            <a:r>
              <a:rPr dirty="0"/>
              <a:t>Outcome</a:t>
            </a:r>
            <a:r>
              <a:rPr spc="-95" dirty="0"/>
              <a:t> </a:t>
            </a:r>
            <a:r>
              <a:rPr dirty="0"/>
              <a:t>for</a:t>
            </a:r>
            <a:r>
              <a:rPr spc="-90" dirty="0"/>
              <a:t> </a:t>
            </a:r>
            <a:r>
              <a:rPr dirty="0"/>
              <a:t>all</a:t>
            </a:r>
            <a:r>
              <a:rPr spc="-90" dirty="0"/>
              <a:t> </a:t>
            </a:r>
            <a:r>
              <a:rPr spc="-10" dirty="0"/>
              <a:t>sites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07864" y="932688"/>
            <a:ext cx="6909816" cy="245668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01767" y="3480815"/>
            <a:ext cx="6915911" cy="245363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43</a:t>
            </a:fld>
            <a:endParaRPr spc="-25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98512" y="2530475"/>
            <a:ext cx="1057275" cy="368300"/>
          </a:xfrm>
          <a:custGeom>
            <a:avLst/>
            <a:gdLst/>
            <a:ahLst/>
            <a:cxnLst/>
            <a:rect l="l" t="t" r="r" b="b"/>
            <a:pathLst>
              <a:path w="1057275" h="368300">
                <a:moveTo>
                  <a:pt x="1057274" y="0"/>
                </a:moveTo>
                <a:lnTo>
                  <a:pt x="0" y="0"/>
                </a:lnTo>
                <a:lnTo>
                  <a:pt x="0" y="368300"/>
                </a:lnTo>
                <a:lnTo>
                  <a:pt x="1057274" y="368300"/>
                </a:lnTo>
                <a:lnTo>
                  <a:pt x="1057274" y="0"/>
                </a:lnTo>
                <a:close/>
              </a:path>
            </a:pathLst>
          </a:custGeom>
          <a:solidFill>
            <a:srgbClr val="0947C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77253" y="2550667"/>
            <a:ext cx="880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Section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5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678" y="2103628"/>
            <a:ext cx="5121910" cy="3726179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241300" marR="5080" indent="-228600">
              <a:lnSpc>
                <a:spcPts val="2590"/>
              </a:lnSpc>
              <a:spcBef>
                <a:spcPts val="22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Based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scores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Test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Set,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can </a:t>
            </a:r>
            <a:r>
              <a:rPr sz="2200" dirty="0">
                <a:latin typeface="Calibri"/>
                <a:cs typeface="Calibri"/>
              </a:rPr>
              <a:t>not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confirm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which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method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performs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best.</a:t>
            </a:r>
            <a:endParaRPr sz="2200">
              <a:latin typeface="Calibri"/>
              <a:cs typeface="Calibri"/>
            </a:endParaRPr>
          </a:p>
          <a:p>
            <a:pPr marL="241300" marR="23495" indent="-228600">
              <a:lnSpc>
                <a:spcPct val="100899"/>
              </a:lnSpc>
              <a:spcBef>
                <a:spcPts val="127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Same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Test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scores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may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due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the </a:t>
            </a:r>
            <a:r>
              <a:rPr sz="2200" dirty="0">
                <a:latin typeface="Calibri"/>
                <a:cs typeface="Calibri"/>
              </a:rPr>
              <a:t>small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test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sample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size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(18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samples). Therefore,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tested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all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methods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based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on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whole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Dataset.</a:t>
            </a:r>
            <a:endParaRPr sz="2200">
              <a:latin typeface="Calibri"/>
              <a:cs typeface="Calibri"/>
            </a:endParaRPr>
          </a:p>
          <a:p>
            <a:pPr marL="241300" marR="300990" indent="-228600">
              <a:lnSpc>
                <a:spcPct val="99700"/>
              </a:lnSpc>
              <a:spcBef>
                <a:spcPts val="137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scores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whole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Dataset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confirm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best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model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Decision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Tree </a:t>
            </a:r>
            <a:r>
              <a:rPr sz="2200" dirty="0">
                <a:latin typeface="Calibri"/>
                <a:cs typeface="Calibri"/>
              </a:rPr>
              <a:t>Model.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This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model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not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only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higher </a:t>
            </a:r>
            <a:r>
              <a:rPr sz="2200" dirty="0">
                <a:latin typeface="Calibri"/>
                <a:cs typeface="Calibri"/>
              </a:rPr>
              <a:t>scores,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also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highest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accuracy.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Classification</a:t>
            </a:r>
            <a:r>
              <a:rPr spc="-100" dirty="0"/>
              <a:t> </a:t>
            </a:r>
            <a:r>
              <a:rPr spc="-10" dirty="0"/>
              <a:t>Accuracy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0" y="2295144"/>
            <a:ext cx="5398008" cy="16245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0" y="4224528"/>
            <a:ext cx="5398008" cy="167030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45</a:t>
            </a:fld>
            <a:endParaRPr spc="-25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678" y="2066035"/>
            <a:ext cx="4655820" cy="186372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240029" marR="5080" indent="-227329">
              <a:lnSpc>
                <a:spcPct val="100600"/>
              </a:lnSpc>
              <a:spcBef>
                <a:spcPts val="8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Examining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confusion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matrix,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we 	</a:t>
            </a:r>
            <a:r>
              <a:rPr sz="2400" dirty="0">
                <a:latin typeface="Calibri"/>
                <a:cs typeface="Calibri"/>
              </a:rPr>
              <a:t>see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logistic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regression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can 	</a:t>
            </a:r>
            <a:r>
              <a:rPr sz="2400" dirty="0">
                <a:latin typeface="Calibri"/>
                <a:cs typeface="Calibri"/>
              </a:rPr>
              <a:t>distinguish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different 	</a:t>
            </a:r>
            <a:r>
              <a:rPr sz="2400" dirty="0">
                <a:latin typeface="Calibri"/>
                <a:cs typeface="Calibri"/>
              </a:rPr>
              <a:t>classes.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major 	</a:t>
            </a:r>
            <a:r>
              <a:rPr sz="2400" dirty="0">
                <a:latin typeface="Calibri"/>
                <a:cs typeface="Calibri"/>
              </a:rPr>
              <a:t>problem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false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positives.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Confusion</a:t>
            </a:r>
            <a:r>
              <a:rPr spc="-170" dirty="0"/>
              <a:t> </a:t>
            </a:r>
            <a:r>
              <a:rPr spc="-10" dirty="0"/>
              <a:t>Matrix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28359" y="1770888"/>
            <a:ext cx="5358384" cy="395325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46</a:t>
            </a:fld>
            <a:endParaRPr spc="-25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678" y="1830323"/>
            <a:ext cx="5741670" cy="415544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420370" indent="-228600">
              <a:lnSpc>
                <a:spcPts val="2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Decision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Tree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Model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best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algorithm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this </a:t>
            </a:r>
            <a:r>
              <a:rPr sz="2000" spc="-10" dirty="0">
                <a:latin typeface="Calibri"/>
                <a:cs typeface="Calibri"/>
              </a:rPr>
              <a:t>dataset.</a:t>
            </a:r>
            <a:endParaRPr sz="2000">
              <a:latin typeface="Calibri"/>
              <a:cs typeface="Calibri"/>
            </a:endParaRPr>
          </a:p>
          <a:p>
            <a:pPr marL="241300" marR="427355" indent="-228600">
              <a:lnSpc>
                <a:spcPct val="79000"/>
              </a:lnSpc>
              <a:spcBef>
                <a:spcPts val="138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Launches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low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payload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mass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show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better </a:t>
            </a:r>
            <a:r>
              <a:rPr sz="2000" dirty="0">
                <a:latin typeface="Calibri"/>
                <a:cs typeface="Calibri"/>
              </a:rPr>
              <a:t>results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launches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larger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payload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mass.</a:t>
            </a:r>
            <a:endParaRPr sz="2000">
              <a:latin typeface="Calibri"/>
              <a:cs typeface="Calibri"/>
            </a:endParaRPr>
          </a:p>
          <a:p>
            <a:pPr marL="241300" marR="5080" indent="-228600">
              <a:lnSpc>
                <a:spcPct val="81000"/>
              </a:lnSpc>
              <a:spcBef>
                <a:spcPts val="137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Most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launch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sites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proximity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Equator </a:t>
            </a:r>
            <a:r>
              <a:rPr sz="2000" dirty="0">
                <a:latin typeface="Calibri"/>
                <a:cs typeface="Calibri"/>
              </a:rPr>
              <a:t>line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sites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very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close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proximity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coast.</a:t>
            </a:r>
            <a:endParaRPr sz="2000">
              <a:latin typeface="Calibri"/>
              <a:cs typeface="Calibri"/>
            </a:endParaRPr>
          </a:p>
          <a:p>
            <a:pPr marL="241300" marR="622300" indent="-228600">
              <a:lnSpc>
                <a:spcPct val="79000"/>
              </a:lnSpc>
              <a:spcBef>
                <a:spcPts val="141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success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rate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launches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increases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over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years.</a:t>
            </a:r>
            <a:endParaRPr sz="2000">
              <a:latin typeface="Calibri"/>
              <a:cs typeface="Calibri"/>
            </a:endParaRPr>
          </a:p>
          <a:p>
            <a:pPr marL="241300" marR="727710" indent="-228600">
              <a:lnSpc>
                <a:spcPct val="79000"/>
              </a:lnSpc>
              <a:spcBef>
                <a:spcPts val="141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KSC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LC-</a:t>
            </a:r>
            <a:r>
              <a:rPr sz="2000" dirty="0">
                <a:latin typeface="Calibri"/>
                <a:cs typeface="Calibri"/>
              </a:rPr>
              <a:t>39A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highest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success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rate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</a:t>
            </a:r>
            <a:r>
              <a:rPr sz="2000" dirty="0">
                <a:latin typeface="Calibri"/>
                <a:cs typeface="Calibri"/>
              </a:rPr>
              <a:t>launches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sites.</a:t>
            </a:r>
            <a:endParaRPr sz="2000">
              <a:latin typeface="Calibri"/>
              <a:cs typeface="Calibri"/>
            </a:endParaRPr>
          </a:p>
          <a:p>
            <a:pPr marL="241300" marR="207645" indent="-228600">
              <a:lnSpc>
                <a:spcPct val="80000"/>
              </a:lnSpc>
              <a:spcBef>
                <a:spcPts val="146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Orbits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ES-</a:t>
            </a:r>
            <a:r>
              <a:rPr sz="2000" dirty="0">
                <a:latin typeface="Calibri"/>
                <a:cs typeface="Calibri"/>
              </a:rPr>
              <a:t>L1,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GEO,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HEO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SSO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100%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success rate.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47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678" y="1878076"/>
            <a:ext cx="9805035" cy="69342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241300" marR="5080" indent="-228600">
              <a:lnSpc>
                <a:spcPts val="2620"/>
              </a:lnSpc>
              <a:spcBef>
                <a:spcPts val="20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Include</a:t>
            </a:r>
            <a:r>
              <a:rPr sz="2200" spc="-6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any</a:t>
            </a:r>
            <a:r>
              <a:rPr sz="22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72727"/>
                </a:solidFill>
                <a:latin typeface="Calibri"/>
                <a:cs typeface="Calibri"/>
              </a:rPr>
              <a:t>relevant</a:t>
            </a:r>
            <a:r>
              <a:rPr sz="2200" spc="-6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assets</a:t>
            </a:r>
            <a:r>
              <a:rPr sz="2200" spc="-6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like</a:t>
            </a:r>
            <a:r>
              <a:rPr sz="22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Python</a:t>
            </a:r>
            <a:r>
              <a:rPr sz="2200" spc="-6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code</a:t>
            </a:r>
            <a:r>
              <a:rPr sz="22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snippets,</a:t>
            </a:r>
            <a:r>
              <a:rPr sz="2200" spc="-6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SQL</a:t>
            </a:r>
            <a:r>
              <a:rPr sz="2200" spc="-6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queries,</a:t>
            </a:r>
            <a:r>
              <a:rPr sz="2200" spc="-6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charts,</a:t>
            </a:r>
            <a:r>
              <a:rPr sz="2200" spc="-6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72727"/>
                </a:solidFill>
                <a:latin typeface="Calibri"/>
                <a:cs typeface="Calibri"/>
              </a:rPr>
              <a:t>Notebook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outputs,</a:t>
            </a:r>
            <a:r>
              <a:rPr sz="2200" spc="-6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or</a:t>
            </a:r>
            <a:r>
              <a:rPr sz="2200" spc="-6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data</a:t>
            </a:r>
            <a:r>
              <a:rPr sz="2200" spc="-6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sets</a:t>
            </a:r>
            <a:r>
              <a:rPr sz="2200" spc="-6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that</a:t>
            </a:r>
            <a:r>
              <a:rPr sz="2200" spc="-6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you</a:t>
            </a:r>
            <a:r>
              <a:rPr sz="2200" spc="-6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may</a:t>
            </a:r>
            <a:r>
              <a:rPr sz="22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have</a:t>
            </a:r>
            <a:r>
              <a:rPr sz="2200" spc="-5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created</a:t>
            </a:r>
            <a:r>
              <a:rPr sz="2200" spc="-65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during</a:t>
            </a:r>
            <a:r>
              <a:rPr sz="2200" spc="-6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72727"/>
                </a:solidFill>
                <a:latin typeface="Calibri"/>
                <a:cs typeface="Calibri"/>
              </a:rPr>
              <a:t>this</a:t>
            </a:r>
            <a:r>
              <a:rPr sz="2200" spc="-60" dirty="0">
                <a:solidFill>
                  <a:srgbClr val="272727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72727"/>
                </a:solidFill>
                <a:latin typeface="Calibri"/>
                <a:cs typeface="Calibri"/>
              </a:rPr>
              <a:t>project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48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Appendix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363C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</TotalTime>
  <Words>2957</Words>
  <Application>Microsoft Office PowerPoint</Application>
  <PresentationFormat>Widescreen</PresentationFormat>
  <Paragraphs>288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3" baseType="lpstr">
      <vt:lpstr>Arial MT</vt:lpstr>
      <vt:lpstr>Calibri</vt:lpstr>
      <vt:lpstr>Times New Roman</vt:lpstr>
      <vt:lpstr>Office Theme</vt:lpstr>
      <vt:lpstr>PowerPoint Presentation</vt:lpstr>
      <vt:lpstr>Outline</vt:lpstr>
      <vt:lpstr>Executive Summary</vt:lpstr>
      <vt:lpstr>Introduction</vt:lpstr>
      <vt:lpstr>Introduction..</vt:lpstr>
      <vt:lpstr>PowerPoint Presentation</vt:lpstr>
      <vt:lpstr>Methodology</vt:lpstr>
      <vt:lpstr>Data Collection</vt:lpstr>
      <vt:lpstr>Data Collection – SpaceX API</vt:lpstr>
      <vt:lpstr>Data Collection – Scraping</vt:lpstr>
      <vt:lpstr>Data Wrangling</vt:lpstr>
      <vt:lpstr>EDA with Data Visualization</vt:lpstr>
      <vt:lpstr>EDA with SQL</vt:lpstr>
      <vt:lpstr>Build an Interactive Map with Folium</vt:lpstr>
      <vt:lpstr>Build a Dashboard with Plotly Dash</vt:lpstr>
      <vt:lpstr>Predictive Analysis (Classification)</vt:lpstr>
      <vt:lpstr>Predictive Analysis (Classification)</vt:lpstr>
      <vt:lpstr>Results</vt:lpstr>
      <vt:lpstr>PowerPoint Presentation</vt:lpstr>
      <vt:lpstr>Flight Number vs. Launch Site</vt:lpstr>
      <vt:lpstr>Payload vs. Launch Site</vt:lpstr>
      <vt:lpstr>Success Rate vs. Orbit Type</vt:lpstr>
      <vt:lpstr>Flight Number vs. Orbit Type</vt:lpstr>
      <vt:lpstr>Payload vs. Orbit Type</vt:lpstr>
      <vt:lpstr>Launch Success Yearly Trend</vt:lpstr>
      <vt:lpstr>All Launch Site Names</vt:lpstr>
      <vt:lpstr>Launch Site Names Begin with 'CCA'</vt:lpstr>
      <vt:lpstr>Total Payload Mass</vt:lpstr>
      <vt:lpstr>Average Payload Mass by F9 v1.1</vt:lpstr>
      <vt:lpstr>First Successful Ground Landing Date</vt:lpstr>
      <vt:lpstr>Successful Drone Ship Landing with Payload between 4000 and 6000</vt:lpstr>
      <vt:lpstr>Total Number of Successful and Failure Mission Outcomes</vt:lpstr>
      <vt:lpstr>Boosters Carried Maximum Payload</vt:lpstr>
      <vt:lpstr>2015 Launch Records</vt:lpstr>
      <vt:lpstr>Rank Landing Outcomes Between 2010-06-04 and 2017-03-20</vt:lpstr>
      <vt:lpstr>PowerPoint Presentation</vt:lpstr>
      <vt:lpstr>All Launch Sites’ Location Markers on a Global Map</vt:lpstr>
      <vt:lpstr>Colour-labeled launch records on the map</vt:lpstr>
      <vt:lpstr>Distance from the launch site KSC LC-39A to its proximities</vt:lpstr>
      <vt:lpstr>PowerPoint Presentation</vt:lpstr>
      <vt:lpstr>Launch success count for all sites</vt:lpstr>
      <vt:lpstr>Launch site with highest launch success ratio</vt:lpstr>
      <vt:lpstr>Payload Mass vs. Launch Outcome for all sites</vt:lpstr>
      <vt:lpstr>PowerPoint Presentation</vt:lpstr>
      <vt:lpstr>Classification Accuracy</vt:lpstr>
      <vt:lpstr>Confusion Matrix</vt:lpstr>
      <vt:lpstr>Conclusions</vt:lpstr>
      <vt:lpstr>Appendix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9.Presentation-spaceY-Project</dc:title>
  <cp:lastModifiedBy>Hamza Khader</cp:lastModifiedBy>
  <cp:revision>1</cp:revision>
  <dcterms:created xsi:type="dcterms:W3CDTF">2025-05-01T13:37:14Z</dcterms:created>
  <dcterms:modified xsi:type="dcterms:W3CDTF">2025-05-01T13:38:47Z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2022-12-27T00:00:00Z</vt:filetime>
  </property>
  <property fmtid="{D5CDD505-2E9C-101B-9397-08002B2CF9AE}" pid="3" name="Creator">
    <vt:lpwstr>PowerPoint</vt:lpwstr>
  </property>
  <property fmtid="{D5CDD505-2E9C-101B-9397-08002B2CF9AE}" pid="4" name="LastSaved">
    <vt:filetime>2025-05-01T00:00:00Z</vt:filetime>
  </property>
  <property fmtid="{D5CDD505-2E9C-101B-9397-08002B2CF9AE}" pid="5" name="Producer">
    <vt:lpwstr>3-Heights(TM) PDF Optimization Shell 5.9.1.5 (http://www.pdf-tools.com)</vt:lpwstr>
  </property>
</Properties>
</file>